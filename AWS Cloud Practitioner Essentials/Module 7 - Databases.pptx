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99" r:id="rId18"/>
    <p:sldId id="272" r:id="rId19"/>
    <p:sldId id="273" r:id="rId20"/>
    <p:sldId id="274" r:id="rId21"/>
    <p:sldId id="275" r:id="rId22"/>
    <p:sldId id="276" r:id="rId23"/>
    <p:sldId id="277" r:id="rId24"/>
    <p:sldId id="278" r:id="rId25"/>
    <p:sldId id="279" r:id="rId26"/>
    <p:sldId id="280"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4B9206-C407-4AA9-AD1D-EC8993A8C2B2}"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62B38F-0E44-438C-BD8C-532660A2CC5C}" type="slidenum">
              <a:rPr lang="en-US" smtClean="0"/>
              <a:t>‹#›</a:t>
            </a:fld>
            <a:endParaRPr lang="en-US"/>
          </a:p>
        </p:txBody>
      </p:sp>
    </p:spTree>
    <p:extLst>
      <p:ext uri="{BB962C8B-B14F-4D97-AF65-F5344CB8AC3E}">
        <p14:creationId xmlns:p14="http://schemas.microsoft.com/office/powerpoint/2010/main" val="1944984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62B38F-0E44-438C-BD8C-532660A2CC5C}" type="slidenum">
              <a:rPr lang="en-US" smtClean="0"/>
              <a:t>20</a:t>
            </a:fld>
            <a:endParaRPr lang="en-US"/>
          </a:p>
        </p:txBody>
      </p:sp>
    </p:spTree>
    <p:extLst>
      <p:ext uri="{BB962C8B-B14F-4D97-AF65-F5344CB8AC3E}">
        <p14:creationId xmlns:p14="http://schemas.microsoft.com/office/powerpoint/2010/main" val="2074859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162B38F-0E44-438C-BD8C-532660A2CC5C}" type="slidenum">
              <a:rPr lang="en-US" smtClean="0"/>
              <a:t>24</a:t>
            </a:fld>
            <a:endParaRPr lang="en-US"/>
          </a:p>
        </p:txBody>
      </p:sp>
    </p:spTree>
    <p:extLst>
      <p:ext uri="{BB962C8B-B14F-4D97-AF65-F5344CB8AC3E}">
        <p14:creationId xmlns:p14="http://schemas.microsoft.com/office/powerpoint/2010/main" val="3120846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A69E67E-9743-4FD8-93C8-B439354C3327}"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3018610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69E67E-9743-4FD8-93C8-B439354C3327}"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1246400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A69E67E-9743-4FD8-93C8-B439354C3327}"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205894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A69E67E-9743-4FD8-93C8-B439354C3327}"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493907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A69E67E-9743-4FD8-93C8-B439354C3327}"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1734515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A69E67E-9743-4FD8-93C8-B439354C3327}"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3208751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9E67E-9743-4FD8-93C8-B439354C3327}"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1963777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69E67E-9743-4FD8-93C8-B439354C3327}"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2861543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69E67E-9743-4FD8-93C8-B439354C3327}"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343743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69E67E-9743-4FD8-93C8-B439354C3327}"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275481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A69E67E-9743-4FD8-93C8-B439354C3327}"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FA0961-7EAC-45A5-831B-4C377D22B925}" type="slidenum">
              <a:rPr lang="en-US" smtClean="0"/>
              <a:t>‹#›</a:t>
            </a:fld>
            <a:endParaRPr lang="en-US"/>
          </a:p>
        </p:txBody>
      </p:sp>
    </p:spTree>
    <p:extLst>
      <p:ext uri="{BB962C8B-B14F-4D97-AF65-F5344CB8AC3E}">
        <p14:creationId xmlns:p14="http://schemas.microsoft.com/office/powerpoint/2010/main" val="324385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69E67E-9743-4FD8-93C8-B439354C3327}" type="datetimeFigureOut">
              <a:rPr lang="en-US" smtClean="0"/>
              <a:t>8/26/2025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A0961-7EAC-45A5-831B-4C377D22B925}" type="slidenum">
              <a:rPr lang="en-US" smtClean="0"/>
              <a:t>‹#›</a:t>
            </a:fld>
            <a:endParaRPr lang="en-US"/>
          </a:p>
        </p:txBody>
      </p:sp>
    </p:spTree>
    <p:extLst>
      <p:ext uri="{BB962C8B-B14F-4D97-AF65-F5344CB8AC3E}">
        <p14:creationId xmlns:p14="http://schemas.microsoft.com/office/powerpoint/2010/main" val="1851440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aws.amazon.com/documentdb/" TargetMode="External"/><Relationship Id="rId13" Type="http://schemas.openxmlformats.org/officeDocument/2006/relationships/hyperlink" Target="https://aws.amazon.com/caching/aws-caching/" TargetMode="External"/><Relationship Id="rId3" Type="http://schemas.openxmlformats.org/officeDocument/2006/relationships/hyperlink" Target="https://aws.amazon.com/rds/features/security/" TargetMode="External"/><Relationship Id="rId7" Type="http://schemas.openxmlformats.org/officeDocument/2006/relationships/hyperlink" Target="https://aws.amazon.com/elasticache/" TargetMode="External"/><Relationship Id="rId12" Type="http://schemas.openxmlformats.org/officeDocument/2006/relationships/hyperlink" Target="https://aws.amazon.com/nosql/" TargetMode="External"/><Relationship Id="rId2" Type="http://schemas.openxmlformats.org/officeDocument/2006/relationships/hyperlink" Target="https://aws.amazon.com/rds/" TargetMode="External"/><Relationship Id="rId1" Type="http://schemas.openxmlformats.org/officeDocument/2006/relationships/slideLayout" Target="../slideLayouts/slideLayout2.xml"/><Relationship Id="rId6" Type="http://schemas.openxmlformats.org/officeDocument/2006/relationships/hyperlink" Target="https://aws.amazon.com/dynamodb/" TargetMode="External"/><Relationship Id="rId11" Type="http://schemas.openxmlformats.org/officeDocument/2006/relationships/hyperlink" Target="https://aws.amazon.com/relational-database/" TargetMode="External"/><Relationship Id="rId5" Type="http://schemas.openxmlformats.org/officeDocument/2006/relationships/hyperlink" Target="https://aws.amazon.com/dms/" TargetMode="External"/><Relationship Id="rId10" Type="http://schemas.openxmlformats.org/officeDocument/2006/relationships/hyperlink" Target="https://aws.amazon.com/neptune/" TargetMode="External"/><Relationship Id="rId4" Type="http://schemas.openxmlformats.org/officeDocument/2006/relationships/hyperlink" Target="https://aws.amazon.com/rds/aurora/" TargetMode="External"/><Relationship Id="rId9" Type="http://schemas.openxmlformats.org/officeDocument/2006/relationships/hyperlink" Target="https://aws.amazon.com/backup/" TargetMode="External"/><Relationship Id="rId14" Type="http://schemas.openxmlformats.org/officeDocument/2006/relationships/hyperlink" Target="https://aws.amazon.com/compliance/shared-responsibility-mode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Module </a:t>
            </a:r>
            <a:r>
              <a:rPr lang="en-US" b="1" dirty="0" smtClean="0"/>
              <a:t>7</a:t>
            </a:r>
            <a:endParaRPr lang="en-US" dirty="0"/>
          </a:p>
        </p:txBody>
      </p:sp>
      <p:sp>
        <p:nvSpPr>
          <p:cNvPr id="3" name="Subtitle 2"/>
          <p:cNvSpPr>
            <a:spLocks noGrp="1"/>
          </p:cNvSpPr>
          <p:nvPr>
            <p:ph type="subTitle" idx="1"/>
          </p:nvPr>
        </p:nvSpPr>
        <p:spPr/>
        <p:txBody>
          <a:bodyPr>
            <a:normAutofit/>
          </a:bodyPr>
          <a:lstStyle/>
          <a:p>
            <a:r>
              <a:rPr lang="en-US" sz="6000" b="1" dirty="0"/>
              <a:t>Databases</a:t>
            </a:r>
            <a:endParaRPr lang="en-US" sz="6000" dirty="0"/>
          </a:p>
        </p:txBody>
      </p:sp>
    </p:spTree>
    <p:extLst>
      <p:ext uri="{BB962C8B-B14F-4D97-AF65-F5344CB8AC3E}">
        <p14:creationId xmlns:p14="http://schemas.microsoft.com/office/powerpoint/2010/main" val="8997028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Outline</a:t>
            </a:r>
            <a:endParaRPr lang="en-US" b="1" dirty="0"/>
          </a:p>
        </p:txBody>
      </p:sp>
      <p:sp>
        <p:nvSpPr>
          <p:cNvPr id="3" name="Content Placeholder 2"/>
          <p:cNvSpPr>
            <a:spLocks noGrp="1"/>
          </p:cNvSpPr>
          <p:nvPr>
            <p:ph idx="1"/>
          </p:nvPr>
        </p:nvSpPr>
        <p:spPr/>
        <p:txBody>
          <a:bodyPr>
            <a:normAutofit/>
          </a:bodyPr>
          <a:lstStyle/>
          <a:p>
            <a:r>
              <a:rPr lang="en-US" b="1" dirty="0" smtClean="0"/>
              <a:t>MODULE 7 INTRODUCTION</a:t>
            </a:r>
          </a:p>
          <a:p>
            <a:pPr lvl="1"/>
            <a:r>
              <a:rPr lang="en-US" dirty="0" smtClean="0">
                <a:effectLst/>
              </a:rPr>
              <a:t>Introduction to Databases</a:t>
            </a:r>
          </a:p>
          <a:p>
            <a:r>
              <a:rPr lang="en-US" b="1" dirty="0" smtClean="0"/>
              <a:t>AWS DATABASE SERVICES</a:t>
            </a:r>
          </a:p>
          <a:p>
            <a:pPr lvl="1"/>
            <a:r>
              <a:rPr lang="en-US" dirty="0" smtClean="0">
                <a:effectLst/>
              </a:rPr>
              <a:t>Relational Database Services</a:t>
            </a:r>
          </a:p>
          <a:p>
            <a:pPr lvl="1"/>
            <a:r>
              <a:rPr lang="en-US" dirty="0" smtClean="0">
                <a:effectLst/>
              </a:rPr>
              <a:t>NoSQL Database Services</a:t>
            </a:r>
          </a:p>
          <a:p>
            <a:pPr lvl="1"/>
            <a:r>
              <a:rPr lang="en-US" dirty="0" smtClean="0">
                <a:effectLst/>
              </a:rPr>
              <a:t>AWS Databases Demonstration</a:t>
            </a:r>
          </a:p>
          <a:p>
            <a:pPr lvl="1"/>
            <a:r>
              <a:rPr lang="en-US" dirty="0" smtClean="0">
                <a:effectLst/>
              </a:rPr>
              <a:t>In-Memory Caching Services</a:t>
            </a:r>
          </a:p>
          <a:p>
            <a:pPr lvl="1"/>
            <a:r>
              <a:rPr lang="en-US" dirty="0" smtClean="0">
                <a:effectLst/>
              </a:rPr>
              <a:t>Additional Database Services</a:t>
            </a:r>
          </a:p>
          <a:p>
            <a:endParaRPr lang="en-US" dirty="0"/>
          </a:p>
        </p:txBody>
      </p:sp>
    </p:spTree>
    <p:extLst>
      <p:ext uri="{BB962C8B-B14F-4D97-AF65-F5344CB8AC3E}">
        <p14:creationId xmlns:p14="http://schemas.microsoft.com/office/powerpoint/2010/main" val="7429545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1864" y="2705989"/>
            <a:ext cx="6184392" cy="1325563"/>
          </a:xfrm>
        </p:spPr>
        <p:txBody>
          <a:bodyPr/>
          <a:lstStyle/>
          <a:p>
            <a:pPr algn="ctr"/>
            <a:r>
              <a:rPr lang="en-US" b="1" dirty="0"/>
              <a:t>Introduction to Databases</a:t>
            </a:r>
          </a:p>
        </p:txBody>
      </p:sp>
    </p:spTree>
    <p:extLst>
      <p:ext uri="{BB962C8B-B14F-4D97-AF65-F5344CB8AC3E}">
        <p14:creationId xmlns:p14="http://schemas.microsoft.com/office/powerpoint/2010/main" val="25131142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how the AWS shared responsibility model applies to AWS database services.</a:t>
            </a:r>
          </a:p>
          <a:p>
            <a:endParaRPr lang="en-US" dirty="0"/>
          </a:p>
        </p:txBody>
      </p:sp>
    </p:spTree>
    <p:extLst>
      <p:ext uri="{BB962C8B-B14F-4D97-AF65-F5344CB8AC3E}">
        <p14:creationId xmlns:p14="http://schemas.microsoft.com/office/powerpoint/2010/main" val="31467264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shared responsibility </a:t>
            </a:r>
            <a:r>
              <a:rPr lang="en-US" b="1" dirty="0" smtClean="0"/>
              <a:t>model</a:t>
            </a:r>
            <a:endParaRPr lang="en-US" dirty="0"/>
          </a:p>
        </p:txBody>
      </p:sp>
      <p:sp>
        <p:nvSpPr>
          <p:cNvPr id="3" name="Content Placeholder 2"/>
          <p:cNvSpPr>
            <a:spLocks noGrp="1"/>
          </p:cNvSpPr>
          <p:nvPr>
            <p:ph idx="1"/>
          </p:nvPr>
        </p:nvSpPr>
        <p:spPr/>
        <p:txBody>
          <a:bodyPr/>
          <a:lstStyle/>
          <a:p>
            <a:r>
              <a:rPr lang="en-US" dirty="0"/>
              <a:t>The AWS shared responsibility model groups services into three categories based on the ownership of administrative tasks. </a:t>
            </a:r>
            <a:endParaRPr lang="en-US" dirty="0" smtClean="0"/>
          </a:p>
          <a:p>
            <a:r>
              <a:rPr lang="en-US" dirty="0" smtClean="0"/>
              <a:t>These </a:t>
            </a:r>
            <a:r>
              <a:rPr lang="en-US" dirty="0"/>
              <a:t>categories are </a:t>
            </a:r>
            <a:r>
              <a:rPr lang="en-US" b="1" dirty="0"/>
              <a:t>fully managed</a:t>
            </a:r>
            <a:r>
              <a:rPr lang="en-US" dirty="0"/>
              <a:t>, </a:t>
            </a:r>
            <a:r>
              <a:rPr lang="en-US" b="1" dirty="0"/>
              <a:t>managed</a:t>
            </a:r>
            <a:r>
              <a:rPr lang="en-US" dirty="0"/>
              <a:t>, and </a:t>
            </a:r>
            <a:r>
              <a:rPr lang="en-US" b="1" dirty="0"/>
              <a:t>unmanaged</a:t>
            </a:r>
            <a:r>
              <a:rPr lang="en-US" dirty="0"/>
              <a:t>. </a:t>
            </a:r>
            <a:endParaRPr lang="en-US" dirty="0" smtClean="0"/>
          </a:p>
          <a:p>
            <a:r>
              <a:rPr lang="en-US" dirty="0" smtClean="0"/>
              <a:t>The </a:t>
            </a:r>
            <a:r>
              <a:rPr lang="en-US" dirty="0"/>
              <a:t>AWS services that you will be exploring in this module are primarily fully managed, with a few managed services, and no unmanaged services.</a:t>
            </a:r>
          </a:p>
          <a:p>
            <a:pPr marL="0" indent="0">
              <a:buNone/>
            </a:pPr>
            <a:endParaRPr lang="en-US" dirty="0"/>
          </a:p>
        </p:txBody>
      </p:sp>
    </p:spTree>
    <p:extLst>
      <p:ext uri="{BB962C8B-B14F-4D97-AF65-F5344CB8AC3E}">
        <p14:creationId xmlns:p14="http://schemas.microsoft.com/office/powerpoint/2010/main" val="30137380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Fully managed services</a:t>
            </a:r>
            <a:endParaRPr lang="en-US" b="1" dirty="0"/>
          </a:p>
        </p:txBody>
      </p:sp>
      <p:pic>
        <p:nvPicPr>
          <p:cNvPr id="4" name="Content Placeholder 3"/>
          <p:cNvPicPr>
            <a:picLocks noGrp="1" noChangeAspect="1"/>
          </p:cNvPicPr>
          <p:nvPr>
            <p:ph idx="1"/>
          </p:nvPr>
        </p:nvPicPr>
        <p:blipFill>
          <a:blip r:embed="rId2"/>
          <a:stretch>
            <a:fillRect/>
          </a:stretch>
        </p:blipFill>
        <p:spPr>
          <a:xfrm>
            <a:off x="947928" y="1523872"/>
            <a:ext cx="6550152" cy="5262047"/>
          </a:xfrm>
          <a:prstGeom prst="rect">
            <a:avLst/>
          </a:prstGeom>
        </p:spPr>
      </p:pic>
    </p:spTree>
    <p:extLst>
      <p:ext uri="{BB962C8B-B14F-4D97-AF65-F5344CB8AC3E}">
        <p14:creationId xmlns:p14="http://schemas.microsoft.com/office/powerpoint/2010/main" val="142141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t>
            </a:r>
            <a:r>
              <a:rPr lang="en-US" b="1" dirty="0" smtClean="0"/>
              <a:t>anaged </a:t>
            </a:r>
            <a:r>
              <a:rPr lang="en-US" b="1" dirty="0"/>
              <a:t>services</a:t>
            </a:r>
            <a:endParaRPr lang="en-US" dirty="0"/>
          </a:p>
        </p:txBody>
      </p:sp>
      <p:pic>
        <p:nvPicPr>
          <p:cNvPr id="4" name="Content Placeholder 3"/>
          <p:cNvPicPr>
            <a:picLocks noGrp="1" noChangeAspect="1"/>
          </p:cNvPicPr>
          <p:nvPr>
            <p:ph idx="1"/>
          </p:nvPr>
        </p:nvPicPr>
        <p:blipFill>
          <a:blip r:embed="rId2"/>
          <a:stretch>
            <a:fillRect/>
          </a:stretch>
        </p:blipFill>
        <p:spPr>
          <a:xfrm>
            <a:off x="838200" y="1615312"/>
            <a:ext cx="7221830" cy="5178680"/>
          </a:xfrm>
          <a:prstGeom prst="rect">
            <a:avLst/>
          </a:prstGeom>
        </p:spPr>
      </p:pic>
    </p:spTree>
    <p:extLst>
      <p:ext uri="{BB962C8B-B14F-4D97-AF65-F5344CB8AC3E}">
        <p14:creationId xmlns:p14="http://schemas.microsoft.com/office/powerpoint/2010/main" val="24723582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Unmanaged </a:t>
            </a:r>
            <a:r>
              <a:rPr lang="en-US" b="1" dirty="0"/>
              <a:t>services</a:t>
            </a:r>
            <a:endParaRPr lang="en-US" dirty="0"/>
          </a:p>
        </p:txBody>
      </p:sp>
      <p:pic>
        <p:nvPicPr>
          <p:cNvPr id="4" name="Content Placeholder 3"/>
          <p:cNvPicPr>
            <a:picLocks noGrp="1" noChangeAspect="1"/>
          </p:cNvPicPr>
          <p:nvPr>
            <p:ph idx="1"/>
          </p:nvPr>
        </p:nvPicPr>
        <p:blipFill>
          <a:blip r:embed="rId2"/>
          <a:stretch>
            <a:fillRect/>
          </a:stretch>
        </p:blipFill>
        <p:spPr>
          <a:xfrm>
            <a:off x="886235" y="1690687"/>
            <a:ext cx="6026629" cy="5033605"/>
          </a:xfrm>
          <a:prstGeom prst="rect">
            <a:avLst/>
          </a:prstGeom>
        </p:spPr>
      </p:pic>
    </p:spTree>
    <p:extLst>
      <p:ext uri="{BB962C8B-B14F-4D97-AF65-F5344CB8AC3E}">
        <p14:creationId xmlns:p14="http://schemas.microsoft.com/office/powerpoint/2010/main" val="27941263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912" y="2550541"/>
            <a:ext cx="10515600" cy="1325563"/>
          </a:xfrm>
        </p:spPr>
        <p:txBody>
          <a:bodyPr/>
          <a:lstStyle/>
          <a:p>
            <a:pPr algn="ctr"/>
            <a:r>
              <a:rPr lang="en-US" b="1" dirty="0"/>
              <a:t>Relational Database </a:t>
            </a:r>
            <a:r>
              <a:rPr lang="en-US" b="1" dirty="0" smtClean="0"/>
              <a:t>Services</a:t>
            </a:r>
            <a:endParaRPr lang="en-US" dirty="0"/>
          </a:p>
        </p:txBody>
      </p:sp>
    </p:spTree>
    <p:extLst>
      <p:ext uri="{BB962C8B-B14F-4D97-AF65-F5344CB8AC3E}">
        <p14:creationId xmlns:p14="http://schemas.microsoft.com/office/powerpoint/2010/main" val="9614858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relational databases.</a:t>
            </a:r>
          </a:p>
          <a:p>
            <a:r>
              <a:rPr lang="en-US" dirty="0"/>
              <a:t>Describe Amazon Relational Database Service (Amazon RDS), including its benefits and use cases.</a:t>
            </a:r>
          </a:p>
          <a:p>
            <a:r>
              <a:rPr lang="en-US" dirty="0"/>
              <a:t>Describe Amazon Aurora, including its benefits and use cases.</a:t>
            </a:r>
          </a:p>
          <a:p>
            <a:endParaRPr lang="en-US" dirty="0"/>
          </a:p>
        </p:txBody>
      </p:sp>
    </p:spTree>
    <p:extLst>
      <p:ext uri="{BB962C8B-B14F-4D97-AF65-F5344CB8AC3E}">
        <p14:creationId xmlns:p14="http://schemas.microsoft.com/office/powerpoint/2010/main" val="10308512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a:t>
            </a:r>
            <a:r>
              <a:rPr lang="en-US" b="1" dirty="0" smtClean="0"/>
              <a:t>databases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Relational databases store data in a way that relates it to other pieces of data, and they use structured query language, or SQL, to manage and query data. </a:t>
            </a:r>
            <a:endParaRPr lang="en-US" dirty="0" smtClean="0"/>
          </a:p>
          <a:p>
            <a:r>
              <a:rPr lang="en-US" dirty="0" smtClean="0"/>
              <a:t>This </a:t>
            </a:r>
            <a:r>
              <a:rPr lang="en-US" dirty="0"/>
              <a:t>approach stores data in an easily understandable, consistent, and scalable way that works great for applications requiring structured data management.</a:t>
            </a:r>
          </a:p>
          <a:p>
            <a:r>
              <a:rPr lang="en-US" dirty="0"/>
              <a:t>AWS offers fully managed relational database solutions that remove the burden of database administration while maintaining high availability and security. </a:t>
            </a:r>
            <a:endParaRPr lang="en-US" dirty="0" smtClean="0"/>
          </a:p>
          <a:p>
            <a:r>
              <a:rPr lang="en-US" dirty="0" smtClean="0"/>
              <a:t>AWS </a:t>
            </a:r>
            <a:r>
              <a:rPr lang="en-US" dirty="0"/>
              <a:t>relational databases support popular database engines like MySQL, PostgreSQL, and Oracle, making it easier to migrate existing databases to AWS</a:t>
            </a:r>
            <a:r>
              <a:rPr lang="en-US" dirty="0" smtClean="0"/>
              <a:t>.</a:t>
            </a:r>
            <a:endParaRPr lang="en-US" dirty="0"/>
          </a:p>
        </p:txBody>
      </p:sp>
    </p:spTree>
    <p:extLst>
      <p:ext uri="{BB962C8B-B14F-4D97-AF65-F5344CB8AC3E}">
        <p14:creationId xmlns:p14="http://schemas.microsoft.com/office/powerpoint/2010/main" val="9101134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databases</a:t>
            </a:r>
            <a:endParaRPr lang="en-US" dirty="0"/>
          </a:p>
        </p:txBody>
      </p:sp>
      <p:sp>
        <p:nvSpPr>
          <p:cNvPr id="3" name="Content Placeholder 2"/>
          <p:cNvSpPr>
            <a:spLocks noGrp="1"/>
          </p:cNvSpPr>
          <p:nvPr>
            <p:ph idx="1"/>
          </p:nvPr>
        </p:nvSpPr>
        <p:spPr/>
        <p:txBody>
          <a:bodyPr/>
          <a:lstStyle/>
          <a:p>
            <a:r>
              <a:rPr lang="en-US" dirty="0"/>
              <a:t>An example of a relational database would be an inventory management system for a restaurant. </a:t>
            </a:r>
          </a:p>
          <a:p>
            <a:r>
              <a:rPr lang="en-US" dirty="0"/>
              <a:t>Each record in the database includes data for a single item, such as product name, size, price, and so on. </a:t>
            </a:r>
          </a:p>
          <a:p>
            <a:r>
              <a:rPr lang="en-US" dirty="0"/>
              <a:t>The following table shows how this type of data is configured in a relational database.</a:t>
            </a:r>
          </a:p>
          <a:p>
            <a:endParaRPr lang="en-US" dirty="0"/>
          </a:p>
          <a:p>
            <a:endParaRPr lang="en-US" dirty="0"/>
          </a:p>
        </p:txBody>
      </p:sp>
      <p:pic>
        <p:nvPicPr>
          <p:cNvPr id="5" name="Picture 4"/>
          <p:cNvPicPr>
            <a:picLocks noChangeAspect="1"/>
          </p:cNvPicPr>
          <p:nvPr/>
        </p:nvPicPr>
        <p:blipFill>
          <a:blip r:embed="rId2"/>
          <a:stretch>
            <a:fillRect/>
          </a:stretch>
        </p:blipFill>
        <p:spPr>
          <a:xfrm>
            <a:off x="1080016" y="4562856"/>
            <a:ext cx="9534453" cy="2295144"/>
          </a:xfrm>
          <a:prstGeom prst="rect">
            <a:avLst/>
          </a:prstGeom>
        </p:spPr>
      </p:pic>
    </p:spTree>
    <p:extLst>
      <p:ext uri="{BB962C8B-B14F-4D97-AF65-F5344CB8AC3E}">
        <p14:creationId xmlns:p14="http://schemas.microsoft.com/office/powerpoint/2010/main" val="26860731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144" y="355981"/>
            <a:ext cx="11420856" cy="1325563"/>
          </a:xfrm>
        </p:spPr>
        <p:txBody>
          <a:bodyPr>
            <a:normAutofit/>
          </a:bodyPr>
          <a:lstStyle/>
          <a:p>
            <a:r>
              <a:rPr lang="en-US" b="1" dirty="0"/>
              <a:t>Amazon Relational Database Service (Amazon RDS</a:t>
            </a:r>
            <a:r>
              <a:rPr lang="en-US" b="1" dirty="0" smtClean="0"/>
              <a:t>)</a:t>
            </a:r>
            <a:endParaRPr lang="en-US" dirty="0"/>
          </a:p>
        </p:txBody>
      </p:sp>
      <p:sp>
        <p:nvSpPr>
          <p:cNvPr id="3" name="Content Placeholder 2"/>
          <p:cNvSpPr>
            <a:spLocks noGrp="1"/>
          </p:cNvSpPr>
          <p:nvPr>
            <p:ph idx="1"/>
          </p:nvPr>
        </p:nvSpPr>
        <p:spPr/>
        <p:txBody>
          <a:bodyPr>
            <a:normAutofit fontScale="85000" lnSpcReduction="10000"/>
          </a:bodyPr>
          <a:lstStyle/>
          <a:p>
            <a:r>
              <a:rPr lang="en-US" dirty="0"/>
              <a:t>Amazon RDS is a </a:t>
            </a:r>
            <a:r>
              <a:rPr lang="en-US" b="1" i="1" dirty="0"/>
              <a:t>managed</a:t>
            </a:r>
            <a:r>
              <a:rPr lang="en-US" dirty="0"/>
              <a:t> relational database service that handles routine database tasks such as backups, patching, and hardware provisioning. </a:t>
            </a:r>
            <a:endParaRPr lang="en-US" dirty="0" smtClean="0"/>
          </a:p>
          <a:p>
            <a:r>
              <a:rPr lang="en-US" dirty="0" smtClean="0"/>
              <a:t>Amazon </a:t>
            </a:r>
            <a:r>
              <a:rPr lang="en-US" dirty="0"/>
              <a:t>RDS supports multiple database instance class types that optimize for memory, performance, or input/output (I/O).</a:t>
            </a:r>
          </a:p>
          <a:p>
            <a:r>
              <a:rPr lang="en-US" dirty="0"/>
              <a:t>To improve data resilience, Amazon RDS offers </a:t>
            </a:r>
            <a:r>
              <a:rPr lang="en-US" b="1" dirty="0"/>
              <a:t>Multi-AZ deployment </a:t>
            </a:r>
            <a:r>
              <a:rPr lang="en-US" dirty="0"/>
              <a:t>and </a:t>
            </a:r>
            <a:r>
              <a:rPr lang="en-US" b="1" dirty="0"/>
              <a:t>automated backups</a:t>
            </a:r>
            <a:r>
              <a:rPr lang="en-US" dirty="0"/>
              <a:t>, but you can also manually create backups using DB snapshots. </a:t>
            </a:r>
            <a:endParaRPr lang="en-US" dirty="0" smtClean="0"/>
          </a:p>
          <a:p>
            <a:r>
              <a:rPr lang="en-US" dirty="0" smtClean="0"/>
              <a:t>These </a:t>
            </a:r>
            <a:r>
              <a:rPr lang="en-US" dirty="0"/>
              <a:t>are full backups of your entire database instance, which can be useful for specific point-in-time recovery or long-term data archiving purposes. </a:t>
            </a:r>
            <a:endParaRPr lang="en-US" dirty="0" smtClean="0"/>
          </a:p>
          <a:p>
            <a:r>
              <a:rPr lang="en-US" dirty="0" smtClean="0"/>
              <a:t>Amazon </a:t>
            </a:r>
            <a:r>
              <a:rPr lang="en-US" dirty="0"/>
              <a:t>RDS offers security features including network isolation, encryption in transit, and encryption at rest. </a:t>
            </a:r>
            <a:endParaRPr lang="en-US" dirty="0" smtClean="0"/>
          </a:p>
          <a:p>
            <a:r>
              <a:rPr lang="en-US" dirty="0" smtClean="0"/>
              <a:t>You </a:t>
            </a:r>
            <a:r>
              <a:rPr lang="en-US" dirty="0"/>
              <a:t>can readily scale database resources vertically or horizontally as needed.</a:t>
            </a:r>
          </a:p>
          <a:p>
            <a:endParaRPr lang="en-US" dirty="0"/>
          </a:p>
        </p:txBody>
      </p:sp>
    </p:spTree>
    <p:extLst>
      <p:ext uri="{BB962C8B-B14F-4D97-AF65-F5344CB8AC3E}">
        <p14:creationId xmlns:p14="http://schemas.microsoft.com/office/powerpoint/2010/main" val="10712450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346837"/>
            <a:ext cx="11423904" cy="1325563"/>
          </a:xfrm>
        </p:spPr>
        <p:txBody>
          <a:bodyPr/>
          <a:lstStyle/>
          <a:p>
            <a:r>
              <a:rPr lang="en-US" b="1" dirty="0"/>
              <a:t>Amazon Relational Database Service (Amazon RDS)</a:t>
            </a:r>
            <a:endParaRPr lang="en-US" dirty="0"/>
          </a:p>
        </p:txBody>
      </p:sp>
      <p:sp>
        <p:nvSpPr>
          <p:cNvPr id="3" name="Content Placeholder 2"/>
          <p:cNvSpPr>
            <a:spLocks noGrp="1"/>
          </p:cNvSpPr>
          <p:nvPr>
            <p:ph idx="1"/>
          </p:nvPr>
        </p:nvSpPr>
        <p:spPr/>
        <p:txBody>
          <a:bodyPr/>
          <a:lstStyle/>
          <a:p>
            <a:r>
              <a:rPr lang="en-US" b="1" dirty="0"/>
              <a:t>Supported database engines</a:t>
            </a:r>
          </a:p>
          <a:p>
            <a:pPr lvl="1"/>
            <a:r>
              <a:rPr lang="en-US" dirty="0"/>
              <a:t>Amazon RDS supports different database engines, including Amazon Aurora, MySQL, PostgreSQL, Microsoft SQL Server, </a:t>
            </a:r>
            <a:r>
              <a:rPr lang="en-US" dirty="0" err="1"/>
              <a:t>MariaDB</a:t>
            </a:r>
            <a:r>
              <a:rPr lang="en-US" dirty="0"/>
              <a:t>, and Oracle Database</a:t>
            </a:r>
            <a:r>
              <a:rPr lang="en-US" dirty="0" smtClean="0"/>
              <a:t>.</a:t>
            </a:r>
          </a:p>
          <a:p>
            <a:pPr lvl="1"/>
            <a:endParaRPr lang="en-US" dirty="0"/>
          </a:p>
          <a:p>
            <a:r>
              <a:rPr lang="en-US" b="1" dirty="0"/>
              <a:t>Use cases</a:t>
            </a:r>
          </a:p>
          <a:p>
            <a:pPr lvl="1"/>
            <a:r>
              <a:rPr lang="en-US" dirty="0"/>
              <a:t>Some examples of practical use cases for Amazon RDS are web applications, enterprise workloads, and product inventories for e-commerce platforms.</a:t>
            </a:r>
          </a:p>
          <a:p>
            <a:pPr lvl="1"/>
            <a:endParaRPr lang="en-US" dirty="0"/>
          </a:p>
        </p:txBody>
      </p:sp>
    </p:spTree>
    <p:extLst>
      <p:ext uri="{BB962C8B-B14F-4D97-AF65-F5344CB8AC3E}">
        <p14:creationId xmlns:p14="http://schemas.microsoft.com/office/powerpoint/2010/main" val="18116563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RDS </a:t>
            </a:r>
            <a:r>
              <a:rPr lang="en-US" b="1" dirty="0" smtClean="0"/>
              <a:t>Benefits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Cost optimization</a:t>
            </a:r>
          </a:p>
          <a:p>
            <a:pPr lvl="1"/>
            <a:r>
              <a:rPr lang="en-US" dirty="0"/>
              <a:t>Amazon RDS eliminates the high upfront costs of purchasing and maintaining database hardware infrastructure. </a:t>
            </a:r>
            <a:endParaRPr lang="en-US" dirty="0" smtClean="0"/>
          </a:p>
          <a:p>
            <a:pPr lvl="1"/>
            <a:r>
              <a:rPr lang="en-US" dirty="0" smtClean="0"/>
              <a:t>You </a:t>
            </a:r>
            <a:r>
              <a:rPr lang="en-US" dirty="0"/>
              <a:t>only pay for the compute and storage resources that you consume through a flexible pay-as-you-go model. </a:t>
            </a:r>
            <a:endParaRPr lang="en-US" dirty="0" smtClean="0"/>
          </a:p>
          <a:p>
            <a:pPr lvl="1"/>
            <a:r>
              <a:rPr lang="en-US" dirty="0" smtClean="0"/>
              <a:t>As </a:t>
            </a:r>
            <a:r>
              <a:rPr lang="en-US" dirty="0"/>
              <a:t>a managed service, it also reduces operational expenses by automating time-consuming administrative tasks like backups, patching, and monitoring.</a:t>
            </a:r>
            <a:endParaRPr lang="en-US" b="1" dirty="0" smtClean="0"/>
          </a:p>
          <a:p>
            <a:r>
              <a:rPr lang="en-US" b="1" dirty="0" smtClean="0"/>
              <a:t>Multi-AZ deployment</a:t>
            </a:r>
          </a:p>
          <a:p>
            <a:pPr lvl="1"/>
            <a:r>
              <a:rPr lang="en-US" dirty="0"/>
              <a:t>Amazon RDS improves database reliability through Multi-AZ deployments. </a:t>
            </a:r>
            <a:endParaRPr lang="en-US" dirty="0" smtClean="0"/>
          </a:p>
          <a:p>
            <a:pPr lvl="1"/>
            <a:r>
              <a:rPr lang="en-US" dirty="0" smtClean="0"/>
              <a:t>It</a:t>
            </a:r>
            <a:r>
              <a:rPr lang="en-US" dirty="0"/>
              <a:t> automatically replicates data to a standby instance in a different Availability Zone. </a:t>
            </a:r>
            <a:endParaRPr lang="en-US" dirty="0" smtClean="0"/>
          </a:p>
          <a:p>
            <a:pPr lvl="1"/>
            <a:r>
              <a:rPr lang="en-US" dirty="0" smtClean="0"/>
              <a:t>During </a:t>
            </a:r>
            <a:r>
              <a:rPr lang="en-US" dirty="0"/>
              <a:t>system failures, maintenance, or zone disruptions, Amazon RDS automatically fails over to the standby instance without manual intervention. </a:t>
            </a:r>
            <a:endParaRPr lang="en-US" dirty="0" smtClean="0"/>
          </a:p>
          <a:p>
            <a:pPr lvl="1"/>
            <a:r>
              <a:rPr lang="en-US" dirty="0" smtClean="0"/>
              <a:t>This </a:t>
            </a:r>
            <a:r>
              <a:rPr lang="en-US" dirty="0"/>
              <a:t>ensures continuous database operations with minimal downtime</a:t>
            </a:r>
            <a:r>
              <a:rPr lang="en-US" dirty="0" smtClean="0"/>
              <a:t>.</a:t>
            </a:r>
            <a:endParaRPr lang="en-US" b="1" dirty="0" smtClean="0"/>
          </a:p>
        </p:txBody>
      </p:sp>
    </p:spTree>
    <p:extLst>
      <p:ext uri="{BB962C8B-B14F-4D97-AF65-F5344CB8AC3E}">
        <p14:creationId xmlns:p14="http://schemas.microsoft.com/office/powerpoint/2010/main" val="17978314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RDS Benefits</a:t>
            </a:r>
            <a:endParaRPr lang="en-US" dirty="0"/>
          </a:p>
        </p:txBody>
      </p:sp>
      <p:sp>
        <p:nvSpPr>
          <p:cNvPr id="3" name="Content Placeholder 2"/>
          <p:cNvSpPr>
            <a:spLocks noGrp="1"/>
          </p:cNvSpPr>
          <p:nvPr>
            <p:ph idx="1"/>
          </p:nvPr>
        </p:nvSpPr>
        <p:spPr/>
        <p:txBody>
          <a:bodyPr>
            <a:normAutofit fontScale="92500"/>
          </a:bodyPr>
          <a:lstStyle/>
          <a:p>
            <a:r>
              <a:rPr lang="en-US" b="1" dirty="0"/>
              <a:t>Performance </a:t>
            </a:r>
            <a:r>
              <a:rPr lang="en-US" b="1" dirty="0" smtClean="0"/>
              <a:t>optimization</a:t>
            </a:r>
          </a:p>
          <a:p>
            <a:pPr lvl="1"/>
            <a:r>
              <a:rPr lang="en-US" dirty="0"/>
              <a:t>Amazon RDS enhances database performance through automated management of resource allocation, monitoring, and optimization tasks. </a:t>
            </a:r>
            <a:endParaRPr lang="en-US" dirty="0" smtClean="0"/>
          </a:p>
          <a:p>
            <a:pPr lvl="1"/>
            <a:r>
              <a:rPr lang="en-US" dirty="0" smtClean="0"/>
              <a:t>It </a:t>
            </a:r>
            <a:r>
              <a:rPr lang="en-US" dirty="0"/>
              <a:t>includes features like automated backups and read replicas that can help offload read traffic from the primary instance. </a:t>
            </a:r>
            <a:endParaRPr lang="en-US" dirty="0" smtClean="0"/>
          </a:p>
          <a:p>
            <a:pPr lvl="1"/>
            <a:r>
              <a:rPr lang="en-US" dirty="0" smtClean="0"/>
              <a:t>Amazon </a:t>
            </a:r>
            <a:r>
              <a:rPr lang="en-US" dirty="0"/>
              <a:t>RDS performance insights provide real-time monitoring and analysis of database load, to help you identify and resolve performance bottlenecks quickly.</a:t>
            </a:r>
            <a:endParaRPr lang="en-US" b="1" dirty="0"/>
          </a:p>
          <a:p>
            <a:r>
              <a:rPr lang="en-US" b="1" dirty="0"/>
              <a:t>Security controls</a:t>
            </a:r>
          </a:p>
          <a:p>
            <a:pPr lvl="1"/>
            <a:r>
              <a:rPr lang="en-US" dirty="0"/>
              <a:t>Amazon RDS enhances database security through multiple layers of protection, including VPC isolation as well as encryption at rest and in transit. </a:t>
            </a:r>
            <a:endParaRPr lang="en-US" dirty="0" smtClean="0"/>
          </a:p>
          <a:p>
            <a:pPr lvl="1"/>
            <a:r>
              <a:rPr lang="en-US" dirty="0" smtClean="0"/>
              <a:t>It </a:t>
            </a:r>
            <a:r>
              <a:rPr lang="en-US" dirty="0"/>
              <a:t>leverages automated backups and offers Multi-AZ deployments to provide resiliency against potential system failures.</a:t>
            </a:r>
          </a:p>
        </p:txBody>
      </p:sp>
    </p:spTree>
    <p:extLst>
      <p:ext uri="{BB962C8B-B14F-4D97-AF65-F5344CB8AC3E}">
        <p14:creationId xmlns:p14="http://schemas.microsoft.com/office/powerpoint/2010/main" val="38896860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Aurora</a:t>
            </a:r>
          </a:p>
        </p:txBody>
      </p:sp>
      <p:sp>
        <p:nvSpPr>
          <p:cNvPr id="3" name="Content Placeholder 2"/>
          <p:cNvSpPr>
            <a:spLocks noGrp="1"/>
          </p:cNvSpPr>
          <p:nvPr>
            <p:ph idx="1"/>
          </p:nvPr>
        </p:nvSpPr>
        <p:spPr/>
        <p:txBody>
          <a:bodyPr>
            <a:normAutofit lnSpcReduction="10000"/>
          </a:bodyPr>
          <a:lstStyle/>
          <a:p>
            <a:r>
              <a:rPr lang="en-US" dirty="0"/>
              <a:t>Amazon Aurora is a </a:t>
            </a:r>
            <a:r>
              <a:rPr lang="en-US" b="1" dirty="0"/>
              <a:t>cloud-native relational database engine</a:t>
            </a:r>
            <a:r>
              <a:rPr lang="en-US" dirty="0"/>
              <a:t> that’s </a:t>
            </a:r>
            <a:r>
              <a:rPr lang="en-US" b="1" dirty="0"/>
              <a:t>part of RDS</a:t>
            </a:r>
            <a:r>
              <a:rPr lang="en-US" dirty="0"/>
              <a:t>, but it’s </a:t>
            </a:r>
            <a:r>
              <a:rPr lang="en-US" b="1" dirty="0"/>
              <a:t>Amazon’s own engine</a:t>
            </a:r>
            <a:r>
              <a:rPr lang="en-US" dirty="0"/>
              <a:t> (not open-source or commercial like MySQL/PostgreSQL). It’s fully compatible with </a:t>
            </a:r>
            <a:r>
              <a:rPr lang="en-US" b="1" dirty="0"/>
              <a:t>MySQL</a:t>
            </a:r>
            <a:r>
              <a:rPr lang="en-US" dirty="0"/>
              <a:t> and </a:t>
            </a:r>
            <a:r>
              <a:rPr lang="en-US" b="1" dirty="0"/>
              <a:t>PostgreSQL</a:t>
            </a:r>
            <a:r>
              <a:rPr lang="en-US" dirty="0"/>
              <a:t>, but designed to give </a:t>
            </a:r>
            <a:r>
              <a:rPr lang="en-US" b="1" dirty="0"/>
              <a:t>much higher performance and scalability</a:t>
            </a:r>
            <a:r>
              <a:rPr lang="en-US" dirty="0" smtClean="0"/>
              <a:t>.</a:t>
            </a:r>
          </a:p>
          <a:p>
            <a:r>
              <a:rPr lang="en-US" b="1" dirty="0"/>
              <a:t>Key Features:</a:t>
            </a:r>
            <a:endParaRPr lang="en-US" dirty="0"/>
          </a:p>
          <a:p>
            <a:pPr lvl="1"/>
            <a:r>
              <a:rPr lang="en-US" dirty="0"/>
              <a:t>Up to </a:t>
            </a:r>
            <a:r>
              <a:rPr lang="en-US" b="1" dirty="0"/>
              <a:t>5x faster than MySQL</a:t>
            </a:r>
            <a:r>
              <a:rPr lang="en-US" dirty="0"/>
              <a:t> and </a:t>
            </a:r>
            <a:r>
              <a:rPr lang="en-US" b="1" dirty="0"/>
              <a:t>3x faster than PostgreSQL</a:t>
            </a:r>
            <a:r>
              <a:rPr lang="en-US" dirty="0"/>
              <a:t> on RDS.</a:t>
            </a:r>
          </a:p>
          <a:p>
            <a:pPr lvl="1"/>
            <a:r>
              <a:rPr lang="en-US" b="1" dirty="0"/>
              <a:t>Distributed, fault-tolerant storage</a:t>
            </a:r>
            <a:r>
              <a:rPr lang="en-US" dirty="0"/>
              <a:t> that auto-scales up to 128 TB per database.</a:t>
            </a:r>
          </a:p>
          <a:p>
            <a:pPr lvl="1"/>
            <a:r>
              <a:rPr lang="en-US" dirty="0"/>
              <a:t>Replication across </a:t>
            </a:r>
            <a:r>
              <a:rPr lang="en-US" b="1" dirty="0"/>
              <a:t>3 availability zones (AZs)</a:t>
            </a:r>
            <a:r>
              <a:rPr lang="en-US" dirty="0"/>
              <a:t> for high durability.</a:t>
            </a:r>
          </a:p>
          <a:p>
            <a:pPr lvl="1"/>
            <a:r>
              <a:rPr lang="en-US" dirty="0" err="1"/>
              <a:t>Serverless</a:t>
            </a:r>
            <a:r>
              <a:rPr lang="en-US" dirty="0"/>
              <a:t> option (Aurora </a:t>
            </a:r>
            <a:r>
              <a:rPr lang="en-US" dirty="0" err="1"/>
              <a:t>Serverless</a:t>
            </a:r>
            <a:r>
              <a:rPr lang="en-US" dirty="0"/>
              <a:t>) for automatic scaling.</a:t>
            </a:r>
          </a:p>
          <a:p>
            <a:pPr lvl="1"/>
            <a:r>
              <a:rPr lang="en-US" dirty="0"/>
              <a:t>Global databases (multi-region replication).</a:t>
            </a:r>
          </a:p>
          <a:p>
            <a:endParaRPr lang="en-US" dirty="0"/>
          </a:p>
        </p:txBody>
      </p:sp>
    </p:spTree>
    <p:extLst>
      <p:ext uri="{BB962C8B-B14F-4D97-AF65-F5344CB8AC3E}">
        <p14:creationId xmlns:p14="http://schemas.microsoft.com/office/powerpoint/2010/main" val="2641633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smtClean="0"/>
              <a:t>Aurora</a:t>
            </a:r>
            <a:endParaRPr lang="en-US" dirty="0"/>
          </a:p>
        </p:txBody>
      </p:sp>
      <p:sp>
        <p:nvSpPr>
          <p:cNvPr id="3" name="Content Placeholder 2"/>
          <p:cNvSpPr>
            <a:spLocks noGrp="1"/>
          </p:cNvSpPr>
          <p:nvPr>
            <p:ph idx="1"/>
          </p:nvPr>
        </p:nvSpPr>
        <p:spPr/>
        <p:txBody>
          <a:bodyPr>
            <a:normAutofit lnSpcReduction="10000"/>
          </a:bodyPr>
          <a:lstStyle/>
          <a:p>
            <a:r>
              <a:rPr lang="en-US" dirty="0"/>
              <a:t>Aurora is a managed relational database designed to help reduce unnecessary I/O operations. </a:t>
            </a:r>
            <a:endParaRPr lang="en-US" dirty="0" smtClean="0"/>
          </a:p>
          <a:p>
            <a:r>
              <a:rPr lang="en-US" dirty="0" smtClean="0"/>
              <a:t>It's </a:t>
            </a:r>
            <a:r>
              <a:rPr lang="en-US" dirty="0"/>
              <a:t>compatible with MySQL and PostgreSQL, provides high performance and availability, and automatically scales alongside your workloads. </a:t>
            </a:r>
            <a:endParaRPr lang="en-US" dirty="0" smtClean="0"/>
          </a:p>
          <a:p>
            <a:r>
              <a:rPr lang="en-US" dirty="0" smtClean="0"/>
              <a:t>Aurora </a:t>
            </a:r>
            <a:r>
              <a:rPr lang="en-US" dirty="0"/>
              <a:t>replicates data across multiple Availability Zones for enhanced durability and fault tolerance, and </a:t>
            </a:r>
            <a:r>
              <a:rPr lang="en-US" b="1" dirty="0"/>
              <a:t>features automated backups</a:t>
            </a:r>
            <a:r>
              <a:rPr lang="en-US" dirty="0"/>
              <a:t>, </a:t>
            </a:r>
            <a:r>
              <a:rPr lang="en-US" b="1" dirty="0"/>
              <a:t>encryption at rest, and continuous monitoring</a:t>
            </a:r>
            <a:r>
              <a:rPr lang="en-US" dirty="0"/>
              <a:t>.</a:t>
            </a:r>
          </a:p>
          <a:p>
            <a:r>
              <a:rPr lang="en-US" b="1" dirty="0"/>
              <a:t>Use cases</a:t>
            </a:r>
          </a:p>
          <a:p>
            <a:pPr lvl="1"/>
            <a:r>
              <a:rPr lang="en-US" dirty="0" smtClean="0"/>
              <a:t>Some </a:t>
            </a:r>
            <a:r>
              <a:rPr lang="en-US" dirty="0"/>
              <a:t>examples of practical use cases for Aurora are gaming applications, media and content management, and real-time analytics.</a:t>
            </a:r>
          </a:p>
          <a:p>
            <a:endParaRPr lang="en-US" dirty="0"/>
          </a:p>
        </p:txBody>
      </p:sp>
    </p:spTree>
    <p:extLst>
      <p:ext uri="{BB962C8B-B14F-4D97-AF65-F5344CB8AC3E}">
        <p14:creationId xmlns:p14="http://schemas.microsoft.com/office/powerpoint/2010/main" val="233984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smtClean="0"/>
              <a:t>Aurora Benefits</a:t>
            </a:r>
            <a:endParaRPr lang="en-US" dirty="0"/>
          </a:p>
        </p:txBody>
      </p:sp>
      <p:sp>
        <p:nvSpPr>
          <p:cNvPr id="3" name="Content Placeholder 2"/>
          <p:cNvSpPr>
            <a:spLocks noGrp="1"/>
          </p:cNvSpPr>
          <p:nvPr>
            <p:ph idx="1"/>
          </p:nvPr>
        </p:nvSpPr>
        <p:spPr>
          <a:xfrm>
            <a:off x="838200" y="1825625"/>
            <a:ext cx="10515600" cy="4895216"/>
          </a:xfrm>
        </p:spPr>
        <p:txBody>
          <a:bodyPr>
            <a:normAutofit fontScale="92500" lnSpcReduction="20000"/>
          </a:bodyPr>
          <a:lstStyle/>
          <a:p>
            <a:r>
              <a:rPr lang="en-US" b="1" dirty="0" smtClean="0"/>
              <a:t>High performance and availability</a:t>
            </a:r>
          </a:p>
          <a:p>
            <a:pPr lvl="1"/>
            <a:r>
              <a:rPr lang="en-US" dirty="0"/>
              <a:t>Aurora delivers up to five times the throughput of standard MySQL and three times the throughput of PostgreSQL. </a:t>
            </a:r>
            <a:endParaRPr lang="en-US" dirty="0" smtClean="0"/>
          </a:p>
          <a:p>
            <a:pPr lvl="1"/>
            <a:r>
              <a:rPr lang="en-US" dirty="0" smtClean="0"/>
              <a:t>It </a:t>
            </a:r>
            <a:r>
              <a:rPr lang="en-US" dirty="0"/>
              <a:t>uses a distributed storage system across multiple nodes to provide high performance and availability.</a:t>
            </a:r>
            <a:endParaRPr lang="en-US" b="1" dirty="0" smtClean="0"/>
          </a:p>
          <a:p>
            <a:r>
              <a:rPr lang="en-US" b="1" dirty="0" smtClean="0"/>
              <a:t>Automated storage and backup management</a:t>
            </a:r>
          </a:p>
          <a:p>
            <a:pPr lvl="1"/>
            <a:r>
              <a:rPr lang="en-US" dirty="0"/>
              <a:t>Aurora automatically grows storage from 10 GB to 128 TB based on your actual data usage, which eliminates guesswork in capacity planning. </a:t>
            </a:r>
            <a:endParaRPr lang="en-US" dirty="0" smtClean="0"/>
          </a:p>
          <a:p>
            <a:pPr lvl="1"/>
            <a:r>
              <a:rPr lang="en-US" dirty="0" smtClean="0"/>
              <a:t>It </a:t>
            </a:r>
            <a:r>
              <a:rPr lang="en-US" dirty="0"/>
              <a:t>also continuously backs up your database to Amazon Simple Storage Service (Amazon S3) to provide point-in-time recovery.</a:t>
            </a:r>
            <a:endParaRPr lang="en-US" b="1" dirty="0" smtClean="0"/>
          </a:p>
          <a:p>
            <a:r>
              <a:rPr lang="en-US" b="1" dirty="0" smtClean="0"/>
              <a:t>Advanced replication and fault tolerance</a:t>
            </a:r>
          </a:p>
          <a:p>
            <a:pPr lvl="1"/>
            <a:r>
              <a:rPr lang="en-US" dirty="0"/>
              <a:t>Aurora replicates data across three Availability Zones with six copies of data, and provides 99.99% availability. </a:t>
            </a:r>
            <a:endParaRPr lang="en-US" dirty="0" smtClean="0"/>
          </a:p>
          <a:p>
            <a:pPr lvl="1"/>
            <a:r>
              <a:rPr lang="en-US" dirty="0" smtClean="0"/>
              <a:t>It </a:t>
            </a:r>
            <a:r>
              <a:rPr lang="en-US" dirty="0"/>
              <a:t>automatically detects database failures and redirects traffic to healthy replicas without data loss.</a:t>
            </a:r>
            <a:endParaRPr lang="en-US" b="1" dirty="0"/>
          </a:p>
        </p:txBody>
      </p:sp>
    </p:spTree>
    <p:extLst>
      <p:ext uri="{BB962C8B-B14F-4D97-AF65-F5344CB8AC3E}">
        <p14:creationId xmlns:p14="http://schemas.microsoft.com/office/powerpoint/2010/main" val="254759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2888869"/>
            <a:ext cx="10515600" cy="1325563"/>
          </a:xfrm>
        </p:spPr>
        <p:txBody>
          <a:bodyPr/>
          <a:lstStyle/>
          <a:p>
            <a:pPr algn="ctr"/>
            <a:r>
              <a:rPr lang="en-US" b="1" dirty="0"/>
              <a:t>NoSQL Database </a:t>
            </a:r>
            <a:r>
              <a:rPr lang="en-US" b="1" dirty="0" smtClean="0"/>
              <a:t>Services</a:t>
            </a:r>
            <a:endParaRPr lang="en-US" dirty="0"/>
          </a:p>
        </p:txBody>
      </p:sp>
    </p:spTree>
    <p:extLst>
      <p:ext uri="{BB962C8B-B14F-4D97-AF65-F5344CB8AC3E}">
        <p14:creationId xmlns:p14="http://schemas.microsoft.com/office/powerpoint/2010/main" val="1179284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NoSQL databases.</a:t>
            </a:r>
          </a:p>
          <a:p>
            <a:r>
              <a:rPr lang="en-US" dirty="0"/>
              <a:t>Describe Amazon </a:t>
            </a:r>
            <a:r>
              <a:rPr lang="en-US" dirty="0" err="1"/>
              <a:t>DynamoDB</a:t>
            </a:r>
            <a:r>
              <a:rPr lang="en-US" dirty="0"/>
              <a:t>, including its benefits and use cases.</a:t>
            </a:r>
          </a:p>
          <a:p>
            <a:endParaRPr lang="en-US" dirty="0"/>
          </a:p>
        </p:txBody>
      </p:sp>
    </p:spTree>
    <p:extLst>
      <p:ext uri="{BB962C8B-B14F-4D97-AF65-F5344CB8AC3E}">
        <p14:creationId xmlns:p14="http://schemas.microsoft.com/office/powerpoint/2010/main" val="4092226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NoSQL </a:t>
            </a:r>
            <a:r>
              <a:rPr lang="en-US" b="1" dirty="0" smtClean="0"/>
              <a:t>databases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NoSQL databases are sometimes referred to as </a:t>
            </a:r>
            <a:r>
              <a:rPr lang="en-US" i="1" dirty="0"/>
              <a:t>non-relational databases</a:t>
            </a:r>
            <a:r>
              <a:rPr lang="en-US" dirty="0"/>
              <a:t> because their structures are different than relational databases like Amazon RDS. </a:t>
            </a:r>
            <a:endParaRPr lang="en-US" dirty="0" smtClean="0"/>
          </a:p>
          <a:p>
            <a:r>
              <a:rPr lang="en-US" dirty="0" smtClean="0"/>
              <a:t>Instead </a:t>
            </a:r>
            <a:r>
              <a:rPr lang="en-US" dirty="0"/>
              <a:t>of row and column relationships, NoSQL databases build a structure for the data that they contain using </a:t>
            </a:r>
            <a:r>
              <a:rPr lang="en-US" b="1" i="1" dirty="0"/>
              <a:t>key-value pairs</a:t>
            </a:r>
            <a:r>
              <a:rPr lang="en-US" dirty="0"/>
              <a:t> instead. </a:t>
            </a:r>
            <a:endParaRPr lang="en-US" dirty="0" smtClean="0"/>
          </a:p>
          <a:p>
            <a:r>
              <a:rPr lang="en-US" dirty="0" smtClean="0"/>
              <a:t>With</a:t>
            </a:r>
            <a:r>
              <a:rPr lang="en-US" dirty="0"/>
              <a:t> key-value pairs, data is organized into items </a:t>
            </a:r>
            <a:r>
              <a:rPr lang="en-US" b="1" dirty="0"/>
              <a:t>identified by unique keys</a:t>
            </a:r>
            <a:r>
              <a:rPr lang="en-US" dirty="0"/>
              <a:t>. </a:t>
            </a:r>
          </a:p>
          <a:p>
            <a:r>
              <a:rPr lang="en-US" dirty="0"/>
              <a:t>Each key has one or more associated attributes, or values, that represent various characteristics of the data. </a:t>
            </a:r>
            <a:endParaRPr lang="en-US" dirty="0" smtClean="0"/>
          </a:p>
          <a:p>
            <a:r>
              <a:rPr lang="en-US" dirty="0"/>
              <a:t>You can think of a key as a word entry in a dictionary, and the value as its associated definition. </a:t>
            </a:r>
          </a:p>
          <a:p>
            <a:endParaRPr lang="en-US" dirty="0" smtClean="0"/>
          </a:p>
          <a:p>
            <a:endParaRPr lang="en-US" dirty="0"/>
          </a:p>
        </p:txBody>
      </p:sp>
    </p:spTree>
    <p:extLst>
      <p:ext uri="{BB962C8B-B14F-4D97-AF65-F5344CB8AC3E}">
        <p14:creationId xmlns:p14="http://schemas.microsoft.com/office/powerpoint/2010/main" val="269840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NoSQL databases</a:t>
            </a:r>
            <a:endParaRPr lang="en-US" dirty="0"/>
          </a:p>
        </p:txBody>
      </p:sp>
      <p:sp>
        <p:nvSpPr>
          <p:cNvPr id="3" name="Content Placeholder 2"/>
          <p:cNvSpPr>
            <a:spLocks noGrp="1"/>
          </p:cNvSpPr>
          <p:nvPr>
            <p:ph idx="1"/>
          </p:nvPr>
        </p:nvSpPr>
        <p:spPr/>
        <p:txBody>
          <a:bodyPr/>
          <a:lstStyle/>
          <a:p>
            <a:r>
              <a:rPr lang="en-US" dirty="0" smtClean="0"/>
              <a:t>Not </a:t>
            </a:r>
            <a:r>
              <a:rPr lang="en-US" dirty="0"/>
              <a:t>every item in the table has to have the same attributes, and you can add or remove attributes at any time.</a:t>
            </a:r>
          </a:p>
          <a:p>
            <a:r>
              <a:rPr lang="en-US" dirty="0"/>
              <a:t>The following table shows an example of how key-value paired data is stored in NoSQL databases.</a:t>
            </a:r>
          </a:p>
          <a:p>
            <a:endParaRPr lang="en-US" dirty="0"/>
          </a:p>
        </p:txBody>
      </p:sp>
      <p:pic>
        <p:nvPicPr>
          <p:cNvPr id="5" name="Picture 4"/>
          <p:cNvPicPr>
            <a:picLocks noChangeAspect="1"/>
          </p:cNvPicPr>
          <p:nvPr/>
        </p:nvPicPr>
        <p:blipFill>
          <a:blip r:embed="rId2"/>
          <a:stretch>
            <a:fillRect/>
          </a:stretch>
        </p:blipFill>
        <p:spPr>
          <a:xfrm>
            <a:off x="2093976" y="3525637"/>
            <a:ext cx="8215693" cy="3332363"/>
          </a:xfrm>
          <a:prstGeom prst="rect">
            <a:avLst/>
          </a:prstGeom>
        </p:spPr>
      </p:pic>
    </p:spTree>
    <p:extLst>
      <p:ext uri="{BB962C8B-B14F-4D97-AF65-F5344CB8AC3E}">
        <p14:creationId xmlns:p14="http://schemas.microsoft.com/office/powerpoint/2010/main" val="1924862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DynamoDB</a:t>
            </a:r>
            <a:r>
              <a:rPr lang="en-US" b="1" dirty="0" smtClean="0"/>
              <a:t> Service</a:t>
            </a:r>
            <a:endParaRPr lang="en-US" b="1" dirty="0"/>
          </a:p>
        </p:txBody>
      </p:sp>
      <p:sp>
        <p:nvSpPr>
          <p:cNvPr id="3" name="Content Placeholder 2"/>
          <p:cNvSpPr>
            <a:spLocks noGrp="1"/>
          </p:cNvSpPr>
          <p:nvPr>
            <p:ph idx="1"/>
          </p:nvPr>
        </p:nvSpPr>
        <p:spPr/>
        <p:txBody>
          <a:bodyPr>
            <a:normAutofit fontScale="85000" lnSpcReduction="10000"/>
          </a:bodyPr>
          <a:lstStyle/>
          <a:p>
            <a:r>
              <a:rPr lang="en-US" dirty="0" err="1"/>
              <a:t>DynamoDB</a:t>
            </a:r>
            <a:r>
              <a:rPr lang="en-US" dirty="0"/>
              <a:t> is a fully managed NoSQL database service that provides fast and predictable performance for both document and key-value data structures. </a:t>
            </a:r>
            <a:endParaRPr lang="en-US" dirty="0" smtClean="0"/>
          </a:p>
          <a:p>
            <a:r>
              <a:rPr lang="en-US" dirty="0" smtClean="0"/>
              <a:t>It's </a:t>
            </a:r>
            <a:r>
              <a:rPr lang="en-US" dirty="0"/>
              <a:t>a powerful and incredibly fast database option for use cases that require a flexible schema, and is ideal for applications that require high performance and seamless scaling.</a:t>
            </a:r>
          </a:p>
          <a:p>
            <a:r>
              <a:rPr lang="en-US" dirty="0" err="1"/>
              <a:t>DynamoDB</a:t>
            </a:r>
            <a:r>
              <a:rPr lang="en-US" dirty="0"/>
              <a:t> seamlessly scales alongside your data without impacting performance, which means that you only pay for the resources that you use. </a:t>
            </a:r>
            <a:endParaRPr lang="en-US" dirty="0" smtClean="0"/>
          </a:p>
          <a:p>
            <a:r>
              <a:rPr lang="en-US" dirty="0" smtClean="0"/>
              <a:t>It </a:t>
            </a:r>
            <a:r>
              <a:rPr lang="en-US" dirty="0"/>
              <a:t>also includes built-in security features for enhanced protection, and automatically spreads your data across multiple servers to handle your workload.</a:t>
            </a:r>
          </a:p>
          <a:p>
            <a:r>
              <a:rPr lang="en-US" b="1" dirty="0"/>
              <a:t>Use cases</a:t>
            </a:r>
          </a:p>
          <a:p>
            <a:pPr lvl="1"/>
            <a:r>
              <a:rPr lang="en-US" dirty="0"/>
              <a:t>Some examples of practical use cases for </a:t>
            </a:r>
            <a:r>
              <a:rPr lang="en-US" dirty="0" err="1"/>
              <a:t>DynamoDB</a:t>
            </a:r>
            <a:r>
              <a:rPr lang="en-US" dirty="0"/>
              <a:t> are gaming platforms, financial service applications, and mobile applications with global user bases.</a:t>
            </a:r>
          </a:p>
          <a:p>
            <a:endParaRPr lang="en-US" dirty="0"/>
          </a:p>
        </p:txBody>
      </p:sp>
    </p:spTree>
    <p:extLst>
      <p:ext uri="{BB962C8B-B14F-4D97-AF65-F5344CB8AC3E}">
        <p14:creationId xmlns:p14="http://schemas.microsoft.com/office/powerpoint/2010/main" val="3063507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DynamoDB</a:t>
            </a:r>
            <a:r>
              <a:rPr lang="en-US" b="1" dirty="0" smtClean="0"/>
              <a:t> Benefits</a:t>
            </a:r>
            <a:endParaRPr lang="en-US" dirty="0"/>
          </a:p>
        </p:txBody>
      </p:sp>
      <p:sp>
        <p:nvSpPr>
          <p:cNvPr id="3" name="Content Placeholder 2"/>
          <p:cNvSpPr>
            <a:spLocks noGrp="1"/>
          </p:cNvSpPr>
          <p:nvPr>
            <p:ph idx="1"/>
          </p:nvPr>
        </p:nvSpPr>
        <p:spPr/>
        <p:txBody>
          <a:bodyPr>
            <a:normAutofit lnSpcReduction="10000"/>
          </a:bodyPr>
          <a:lstStyle/>
          <a:p>
            <a:r>
              <a:rPr lang="en-US" b="1" dirty="0" smtClean="0"/>
              <a:t>Scalability with provisioned capacity</a:t>
            </a:r>
          </a:p>
          <a:p>
            <a:pPr lvl="1"/>
            <a:r>
              <a:rPr lang="en-US" dirty="0" err="1"/>
              <a:t>DynamoDB</a:t>
            </a:r>
            <a:r>
              <a:rPr lang="en-US" dirty="0"/>
              <a:t> automatically scales throughput up or down based on actual usage, which ensures consistent performance without manual intervention</a:t>
            </a:r>
            <a:r>
              <a:rPr lang="en-US" dirty="0" smtClean="0"/>
              <a:t>.</a:t>
            </a:r>
          </a:p>
          <a:p>
            <a:pPr lvl="1"/>
            <a:r>
              <a:rPr lang="en-US" dirty="0" smtClean="0"/>
              <a:t>You </a:t>
            </a:r>
            <a:r>
              <a:rPr lang="en-US" dirty="0"/>
              <a:t>can specify target utilization levels, and </a:t>
            </a:r>
            <a:r>
              <a:rPr lang="en-US" dirty="0" err="1"/>
              <a:t>DynamoDB</a:t>
            </a:r>
            <a:r>
              <a:rPr lang="en-US" dirty="0"/>
              <a:t> automatically provisions capacity to maintain those targets. </a:t>
            </a:r>
            <a:endParaRPr lang="en-US" dirty="0" smtClean="0"/>
          </a:p>
          <a:p>
            <a:pPr lvl="1"/>
            <a:r>
              <a:rPr lang="en-US" dirty="0" smtClean="0"/>
              <a:t>With </a:t>
            </a:r>
            <a:r>
              <a:rPr lang="en-US" dirty="0"/>
              <a:t>no practical limits on table size or the amount of data stored, </a:t>
            </a:r>
            <a:r>
              <a:rPr lang="en-US" dirty="0" err="1"/>
              <a:t>DynamoDB</a:t>
            </a:r>
            <a:r>
              <a:rPr lang="en-US" dirty="0"/>
              <a:t> can seamlessly accommodate growing applications.</a:t>
            </a:r>
            <a:endParaRPr lang="en-US" b="1" dirty="0" smtClean="0"/>
          </a:p>
          <a:p>
            <a:r>
              <a:rPr lang="en-US" b="1" dirty="0" smtClean="0"/>
              <a:t>Consistent high performance</a:t>
            </a:r>
          </a:p>
          <a:p>
            <a:pPr lvl="1"/>
            <a:r>
              <a:rPr lang="en-US" dirty="0" err="1"/>
              <a:t>DynamoDB</a:t>
            </a:r>
            <a:r>
              <a:rPr lang="en-US" dirty="0"/>
              <a:t> delivers single-digit millisecond response times at any scale, which makes it ideal for high-performance applications. </a:t>
            </a:r>
            <a:endParaRPr lang="en-US" dirty="0" smtClean="0"/>
          </a:p>
          <a:p>
            <a:pPr lvl="1"/>
            <a:r>
              <a:rPr lang="en-US" dirty="0" smtClean="0"/>
              <a:t>It </a:t>
            </a:r>
            <a:r>
              <a:rPr lang="en-US" dirty="0"/>
              <a:t>maintains consistent performance by automatically distributing data across multiple servers and SSDs</a:t>
            </a:r>
            <a:r>
              <a:rPr lang="en-US" dirty="0" smtClean="0"/>
              <a:t>.</a:t>
            </a:r>
            <a:endParaRPr lang="en-US" b="1" dirty="0" smtClean="0"/>
          </a:p>
        </p:txBody>
      </p:sp>
    </p:spTree>
    <p:extLst>
      <p:ext uri="{BB962C8B-B14F-4D97-AF65-F5344CB8AC3E}">
        <p14:creationId xmlns:p14="http://schemas.microsoft.com/office/powerpoint/2010/main" val="9300809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a:t>DynamoDB</a:t>
            </a:r>
            <a:r>
              <a:rPr lang="en-US" b="1" dirty="0"/>
              <a:t> Benefits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High availability and </a:t>
            </a:r>
            <a:r>
              <a:rPr lang="en-US" b="1" dirty="0" smtClean="0"/>
              <a:t>durability</a:t>
            </a:r>
          </a:p>
          <a:p>
            <a:pPr lvl="1"/>
            <a:r>
              <a:rPr lang="en-US" dirty="0" err="1"/>
              <a:t>DynamoDB</a:t>
            </a:r>
            <a:r>
              <a:rPr lang="en-US" dirty="0"/>
              <a:t> delivers 99.999% data availability by replicating data across three distinct facilities within each AWS Region. </a:t>
            </a:r>
            <a:endParaRPr lang="en-US" dirty="0" smtClean="0"/>
          </a:p>
          <a:p>
            <a:pPr lvl="1"/>
            <a:r>
              <a:rPr lang="en-US" dirty="0" smtClean="0"/>
              <a:t>It </a:t>
            </a:r>
            <a:r>
              <a:rPr lang="en-US" dirty="0"/>
              <a:t>also maintains multiple copies in separate AWS Regions, to provide built-in fault tolerance and data durability. </a:t>
            </a:r>
            <a:endParaRPr lang="en-US" dirty="0" smtClean="0"/>
          </a:p>
          <a:p>
            <a:pPr lvl="1"/>
            <a:r>
              <a:rPr lang="en-US" dirty="0" smtClean="0"/>
              <a:t>This</a:t>
            </a:r>
            <a:r>
              <a:rPr lang="en-US" dirty="0"/>
              <a:t> ensures continuous operation and protection against data loss even if individual facilities fail.</a:t>
            </a:r>
            <a:endParaRPr lang="en-US" b="1" dirty="0" smtClean="0"/>
          </a:p>
          <a:p>
            <a:r>
              <a:rPr lang="en-US" b="1" dirty="0" smtClean="0"/>
              <a:t>Data </a:t>
            </a:r>
            <a:r>
              <a:rPr lang="en-US" b="1" dirty="0"/>
              <a:t>encryption</a:t>
            </a:r>
          </a:p>
          <a:p>
            <a:pPr lvl="1"/>
            <a:r>
              <a:rPr lang="en-US" dirty="0" err="1"/>
              <a:t>DynamoDB</a:t>
            </a:r>
            <a:r>
              <a:rPr lang="en-US" dirty="0"/>
              <a:t> offers comprehensive encryption capabilities to protect information both at rest and in transit. </a:t>
            </a:r>
            <a:endParaRPr lang="en-US" dirty="0" smtClean="0"/>
          </a:p>
          <a:p>
            <a:pPr lvl="1"/>
            <a:r>
              <a:rPr lang="en-US" dirty="0" smtClean="0"/>
              <a:t>All </a:t>
            </a:r>
            <a:r>
              <a:rPr lang="en-US" dirty="0"/>
              <a:t>data is automatically encrypted behind the scenes before being written to the storage layer. </a:t>
            </a:r>
            <a:endParaRPr lang="en-US" dirty="0" smtClean="0"/>
          </a:p>
          <a:p>
            <a:pPr lvl="1"/>
            <a:r>
              <a:rPr lang="en-US" dirty="0" err="1" smtClean="0"/>
              <a:t>DynamoDB</a:t>
            </a:r>
            <a:r>
              <a:rPr lang="en-US" dirty="0" smtClean="0"/>
              <a:t> </a:t>
            </a:r>
            <a:r>
              <a:rPr lang="en-US" dirty="0"/>
              <a:t>includes the flexibility to choose between different kinds of encryption keys for customized security control.</a:t>
            </a:r>
          </a:p>
        </p:txBody>
      </p:sp>
    </p:spTree>
    <p:extLst>
      <p:ext uri="{BB962C8B-B14F-4D97-AF65-F5344CB8AC3E}">
        <p14:creationId xmlns:p14="http://schemas.microsoft.com/office/powerpoint/2010/main" val="1367606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048" y="2568829"/>
            <a:ext cx="10515600" cy="1325563"/>
          </a:xfrm>
        </p:spPr>
        <p:txBody>
          <a:bodyPr/>
          <a:lstStyle/>
          <a:p>
            <a:pPr algn="ctr"/>
            <a:r>
              <a:rPr lang="en-US" b="1" dirty="0"/>
              <a:t>In-Memory Caching </a:t>
            </a:r>
            <a:r>
              <a:rPr lang="en-US" b="1" dirty="0" smtClean="0"/>
              <a:t>Services</a:t>
            </a:r>
            <a:endParaRPr lang="en-US" dirty="0"/>
          </a:p>
        </p:txBody>
      </p:sp>
    </p:spTree>
    <p:extLst>
      <p:ext uri="{BB962C8B-B14F-4D97-AF65-F5344CB8AC3E}">
        <p14:creationId xmlns:p14="http://schemas.microsoft.com/office/powerpoint/2010/main" val="10179016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in-memory caching as it relates to databases.</a:t>
            </a:r>
          </a:p>
          <a:p>
            <a:r>
              <a:rPr lang="en-US" dirty="0"/>
              <a:t>Describe Amazon </a:t>
            </a:r>
            <a:r>
              <a:rPr lang="en-US" dirty="0" err="1"/>
              <a:t>ElastiCache</a:t>
            </a:r>
            <a:r>
              <a:rPr lang="en-US" dirty="0"/>
              <a:t>, including its benefits and use cases.</a:t>
            </a:r>
          </a:p>
          <a:p>
            <a:endParaRPr lang="en-US" dirty="0"/>
          </a:p>
        </p:txBody>
      </p:sp>
    </p:spTree>
    <p:extLst>
      <p:ext uri="{BB962C8B-B14F-4D97-AF65-F5344CB8AC3E}">
        <p14:creationId xmlns:p14="http://schemas.microsoft.com/office/powerpoint/2010/main" val="3881633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10845"/>
            <a:ext cx="10515600" cy="1325563"/>
          </a:xfrm>
        </p:spPr>
        <p:txBody>
          <a:bodyPr/>
          <a:lstStyle/>
          <a:p>
            <a:r>
              <a:rPr lang="en-US" b="1" dirty="0"/>
              <a:t>In-memory </a:t>
            </a:r>
            <a:r>
              <a:rPr lang="en-US" b="1" dirty="0" smtClean="0"/>
              <a:t>caches</a:t>
            </a:r>
            <a:endParaRPr lang="en-US" dirty="0"/>
          </a:p>
        </p:txBody>
      </p:sp>
      <p:sp>
        <p:nvSpPr>
          <p:cNvPr id="3" name="Content Placeholder 2"/>
          <p:cNvSpPr>
            <a:spLocks noGrp="1"/>
          </p:cNvSpPr>
          <p:nvPr>
            <p:ph idx="1"/>
          </p:nvPr>
        </p:nvSpPr>
        <p:spPr/>
        <p:txBody>
          <a:bodyPr>
            <a:normAutofit fontScale="92500" lnSpcReduction="20000"/>
          </a:bodyPr>
          <a:lstStyle/>
          <a:p>
            <a:r>
              <a:rPr lang="en-US" dirty="0"/>
              <a:t>An in-memory cache is a high-speed storage layer that </a:t>
            </a:r>
            <a:r>
              <a:rPr lang="en-US" i="1" dirty="0"/>
              <a:t>temporarily stores frequently accessed data in</a:t>
            </a:r>
            <a:r>
              <a:rPr lang="en-US" dirty="0"/>
              <a:t> a computer's main memory, or </a:t>
            </a:r>
            <a:r>
              <a:rPr lang="en-US" i="1" dirty="0"/>
              <a:t>RAM</a:t>
            </a:r>
            <a:r>
              <a:rPr lang="en-US" dirty="0"/>
              <a:t>. </a:t>
            </a:r>
            <a:endParaRPr lang="en-US" dirty="0" smtClean="0"/>
          </a:p>
          <a:p>
            <a:r>
              <a:rPr lang="en-US" dirty="0" smtClean="0"/>
              <a:t>Retrieving </a:t>
            </a:r>
            <a:r>
              <a:rPr lang="en-US" dirty="0"/>
              <a:t>data from RAM provides extremely fast processing and retrieval speeds, often hundreds or thousands of times faster than traditional disk-based storage systems.</a:t>
            </a:r>
          </a:p>
          <a:p>
            <a:r>
              <a:rPr lang="en-US" dirty="0"/>
              <a:t>When applications need specific information, they first check the cache before requesting it from the original data source. </a:t>
            </a:r>
            <a:endParaRPr lang="en-US" dirty="0" smtClean="0"/>
          </a:p>
          <a:p>
            <a:r>
              <a:rPr lang="en-US" dirty="0" smtClean="0"/>
              <a:t>This </a:t>
            </a:r>
            <a:r>
              <a:rPr lang="en-US" dirty="0"/>
              <a:t>reduces the load on primary databases and speeds up response times for end users. </a:t>
            </a:r>
            <a:endParaRPr lang="en-US" dirty="0" smtClean="0"/>
          </a:p>
          <a:p>
            <a:r>
              <a:rPr lang="en-US" dirty="0" smtClean="0"/>
              <a:t>In-memory </a:t>
            </a:r>
            <a:r>
              <a:rPr lang="en-US" dirty="0"/>
              <a:t>caches are ideal for storing session data, API responses, database query results, and other information that applications require repeatedly.</a:t>
            </a:r>
          </a:p>
          <a:p>
            <a:endParaRPr lang="en-US" dirty="0"/>
          </a:p>
        </p:txBody>
      </p:sp>
    </p:spTree>
    <p:extLst>
      <p:ext uri="{BB962C8B-B14F-4D97-AF65-F5344CB8AC3E}">
        <p14:creationId xmlns:p14="http://schemas.microsoft.com/office/powerpoint/2010/main" val="25256559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ElastiCache</a:t>
            </a:r>
            <a:r>
              <a:rPr lang="en-US" b="1" dirty="0" smtClean="0"/>
              <a:t> Service</a:t>
            </a:r>
            <a:endParaRPr lang="en-US" dirty="0"/>
          </a:p>
        </p:txBody>
      </p:sp>
      <p:sp>
        <p:nvSpPr>
          <p:cNvPr id="3" name="Content Placeholder 2"/>
          <p:cNvSpPr>
            <a:spLocks noGrp="1"/>
          </p:cNvSpPr>
          <p:nvPr>
            <p:ph idx="1"/>
          </p:nvPr>
        </p:nvSpPr>
        <p:spPr/>
        <p:txBody>
          <a:bodyPr>
            <a:normAutofit/>
          </a:bodyPr>
          <a:lstStyle/>
          <a:p>
            <a:r>
              <a:rPr lang="en-US" dirty="0" err="1"/>
              <a:t>ElastiCache</a:t>
            </a:r>
            <a:r>
              <a:rPr lang="en-US" dirty="0"/>
              <a:t> is a fully managed in-memory caching service that was built to help reduce the complexity of administering in-memory caching systems. </a:t>
            </a:r>
            <a:endParaRPr lang="en-US" dirty="0" smtClean="0"/>
          </a:p>
          <a:p>
            <a:r>
              <a:rPr lang="en-US" dirty="0" smtClean="0"/>
              <a:t>This </a:t>
            </a:r>
            <a:r>
              <a:rPr lang="en-US" dirty="0"/>
              <a:t>means that you can continue to use the same </a:t>
            </a:r>
            <a:r>
              <a:rPr lang="en-US" dirty="0" err="1"/>
              <a:t>Redis</a:t>
            </a:r>
            <a:r>
              <a:rPr lang="en-US" dirty="0"/>
              <a:t>, </a:t>
            </a:r>
            <a:r>
              <a:rPr lang="en-US" dirty="0" err="1"/>
              <a:t>Valkey</a:t>
            </a:r>
            <a:r>
              <a:rPr lang="en-US" dirty="0"/>
              <a:t>, or </a:t>
            </a:r>
            <a:r>
              <a:rPr lang="en-US" dirty="0" err="1"/>
              <a:t>Memcached</a:t>
            </a:r>
            <a:r>
              <a:rPr lang="en-US" dirty="0"/>
              <a:t> tools and configurations to scale your workloads. </a:t>
            </a:r>
            <a:endParaRPr lang="en-US" dirty="0" smtClean="0"/>
          </a:p>
          <a:p>
            <a:r>
              <a:rPr lang="en-US" dirty="0" smtClean="0"/>
              <a:t>It </a:t>
            </a:r>
            <a:r>
              <a:rPr lang="en-US" dirty="0"/>
              <a:t>automatically detects and replaces failed nodes, which makes it ideal for applications that need consistent high performance.</a:t>
            </a:r>
          </a:p>
          <a:p>
            <a:r>
              <a:rPr lang="en-US" b="1" dirty="0"/>
              <a:t>Use cases</a:t>
            </a:r>
          </a:p>
          <a:p>
            <a:pPr lvl="1"/>
            <a:r>
              <a:rPr lang="en-US" dirty="0"/>
              <a:t>Some examples of practical use cases for </a:t>
            </a:r>
            <a:r>
              <a:rPr lang="en-US" dirty="0" err="1"/>
              <a:t>ElastiCache</a:t>
            </a:r>
            <a:r>
              <a:rPr lang="en-US" dirty="0"/>
              <a:t> are session data management, database query enhancement, and gaming leaderboards.</a:t>
            </a:r>
          </a:p>
          <a:p>
            <a:endParaRPr lang="en-US" dirty="0"/>
          </a:p>
        </p:txBody>
      </p:sp>
    </p:spTree>
    <p:extLst>
      <p:ext uri="{BB962C8B-B14F-4D97-AF65-F5344CB8AC3E}">
        <p14:creationId xmlns:p14="http://schemas.microsoft.com/office/powerpoint/2010/main" val="3905181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ElastiCache</a:t>
            </a:r>
            <a:r>
              <a:rPr lang="en-US" b="1" dirty="0" smtClean="0"/>
              <a:t> Benefits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High performance for </a:t>
            </a:r>
            <a:r>
              <a:rPr lang="en-US" b="1" dirty="0" err="1" smtClean="0"/>
              <a:t>Redis</a:t>
            </a:r>
            <a:r>
              <a:rPr lang="en-US" b="1" dirty="0" smtClean="0"/>
              <a:t>, </a:t>
            </a:r>
            <a:r>
              <a:rPr lang="en-US" b="1" dirty="0" err="1" smtClean="0"/>
              <a:t>Valkey</a:t>
            </a:r>
            <a:r>
              <a:rPr lang="en-US" b="1" dirty="0" smtClean="0"/>
              <a:t>, or </a:t>
            </a:r>
            <a:r>
              <a:rPr lang="en-US" b="1" dirty="0" err="1" smtClean="0"/>
              <a:t>Memcached</a:t>
            </a:r>
            <a:r>
              <a:rPr lang="en-US" b="1" dirty="0" smtClean="0"/>
              <a:t> instances</a:t>
            </a:r>
          </a:p>
          <a:p>
            <a:pPr lvl="1"/>
            <a:r>
              <a:rPr lang="en-US" dirty="0" err="1"/>
              <a:t>ElastiCache</a:t>
            </a:r>
            <a:r>
              <a:rPr lang="en-US" dirty="0"/>
              <a:t> streamlines the deployment and maintenance of in-memory caching environments, offering high availability for </a:t>
            </a:r>
            <a:r>
              <a:rPr lang="en-US" dirty="0" err="1"/>
              <a:t>Redis</a:t>
            </a:r>
            <a:r>
              <a:rPr lang="en-US" dirty="0"/>
              <a:t>, </a:t>
            </a:r>
            <a:r>
              <a:rPr lang="en-US" dirty="0" err="1"/>
              <a:t>Valkey</a:t>
            </a:r>
            <a:r>
              <a:rPr lang="en-US" dirty="0"/>
              <a:t>, and </a:t>
            </a:r>
            <a:r>
              <a:rPr lang="en-US" dirty="0" err="1"/>
              <a:t>Memcached</a:t>
            </a:r>
            <a:r>
              <a:rPr lang="en-US" dirty="0"/>
              <a:t> by automatically handling hardware provisioning, software patching, and monitoring. </a:t>
            </a:r>
            <a:endParaRPr lang="en-US" dirty="0" smtClean="0"/>
          </a:p>
          <a:p>
            <a:pPr lvl="1"/>
            <a:r>
              <a:rPr lang="en-US" dirty="0" err="1" smtClean="0"/>
              <a:t>ElastiCache</a:t>
            </a:r>
            <a:r>
              <a:rPr lang="en-US" dirty="0" smtClean="0"/>
              <a:t> </a:t>
            </a:r>
            <a:r>
              <a:rPr lang="en-US" dirty="0"/>
              <a:t>offers seamless scalability so you can add or remove nodes as demand changes.</a:t>
            </a:r>
            <a:endParaRPr lang="en-US" b="1" dirty="0" smtClean="0"/>
          </a:p>
          <a:p>
            <a:r>
              <a:rPr lang="en-US" b="1" dirty="0" smtClean="0"/>
              <a:t>High availability</a:t>
            </a:r>
          </a:p>
          <a:p>
            <a:pPr lvl="1"/>
            <a:r>
              <a:rPr lang="en-US" dirty="0" err="1"/>
              <a:t>ElastiCache</a:t>
            </a:r>
            <a:r>
              <a:rPr lang="en-US" dirty="0"/>
              <a:t> provides high availability by constantly monitoring primary nodes for potential failures. </a:t>
            </a:r>
            <a:endParaRPr lang="en-US" dirty="0" smtClean="0"/>
          </a:p>
          <a:p>
            <a:pPr lvl="1"/>
            <a:r>
              <a:rPr lang="en-US" dirty="0" smtClean="0"/>
              <a:t>When </a:t>
            </a:r>
            <a:r>
              <a:rPr lang="en-US" dirty="0"/>
              <a:t>issues are detected, it maintains application availability while promoting a replica node to become the new primary without manual intervention. </a:t>
            </a:r>
            <a:endParaRPr lang="en-US" dirty="0" smtClean="0"/>
          </a:p>
          <a:p>
            <a:pPr lvl="1"/>
            <a:r>
              <a:rPr lang="en-US" dirty="0" smtClean="0"/>
              <a:t>The </a:t>
            </a:r>
            <a:r>
              <a:rPr lang="en-US" dirty="0"/>
              <a:t>entire recovery process typically finishes within minutes, which minimizes downtime and preserves operations during infrastructure disruptions</a:t>
            </a:r>
            <a:r>
              <a:rPr lang="en-US" dirty="0" smtClean="0"/>
              <a:t>.</a:t>
            </a:r>
            <a:endParaRPr lang="en-US" b="1" dirty="0" smtClean="0"/>
          </a:p>
        </p:txBody>
      </p:sp>
    </p:spTree>
    <p:extLst>
      <p:ext uri="{BB962C8B-B14F-4D97-AF65-F5344CB8AC3E}">
        <p14:creationId xmlns:p14="http://schemas.microsoft.com/office/powerpoint/2010/main" val="3240583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a:t>ElastiCache</a:t>
            </a:r>
            <a:r>
              <a:rPr lang="en-US" b="1" dirty="0"/>
              <a:t> Benefits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Replication across multiple </a:t>
            </a:r>
            <a:r>
              <a:rPr lang="en-US" b="1" dirty="0" smtClean="0"/>
              <a:t>AZ</a:t>
            </a:r>
          </a:p>
          <a:p>
            <a:pPr lvl="1"/>
            <a:r>
              <a:rPr lang="en-US" dirty="0" err="1"/>
              <a:t>ElastiCache</a:t>
            </a:r>
            <a:r>
              <a:rPr lang="en-US" dirty="0"/>
              <a:t> enables automatic replication across multiple Availability Zones to protect against infrastructure failures. </a:t>
            </a:r>
            <a:endParaRPr lang="en-US" dirty="0" smtClean="0"/>
          </a:p>
          <a:p>
            <a:pPr lvl="1"/>
            <a:r>
              <a:rPr lang="en-US" dirty="0" smtClean="0"/>
              <a:t>You </a:t>
            </a:r>
            <a:r>
              <a:rPr lang="en-US" dirty="0"/>
              <a:t>can configure primary and replica nodes across different Availability Zones according to their durability requirements. </a:t>
            </a:r>
            <a:endParaRPr lang="en-US" dirty="0" smtClean="0"/>
          </a:p>
          <a:p>
            <a:pPr lvl="1"/>
            <a:r>
              <a:rPr lang="en-US" dirty="0" smtClean="0"/>
              <a:t>This </a:t>
            </a:r>
            <a:r>
              <a:rPr lang="en-US" dirty="0"/>
              <a:t>helps to ensure that data remains accessible even if one zone experiences an outage.</a:t>
            </a:r>
            <a:endParaRPr lang="en-US" b="1" dirty="0"/>
          </a:p>
          <a:p>
            <a:r>
              <a:rPr lang="en-US" b="1" dirty="0"/>
              <a:t>Data </a:t>
            </a:r>
            <a:r>
              <a:rPr lang="en-US" b="1" dirty="0" smtClean="0"/>
              <a:t>encryption</a:t>
            </a:r>
          </a:p>
          <a:p>
            <a:pPr lvl="1"/>
            <a:r>
              <a:rPr lang="en-US" dirty="0" err="1"/>
              <a:t>ElastiCache</a:t>
            </a:r>
            <a:r>
              <a:rPr lang="en-US" dirty="0"/>
              <a:t> supports data encryption mechanisms to safeguard sensitive information throughout its lifecycle. </a:t>
            </a:r>
            <a:endParaRPr lang="en-US" dirty="0" smtClean="0"/>
          </a:p>
          <a:p>
            <a:pPr lvl="1"/>
            <a:r>
              <a:rPr lang="en-US" dirty="0" smtClean="0"/>
              <a:t>At-rest </a:t>
            </a:r>
            <a:r>
              <a:rPr lang="en-US" dirty="0"/>
              <a:t>encryption protects data while stored in disk storage and automated backups. </a:t>
            </a:r>
            <a:endParaRPr lang="en-US" dirty="0" smtClean="0"/>
          </a:p>
          <a:p>
            <a:pPr lvl="1"/>
            <a:r>
              <a:rPr lang="en-US" dirty="0" smtClean="0"/>
              <a:t>In-transit </a:t>
            </a:r>
            <a:r>
              <a:rPr lang="en-US" dirty="0"/>
              <a:t>encryption secures data traveling between clients and cache nodes by employing transport layer security, or TLS, for encrypted connections.</a:t>
            </a:r>
            <a:endParaRPr lang="en-US" b="1" dirty="0"/>
          </a:p>
          <a:p>
            <a:endParaRPr lang="en-US" dirty="0"/>
          </a:p>
        </p:txBody>
      </p:sp>
    </p:spTree>
    <p:extLst>
      <p:ext uri="{BB962C8B-B14F-4D97-AF65-F5344CB8AC3E}">
        <p14:creationId xmlns:p14="http://schemas.microsoft.com/office/powerpoint/2010/main" val="2660850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912" y="2751709"/>
            <a:ext cx="10515600" cy="1325563"/>
          </a:xfrm>
        </p:spPr>
        <p:txBody>
          <a:bodyPr/>
          <a:lstStyle/>
          <a:p>
            <a:pPr algn="ctr"/>
            <a:r>
              <a:rPr lang="en-US" b="1" dirty="0"/>
              <a:t>Additional Database </a:t>
            </a:r>
            <a:r>
              <a:rPr lang="en-US" b="1" dirty="0" smtClean="0"/>
              <a:t>Services</a:t>
            </a:r>
            <a:endParaRPr lang="en-US" dirty="0"/>
          </a:p>
        </p:txBody>
      </p:sp>
    </p:spTree>
    <p:extLst>
      <p:ext uri="{BB962C8B-B14F-4D97-AF65-F5344CB8AC3E}">
        <p14:creationId xmlns:p14="http://schemas.microsoft.com/office/powerpoint/2010/main" val="3006612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Amazon </a:t>
            </a:r>
            <a:r>
              <a:rPr lang="en-US" dirty="0" err="1"/>
              <a:t>DocumentDB</a:t>
            </a:r>
            <a:r>
              <a:rPr lang="en-US" dirty="0"/>
              <a:t> (with MongoDB compatibility), including its benefits and use cases.</a:t>
            </a:r>
          </a:p>
          <a:p>
            <a:r>
              <a:rPr lang="en-US" dirty="0"/>
              <a:t>Describe AWS Backup, including its benefits and use cases.</a:t>
            </a:r>
          </a:p>
          <a:p>
            <a:r>
              <a:rPr lang="en-US" dirty="0"/>
              <a:t>Describe Amazon Neptune, including its benefits and use cases.</a:t>
            </a:r>
          </a:p>
          <a:p>
            <a:endParaRPr lang="en-US" dirty="0"/>
          </a:p>
        </p:txBody>
      </p:sp>
    </p:spTree>
    <p:extLst>
      <p:ext uri="{BB962C8B-B14F-4D97-AF65-F5344CB8AC3E}">
        <p14:creationId xmlns:p14="http://schemas.microsoft.com/office/powerpoint/2010/main" val="33870090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DocumentDB</a:t>
            </a:r>
            <a:r>
              <a:rPr lang="en-US" b="1" dirty="0" smtClean="0"/>
              <a:t> Service</a:t>
            </a:r>
            <a:endParaRPr lang="en-US" dirty="0"/>
          </a:p>
        </p:txBody>
      </p:sp>
      <p:sp>
        <p:nvSpPr>
          <p:cNvPr id="3" name="Content Placeholder 2"/>
          <p:cNvSpPr>
            <a:spLocks noGrp="1"/>
          </p:cNvSpPr>
          <p:nvPr>
            <p:ph idx="1"/>
          </p:nvPr>
        </p:nvSpPr>
        <p:spPr/>
        <p:txBody>
          <a:bodyPr>
            <a:normAutofit fontScale="77500" lnSpcReduction="20000"/>
          </a:bodyPr>
          <a:lstStyle/>
          <a:p>
            <a:r>
              <a:rPr lang="en-US" dirty="0"/>
              <a:t>Amazon </a:t>
            </a:r>
            <a:r>
              <a:rPr lang="en-US" dirty="0" err="1"/>
              <a:t>DocumentDB</a:t>
            </a:r>
            <a:r>
              <a:rPr lang="en-US" dirty="0"/>
              <a:t> (with MongoDB compatibility) is fully managed service designed to handle </a:t>
            </a:r>
            <a:r>
              <a:rPr lang="en-US" dirty="0" err="1"/>
              <a:t>semistructured</a:t>
            </a:r>
            <a:r>
              <a:rPr lang="en-US" dirty="0"/>
              <a:t> data, which is information that doesn't conform to rigid relational schemas. </a:t>
            </a:r>
            <a:endParaRPr lang="en-US" dirty="0" smtClean="0"/>
          </a:p>
          <a:p>
            <a:r>
              <a:rPr lang="en-US" dirty="0" smtClean="0"/>
              <a:t>Amazon </a:t>
            </a:r>
            <a:r>
              <a:rPr lang="en-US" dirty="0" err="1"/>
              <a:t>DocumentDB</a:t>
            </a:r>
            <a:r>
              <a:rPr lang="en-US" dirty="0"/>
              <a:t> is a MongoDB-compatible database, so it manages JSON-like documents with dynamic schemas.</a:t>
            </a:r>
          </a:p>
          <a:p>
            <a:r>
              <a:rPr lang="en-US" dirty="0"/>
              <a:t>Amazon </a:t>
            </a:r>
            <a:r>
              <a:rPr lang="en-US" dirty="0" err="1"/>
              <a:t>DocumentDB</a:t>
            </a:r>
            <a:r>
              <a:rPr lang="en-US" dirty="0"/>
              <a:t> is perfect for applications requiring </a:t>
            </a:r>
            <a:r>
              <a:rPr lang="en-US" b="1" dirty="0"/>
              <a:t>frequent schema changes and document-oriented data</a:t>
            </a:r>
            <a:r>
              <a:rPr lang="en-US" dirty="0"/>
              <a:t>. </a:t>
            </a:r>
            <a:endParaRPr lang="en-US" dirty="0" smtClean="0"/>
          </a:p>
          <a:p>
            <a:r>
              <a:rPr lang="en-US" dirty="0" smtClean="0"/>
              <a:t>Unlike </a:t>
            </a:r>
            <a:r>
              <a:rPr lang="en-US" dirty="0"/>
              <a:t>relational databases or </a:t>
            </a:r>
            <a:r>
              <a:rPr lang="en-US" dirty="0" err="1"/>
              <a:t>nonrelational</a:t>
            </a:r>
            <a:r>
              <a:rPr lang="en-US" dirty="0"/>
              <a:t> databases, you can quickly iterate without relying on predefined schemas. </a:t>
            </a:r>
            <a:endParaRPr lang="en-US" dirty="0" smtClean="0"/>
          </a:p>
          <a:p>
            <a:r>
              <a:rPr lang="en-US" dirty="0" smtClean="0"/>
              <a:t>Amazon </a:t>
            </a:r>
            <a:r>
              <a:rPr lang="en-US" dirty="0" err="1"/>
              <a:t>DocumentDB</a:t>
            </a:r>
            <a:r>
              <a:rPr lang="en-US" dirty="0"/>
              <a:t> can store, query, and index JSON data effortlessly, all while benefiting from automatic scaling, continuous backup, and enterprise-grade security features.</a:t>
            </a:r>
          </a:p>
          <a:p>
            <a:r>
              <a:rPr lang="en-US" b="1" dirty="0"/>
              <a:t>Use cases</a:t>
            </a:r>
          </a:p>
          <a:p>
            <a:pPr lvl="1"/>
            <a:r>
              <a:rPr lang="en-US" dirty="0"/>
              <a:t>Some examples of practical use cases for Amazon </a:t>
            </a:r>
            <a:r>
              <a:rPr lang="en-US" dirty="0" err="1"/>
              <a:t>DocumentDB</a:t>
            </a:r>
            <a:r>
              <a:rPr lang="en-US" dirty="0"/>
              <a:t> are content management systems, catalog and inventory management, and user profile and personalization systems.</a:t>
            </a:r>
          </a:p>
          <a:p>
            <a:endParaRPr lang="en-US" dirty="0"/>
          </a:p>
        </p:txBody>
      </p:sp>
    </p:spTree>
    <p:extLst>
      <p:ext uri="{BB962C8B-B14F-4D97-AF65-F5344CB8AC3E}">
        <p14:creationId xmlns:p14="http://schemas.microsoft.com/office/powerpoint/2010/main" val="212924667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DocumentDB</a:t>
            </a:r>
            <a:r>
              <a:rPr lang="en-US" b="1" dirty="0" smtClean="0"/>
              <a:t> Benefits</a:t>
            </a:r>
            <a:endParaRPr lang="en-US" b="1" dirty="0"/>
          </a:p>
        </p:txBody>
      </p:sp>
      <p:sp>
        <p:nvSpPr>
          <p:cNvPr id="3" name="Content Placeholder 2"/>
          <p:cNvSpPr>
            <a:spLocks noGrp="1"/>
          </p:cNvSpPr>
          <p:nvPr>
            <p:ph idx="1"/>
          </p:nvPr>
        </p:nvSpPr>
        <p:spPr>
          <a:xfrm>
            <a:off x="838200" y="1825624"/>
            <a:ext cx="10515600" cy="4648327"/>
          </a:xfrm>
        </p:spPr>
        <p:txBody>
          <a:bodyPr>
            <a:normAutofit fontScale="92500" lnSpcReduction="20000"/>
          </a:bodyPr>
          <a:lstStyle/>
          <a:p>
            <a:r>
              <a:rPr lang="en-US" b="1" dirty="0" smtClean="0"/>
              <a:t>MongoDB compatibility</a:t>
            </a:r>
          </a:p>
          <a:p>
            <a:pPr lvl="1"/>
            <a:r>
              <a:rPr lang="en-US" dirty="0"/>
              <a:t>Amazon </a:t>
            </a:r>
            <a:r>
              <a:rPr lang="en-US" dirty="0" err="1"/>
              <a:t>DocumentDB</a:t>
            </a:r>
            <a:r>
              <a:rPr lang="en-US" dirty="0"/>
              <a:t> is fully compatible with MongoDB workloads and supports MongoDB APIs, drivers, and tools. </a:t>
            </a:r>
            <a:endParaRPr lang="en-US" dirty="0" smtClean="0"/>
          </a:p>
          <a:p>
            <a:pPr lvl="1"/>
            <a:r>
              <a:rPr lang="en-US" dirty="0" smtClean="0"/>
              <a:t>This </a:t>
            </a:r>
            <a:r>
              <a:rPr lang="en-US" dirty="0"/>
              <a:t>compatibility means that you can use existing MongoDB code and skills without modification. </a:t>
            </a:r>
            <a:endParaRPr lang="en-US" dirty="0" smtClean="0"/>
          </a:p>
          <a:p>
            <a:pPr lvl="1"/>
            <a:r>
              <a:rPr lang="en-US" dirty="0" smtClean="0"/>
              <a:t>You </a:t>
            </a:r>
            <a:r>
              <a:rPr lang="en-US" dirty="0"/>
              <a:t>can also migrate MongoDB applications to Amazon </a:t>
            </a:r>
            <a:r>
              <a:rPr lang="en-US" dirty="0" err="1"/>
              <a:t>DocumentDB</a:t>
            </a:r>
            <a:r>
              <a:rPr lang="en-US" dirty="0"/>
              <a:t> with minimal changes to their application code.</a:t>
            </a:r>
            <a:endParaRPr lang="en-US" b="1" dirty="0" smtClean="0"/>
          </a:p>
          <a:p>
            <a:r>
              <a:rPr lang="en-US" b="1" dirty="0" err="1" smtClean="0"/>
              <a:t>Performnce</a:t>
            </a:r>
            <a:r>
              <a:rPr lang="en-US" b="1" dirty="0" smtClean="0"/>
              <a:t> and scalability</a:t>
            </a:r>
          </a:p>
          <a:p>
            <a:pPr lvl="1"/>
            <a:r>
              <a:rPr lang="en-US" dirty="0"/>
              <a:t>Amazon </a:t>
            </a:r>
            <a:r>
              <a:rPr lang="en-US" dirty="0" err="1"/>
              <a:t>DocumentDB</a:t>
            </a:r>
            <a:r>
              <a:rPr lang="en-US" dirty="0"/>
              <a:t> automatically scales storage up to 64 TB in 10 GB increments based on your application needs. </a:t>
            </a:r>
            <a:endParaRPr lang="en-US" dirty="0" smtClean="0"/>
          </a:p>
          <a:p>
            <a:pPr lvl="1"/>
            <a:r>
              <a:rPr lang="en-US" dirty="0" smtClean="0"/>
              <a:t>It </a:t>
            </a:r>
            <a:r>
              <a:rPr lang="en-US" dirty="0"/>
              <a:t>can handle millions of requests per second with consistent performance. </a:t>
            </a:r>
            <a:endParaRPr lang="en-US" dirty="0" smtClean="0"/>
          </a:p>
          <a:p>
            <a:pPr lvl="1"/>
            <a:r>
              <a:rPr lang="en-US" dirty="0" smtClean="0"/>
              <a:t>It </a:t>
            </a:r>
            <a:r>
              <a:rPr lang="en-US" dirty="0"/>
              <a:t>also provides the option to scale compute resources up or down as needed.</a:t>
            </a:r>
            <a:endParaRPr lang="en-US" b="1" dirty="0" smtClean="0"/>
          </a:p>
          <a:p>
            <a:r>
              <a:rPr lang="en-US" b="1" dirty="0" smtClean="0"/>
              <a:t>Increased read throughput</a:t>
            </a:r>
          </a:p>
          <a:p>
            <a:pPr lvl="1"/>
            <a:r>
              <a:rPr lang="en-US" dirty="0"/>
              <a:t>Amazon </a:t>
            </a:r>
            <a:r>
              <a:rPr lang="en-US" dirty="0" err="1"/>
              <a:t>DocumentDB</a:t>
            </a:r>
            <a:r>
              <a:rPr lang="en-US" dirty="0"/>
              <a:t> improves read throughput for high-volume applications by creating up to 15 replica instances that share underlying storage.</a:t>
            </a:r>
            <a:endParaRPr lang="en-US" b="1" dirty="0" smtClean="0"/>
          </a:p>
          <a:p>
            <a:endParaRPr lang="en-US" b="1" dirty="0"/>
          </a:p>
        </p:txBody>
      </p:sp>
    </p:spTree>
    <p:extLst>
      <p:ext uri="{BB962C8B-B14F-4D97-AF65-F5344CB8AC3E}">
        <p14:creationId xmlns:p14="http://schemas.microsoft.com/office/powerpoint/2010/main" val="320909929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t>
            </a:r>
            <a:r>
              <a:rPr lang="en-US" b="1" dirty="0" smtClean="0"/>
              <a:t>Backup</a:t>
            </a:r>
            <a:endParaRPr lang="en-US" dirty="0"/>
          </a:p>
        </p:txBody>
      </p:sp>
      <p:sp>
        <p:nvSpPr>
          <p:cNvPr id="3" name="Content Placeholder 2"/>
          <p:cNvSpPr>
            <a:spLocks noGrp="1"/>
          </p:cNvSpPr>
          <p:nvPr>
            <p:ph idx="1"/>
          </p:nvPr>
        </p:nvSpPr>
        <p:spPr/>
        <p:txBody>
          <a:bodyPr>
            <a:normAutofit fontScale="77500" lnSpcReduction="20000"/>
          </a:bodyPr>
          <a:lstStyle/>
          <a:p>
            <a:r>
              <a:rPr lang="en-US" dirty="0"/>
              <a:t>AWS Backup streamlines data protection across various AWS resources and on-premises deployments by providing a single dashboard for monitoring and managing backups. </a:t>
            </a:r>
            <a:endParaRPr lang="en-US" dirty="0" smtClean="0"/>
          </a:p>
          <a:p>
            <a:r>
              <a:rPr lang="en-US" dirty="0" smtClean="0"/>
              <a:t>It </a:t>
            </a:r>
            <a:r>
              <a:rPr lang="en-US" dirty="0"/>
              <a:t>eliminates the complexity of managing multiple backup strategies by supporting multiple storage types, including Amazon Elastic Block Store (Amazon EBS) volumes, Amazon Elastic File System (Amazon EFS) file systems, and various databases.</a:t>
            </a:r>
          </a:p>
          <a:p>
            <a:r>
              <a:rPr lang="en-US" dirty="0"/>
              <a:t>AWS Backup centralizes and automates data protection processes, improving consistency and reducing administrative overhead. </a:t>
            </a:r>
            <a:endParaRPr lang="en-US" dirty="0" smtClean="0"/>
          </a:p>
          <a:p>
            <a:r>
              <a:rPr lang="en-US" dirty="0" smtClean="0"/>
              <a:t>It </a:t>
            </a:r>
            <a:r>
              <a:rPr lang="en-US" dirty="0"/>
              <a:t>offers flexible scheduling options, encryption capabilities, and cross-Region backup support for enhanced disaster recovery.</a:t>
            </a:r>
          </a:p>
          <a:p>
            <a:r>
              <a:rPr lang="en-US" b="1" dirty="0"/>
              <a:t>Use cases</a:t>
            </a:r>
          </a:p>
          <a:p>
            <a:pPr lvl="1"/>
            <a:r>
              <a:rPr lang="en-US" dirty="0"/>
              <a:t>Some examples of practical use cases for AWS Backup are centralized disaster recovery, consistent backup policies for compliance requirements, and consolidating multiple backup processes through a single interface.</a:t>
            </a:r>
          </a:p>
          <a:p>
            <a:endParaRPr lang="en-US" dirty="0"/>
          </a:p>
        </p:txBody>
      </p:sp>
    </p:spTree>
    <p:extLst>
      <p:ext uri="{BB962C8B-B14F-4D97-AF65-F5344CB8AC3E}">
        <p14:creationId xmlns:p14="http://schemas.microsoft.com/office/powerpoint/2010/main" val="782898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t>
            </a:r>
            <a:r>
              <a:rPr lang="en-US" b="1" dirty="0" smtClean="0"/>
              <a:t>Backup Benefits</a:t>
            </a:r>
            <a:endParaRPr lang="en-US" dirty="0"/>
          </a:p>
        </p:txBody>
      </p:sp>
      <p:sp>
        <p:nvSpPr>
          <p:cNvPr id="3" name="Content Placeholder 2"/>
          <p:cNvSpPr>
            <a:spLocks noGrp="1"/>
          </p:cNvSpPr>
          <p:nvPr>
            <p:ph idx="1"/>
          </p:nvPr>
        </p:nvSpPr>
        <p:spPr>
          <a:xfrm>
            <a:off x="838200" y="1825624"/>
            <a:ext cx="10515600" cy="5032375"/>
          </a:xfrm>
        </p:spPr>
        <p:txBody>
          <a:bodyPr>
            <a:normAutofit fontScale="77500" lnSpcReduction="20000"/>
          </a:bodyPr>
          <a:lstStyle/>
          <a:p>
            <a:r>
              <a:rPr lang="en-US" b="1" dirty="0" smtClean="0"/>
              <a:t>Centralized backup management </a:t>
            </a:r>
          </a:p>
          <a:p>
            <a:pPr lvl="1"/>
            <a:r>
              <a:rPr lang="en-US" dirty="0"/>
              <a:t>AWS Backup provides a single dashboard to </a:t>
            </a:r>
            <a:r>
              <a:rPr lang="en-US" i="1" dirty="0"/>
              <a:t>manage backups across multiple AWS services and accounts</a:t>
            </a:r>
            <a:r>
              <a:rPr lang="en-US" dirty="0"/>
              <a:t>. </a:t>
            </a:r>
            <a:endParaRPr lang="en-US" dirty="0" smtClean="0"/>
          </a:p>
          <a:p>
            <a:pPr lvl="1"/>
            <a:r>
              <a:rPr lang="en-US" dirty="0" smtClean="0"/>
              <a:t>You </a:t>
            </a:r>
            <a:r>
              <a:rPr lang="en-US" dirty="0"/>
              <a:t>can monitor backup jobs, restore points, and verify compliance status from one central location to reduce operational complexity and potential configuration errors.</a:t>
            </a:r>
          </a:p>
          <a:p>
            <a:pPr lvl="1"/>
            <a:r>
              <a:rPr lang="en-US" dirty="0"/>
              <a:t>You can create </a:t>
            </a:r>
            <a:r>
              <a:rPr lang="en-US" i="1" dirty="0"/>
              <a:t>automated backup schedules</a:t>
            </a:r>
            <a:r>
              <a:rPr lang="en-US" dirty="0"/>
              <a:t> that align with your business requirements and compliance needs. </a:t>
            </a:r>
            <a:endParaRPr lang="en-US" dirty="0" smtClean="0"/>
          </a:p>
          <a:p>
            <a:pPr lvl="1"/>
            <a:r>
              <a:rPr lang="en-US" dirty="0" smtClean="0"/>
              <a:t>You </a:t>
            </a:r>
            <a:r>
              <a:rPr lang="en-US" dirty="0"/>
              <a:t>can set up backup policies that automatically protect new resources as they're created</a:t>
            </a:r>
            <a:r>
              <a:rPr lang="en-US" dirty="0" smtClean="0"/>
              <a:t>.</a:t>
            </a:r>
            <a:endParaRPr lang="en-US" b="1" dirty="0" smtClean="0"/>
          </a:p>
          <a:p>
            <a:r>
              <a:rPr lang="en-US" b="1" dirty="0" smtClean="0"/>
              <a:t>Cross-region backup redundancy</a:t>
            </a:r>
          </a:p>
          <a:p>
            <a:pPr lvl="1"/>
            <a:r>
              <a:rPr lang="en-US" dirty="0"/>
              <a:t>AWS Backup enables </a:t>
            </a:r>
            <a:r>
              <a:rPr lang="en-US" i="1" dirty="0"/>
              <a:t>automatic replication</a:t>
            </a:r>
            <a:r>
              <a:rPr lang="en-US" dirty="0"/>
              <a:t> of backup data </a:t>
            </a:r>
            <a:r>
              <a:rPr lang="en-US" i="1" dirty="0"/>
              <a:t>across different AWS Regions </a:t>
            </a:r>
            <a:r>
              <a:rPr lang="en-US" dirty="0"/>
              <a:t>for disaster recovery purposes. </a:t>
            </a:r>
            <a:endParaRPr lang="en-US" dirty="0" smtClean="0"/>
          </a:p>
          <a:p>
            <a:pPr lvl="1"/>
            <a:r>
              <a:rPr lang="en-US" dirty="0" smtClean="0"/>
              <a:t>You </a:t>
            </a:r>
            <a:r>
              <a:rPr lang="en-US" dirty="0"/>
              <a:t>can quickly restore data from secondary Regions if the primary Region experiences an outage. </a:t>
            </a:r>
            <a:endParaRPr lang="en-US" dirty="0" smtClean="0"/>
          </a:p>
          <a:p>
            <a:pPr lvl="1"/>
            <a:r>
              <a:rPr lang="en-US" dirty="0" smtClean="0"/>
              <a:t>Cross-Region </a:t>
            </a:r>
            <a:r>
              <a:rPr lang="en-US" dirty="0"/>
              <a:t>redundancy helps you meet compliance requirements while guaranteeing data accessibility during Regional failures.</a:t>
            </a:r>
            <a:endParaRPr lang="en-US" b="1" dirty="0" smtClean="0"/>
          </a:p>
          <a:p>
            <a:r>
              <a:rPr lang="en-US" b="1" dirty="0" smtClean="0"/>
              <a:t>Streamlined regulatory compliance</a:t>
            </a:r>
          </a:p>
          <a:p>
            <a:pPr lvl="1"/>
            <a:r>
              <a:rPr lang="en-US" dirty="0"/>
              <a:t>AWS Backup maintains </a:t>
            </a:r>
            <a:r>
              <a:rPr lang="en-US" i="1" dirty="0"/>
              <a:t>detailed audit logs and reports</a:t>
            </a:r>
            <a:r>
              <a:rPr lang="en-US" dirty="0"/>
              <a:t> to demonstrate compliance with regulatory requirements. </a:t>
            </a:r>
            <a:endParaRPr lang="en-US" dirty="0" smtClean="0"/>
          </a:p>
          <a:p>
            <a:pPr lvl="1"/>
            <a:r>
              <a:rPr lang="en-US" dirty="0" smtClean="0"/>
              <a:t>You </a:t>
            </a:r>
            <a:r>
              <a:rPr lang="en-US" dirty="0"/>
              <a:t>can use it to </a:t>
            </a:r>
            <a:r>
              <a:rPr lang="en-US" i="1" dirty="0"/>
              <a:t>enforce backup policies</a:t>
            </a:r>
            <a:r>
              <a:rPr lang="en-US" dirty="0"/>
              <a:t> across your organization and track backup activities for security and compliance purposes.</a:t>
            </a:r>
            <a:endParaRPr lang="en-US" b="1" dirty="0"/>
          </a:p>
        </p:txBody>
      </p:sp>
    </p:spTree>
    <p:extLst>
      <p:ext uri="{BB962C8B-B14F-4D97-AF65-F5344CB8AC3E}">
        <p14:creationId xmlns:p14="http://schemas.microsoft.com/office/powerpoint/2010/main" val="1576371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smtClean="0"/>
              <a:t>Neptune Service</a:t>
            </a:r>
            <a:endParaRPr lang="en-US" dirty="0"/>
          </a:p>
        </p:txBody>
      </p:sp>
      <p:sp>
        <p:nvSpPr>
          <p:cNvPr id="3" name="Content Placeholder 2"/>
          <p:cNvSpPr>
            <a:spLocks noGrp="1"/>
          </p:cNvSpPr>
          <p:nvPr>
            <p:ph idx="1"/>
          </p:nvPr>
        </p:nvSpPr>
        <p:spPr/>
        <p:txBody>
          <a:bodyPr>
            <a:normAutofit fontScale="92500" lnSpcReduction="10000"/>
          </a:bodyPr>
          <a:lstStyle/>
          <a:p>
            <a:r>
              <a:rPr lang="en-US" dirty="0"/>
              <a:t>Neptune is a fully managed, purpose-built graph database service that manages highly connected data sets, like those used in social networking applications. </a:t>
            </a:r>
            <a:endParaRPr lang="en-US" dirty="0" smtClean="0"/>
          </a:p>
          <a:p>
            <a:r>
              <a:rPr lang="en-US" dirty="0" smtClean="0"/>
              <a:t>It </a:t>
            </a:r>
            <a:r>
              <a:rPr lang="en-US" dirty="0"/>
              <a:t>excels at understanding complex relationships that are difficult to identify in traditional relational databases like user connections, friend networks, and interaction patterns. </a:t>
            </a:r>
            <a:endParaRPr lang="en-US" dirty="0" smtClean="0"/>
          </a:p>
          <a:p>
            <a:r>
              <a:rPr lang="en-US" dirty="0" smtClean="0"/>
              <a:t>Neptune </a:t>
            </a:r>
            <a:r>
              <a:rPr lang="en-US" dirty="0"/>
              <a:t>can maintain high performance even as data complexity grows, and offers high availability with automatic failover and backups.</a:t>
            </a:r>
          </a:p>
          <a:p>
            <a:r>
              <a:rPr lang="en-US" b="1" dirty="0"/>
              <a:t>Use cases</a:t>
            </a:r>
          </a:p>
          <a:p>
            <a:pPr lvl="1"/>
            <a:r>
              <a:rPr lang="en-US" dirty="0"/>
              <a:t>Some examples of practical use cases for Amazon Neptune are social network user connection mapping, fraud detection systems, and search and recommendation systems.</a:t>
            </a:r>
          </a:p>
          <a:p>
            <a:endParaRPr lang="en-US" dirty="0"/>
          </a:p>
        </p:txBody>
      </p:sp>
    </p:spTree>
    <p:extLst>
      <p:ext uri="{BB962C8B-B14F-4D97-AF65-F5344CB8AC3E}">
        <p14:creationId xmlns:p14="http://schemas.microsoft.com/office/powerpoint/2010/main" val="3631077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smtClean="0"/>
              <a:t>Neptune Benefits</a:t>
            </a:r>
            <a:endParaRPr lang="en-US" dirty="0"/>
          </a:p>
        </p:txBody>
      </p:sp>
      <p:sp>
        <p:nvSpPr>
          <p:cNvPr id="3" name="Content Placeholder 2"/>
          <p:cNvSpPr>
            <a:spLocks noGrp="1"/>
          </p:cNvSpPr>
          <p:nvPr>
            <p:ph idx="1"/>
          </p:nvPr>
        </p:nvSpPr>
        <p:spPr/>
        <p:txBody>
          <a:bodyPr>
            <a:normAutofit lnSpcReduction="10000"/>
          </a:bodyPr>
          <a:lstStyle/>
          <a:p>
            <a:r>
              <a:rPr lang="en-US" b="1" dirty="0" smtClean="0"/>
              <a:t>Purpose-built for complex relationships</a:t>
            </a:r>
          </a:p>
          <a:p>
            <a:pPr lvl="1"/>
            <a:r>
              <a:rPr lang="en-US" dirty="0"/>
              <a:t>Neptune excels at storing and querying highly connected data using graph models. </a:t>
            </a:r>
            <a:endParaRPr lang="en-US" dirty="0" smtClean="0"/>
          </a:p>
          <a:p>
            <a:pPr lvl="1"/>
            <a:r>
              <a:rPr lang="en-US" dirty="0" smtClean="0"/>
              <a:t>It </a:t>
            </a:r>
            <a:r>
              <a:rPr lang="en-US" dirty="0"/>
              <a:t>supports both property graph and resource description framework, or RDF, models making it ideal for relationship mapping and pattern matching applications.</a:t>
            </a:r>
            <a:endParaRPr lang="en-US" dirty="0" smtClean="0"/>
          </a:p>
          <a:p>
            <a:r>
              <a:rPr lang="en-US" b="1" dirty="0" smtClean="0"/>
              <a:t>High performance and scalability</a:t>
            </a:r>
          </a:p>
          <a:p>
            <a:pPr lvl="1"/>
            <a:r>
              <a:rPr lang="en-US" dirty="0"/>
              <a:t>Neptune delivers consistent performance at scale, processing billions of relationships in milliseconds. </a:t>
            </a:r>
            <a:endParaRPr lang="en-US" dirty="0" smtClean="0"/>
          </a:p>
          <a:p>
            <a:pPr lvl="1"/>
            <a:r>
              <a:rPr lang="en-US" dirty="0" smtClean="0"/>
              <a:t>It </a:t>
            </a:r>
            <a:r>
              <a:rPr lang="en-US" dirty="0"/>
              <a:t>automatically grows storage up to 64 TB based on your application needs. </a:t>
            </a:r>
            <a:endParaRPr lang="en-US" dirty="0" smtClean="0"/>
          </a:p>
          <a:p>
            <a:pPr lvl="1"/>
            <a:r>
              <a:rPr lang="en-US" dirty="0" smtClean="0"/>
              <a:t>Its </a:t>
            </a:r>
            <a:r>
              <a:rPr lang="en-US" dirty="0"/>
              <a:t>purpose-built engine optimizes graph queries to enable fast traversal of connected data points at scale.</a:t>
            </a:r>
            <a:endParaRPr lang="en-US" dirty="0" smtClean="0"/>
          </a:p>
          <a:p>
            <a:endParaRPr lang="en-US" dirty="0"/>
          </a:p>
        </p:txBody>
      </p:sp>
    </p:spTree>
    <p:extLst>
      <p:ext uri="{BB962C8B-B14F-4D97-AF65-F5344CB8AC3E}">
        <p14:creationId xmlns:p14="http://schemas.microsoft.com/office/powerpoint/2010/main" val="611842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Recap</a:t>
            </a:r>
            <a:endParaRPr lang="en-US" dirty="0"/>
          </a:p>
        </p:txBody>
      </p:sp>
      <p:sp>
        <p:nvSpPr>
          <p:cNvPr id="3" name="Content Placeholder 2"/>
          <p:cNvSpPr>
            <a:spLocks noGrp="1"/>
          </p:cNvSpPr>
          <p:nvPr>
            <p:ph idx="1"/>
          </p:nvPr>
        </p:nvSpPr>
        <p:spPr>
          <a:xfrm>
            <a:off x="838200" y="1825624"/>
            <a:ext cx="10515600" cy="4547743"/>
          </a:xfrm>
        </p:spPr>
        <p:txBody>
          <a:bodyPr>
            <a:normAutofit fontScale="92500" lnSpcReduction="10000"/>
          </a:bodyPr>
          <a:lstStyle/>
          <a:p>
            <a:r>
              <a:rPr lang="en-US" dirty="0"/>
              <a:t>In this module, we explored the managed relational database capabilities of Amazon RDS and Amazon Aurora. </a:t>
            </a:r>
            <a:endParaRPr lang="en-US" dirty="0" smtClean="0"/>
          </a:p>
          <a:p>
            <a:r>
              <a:rPr lang="en-US" dirty="0" smtClean="0"/>
              <a:t>You </a:t>
            </a:r>
            <a:r>
              <a:rPr lang="en-US" dirty="0"/>
              <a:t>learned how AWS DMS facilitates seamless database migrations, and </a:t>
            </a:r>
            <a:r>
              <a:rPr lang="en-US" dirty="0" err="1"/>
              <a:t>DynamoDB</a:t>
            </a:r>
            <a:r>
              <a:rPr lang="en-US" dirty="0"/>
              <a:t> provides insights into NoSQL database solutions for scalable applications.</a:t>
            </a:r>
          </a:p>
          <a:p>
            <a:r>
              <a:rPr lang="en-US" dirty="0"/>
              <a:t>We covered the in-memory caching capabilities of </a:t>
            </a:r>
            <a:r>
              <a:rPr lang="en-US" dirty="0" err="1"/>
              <a:t>ElastiCache</a:t>
            </a:r>
            <a:r>
              <a:rPr lang="en-US" dirty="0"/>
              <a:t> and the MongoDB-compatible document database features of Amazon </a:t>
            </a:r>
            <a:r>
              <a:rPr lang="en-US" dirty="0" err="1"/>
              <a:t>DocumentDB</a:t>
            </a:r>
            <a:r>
              <a:rPr lang="en-US" dirty="0"/>
              <a:t>. </a:t>
            </a:r>
            <a:endParaRPr lang="en-US" dirty="0" smtClean="0"/>
          </a:p>
          <a:p>
            <a:r>
              <a:rPr lang="en-US" dirty="0" smtClean="0"/>
              <a:t>We </a:t>
            </a:r>
            <a:r>
              <a:rPr lang="en-US" dirty="0"/>
              <a:t>examined the comprehensive data protection strategy across AWS services offered by AWS Backup. </a:t>
            </a:r>
            <a:endParaRPr lang="en-US" dirty="0" smtClean="0"/>
          </a:p>
          <a:p>
            <a:r>
              <a:rPr lang="en-US" dirty="0" smtClean="0"/>
              <a:t>And </a:t>
            </a:r>
            <a:r>
              <a:rPr lang="en-US" dirty="0"/>
              <a:t>finally, we concluded with the powerful graph database capabilities of Neptune for complex relationship queries.</a:t>
            </a:r>
          </a:p>
          <a:p>
            <a:endParaRPr lang="en-US" dirty="0"/>
          </a:p>
        </p:txBody>
      </p:sp>
    </p:spTree>
    <p:extLst>
      <p:ext uri="{BB962C8B-B14F-4D97-AF65-F5344CB8AC3E}">
        <p14:creationId xmlns:p14="http://schemas.microsoft.com/office/powerpoint/2010/main" val="3876683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Resources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88644079"/>
              </p:ext>
            </p:extLst>
          </p:nvPr>
        </p:nvGraphicFramePr>
        <p:xfrm>
          <a:off x="955269" y="1482218"/>
          <a:ext cx="4064787" cy="5242685"/>
        </p:xfrm>
        <a:graphic>
          <a:graphicData uri="http://schemas.openxmlformats.org/drawingml/2006/table">
            <a:tbl>
              <a:tblPr/>
              <a:tblGrid>
                <a:gridCol w="2025706"/>
                <a:gridCol w="2039081"/>
              </a:tblGrid>
              <a:tr h="156498">
                <a:tc>
                  <a:txBody>
                    <a:bodyPr/>
                    <a:lstStyle/>
                    <a:p>
                      <a:pPr algn="l"/>
                      <a:r>
                        <a:rPr lang="en-US" sz="600" dirty="0">
                          <a:effectLst/>
                        </a:rPr>
                        <a:t>Resource link</a:t>
                      </a:r>
                    </a:p>
                  </a:txBody>
                  <a:tcPr marL="32473" marR="32473" marT="16236" marB="16236" anchor="ctr">
                    <a:lnL>
                      <a:noFill/>
                    </a:lnL>
                    <a:lnR>
                      <a:noFill/>
                    </a:lnR>
                    <a:lnT>
                      <a:noFill/>
                    </a:lnT>
                    <a:lnB>
                      <a:noFill/>
                    </a:lnB>
                  </a:tcPr>
                </a:tc>
                <a:tc>
                  <a:txBody>
                    <a:bodyPr/>
                    <a:lstStyle/>
                    <a:p>
                      <a:pPr algn="l"/>
                      <a:r>
                        <a:rPr lang="en-US" sz="600">
                          <a:effectLst/>
                        </a:rPr>
                        <a:t>Description</a:t>
                      </a:r>
                    </a:p>
                  </a:txBody>
                  <a:tcPr marL="32473" marR="32473" marT="16236" marB="16236" anchor="ctr">
                    <a:lnL>
                      <a:noFill/>
                    </a:lnL>
                    <a:lnR>
                      <a:noFill/>
                    </a:lnR>
                    <a:lnT>
                      <a:noFill/>
                    </a:lnT>
                    <a:lnB>
                      <a:noFill/>
                    </a:lnB>
                  </a:tcPr>
                </a:tc>
              </a:tr>
              <a:tr h="391245">
                <a:tc>
                  <a:txBody>
                    <a:bodyPr/>
                    <a:lstStyle/>
                    <a:p>
                      <a:pPr algn="l"/>
                      <a:r>
                        <a:rPr lang="en-US" sz="600" dirty="0">
                          <a:effectLst/>
                          <a:hlinkClick r:id="rId2"/>
                        </a:rPr>
                        <a:t>Amazon Relational Database Service (Amazon RDS</a:t>
                      </a:r>
                      <a:r>
                        <a:rPr lang="en-US" sz="600" dirty="0" smtClean="0">
                          <a:effectLst/>
                          <a:hlinkClick r:id="rId2"/>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relational database service supporting multiple engines like MySQL, PostgreSQL, and Microsoft SQL Server with automated maintenance and backups</a:t>
                      </a:r>
                      <a:endParaRPr lang="en-US" sz="600">
                        <a:effectLst/>
                      </a:endParaRPr>
                    </a:p>
                  </a:txBody>
                  <a:tcPr marL="32473" marR="32473" marT="16236" marB="16236" anchor="ctr">
                    <a:lnL>
                      <a:noFill/>
                    </a:lnL>
                    <a:lnR>
                      <a:noFill/>
                    </a:lnR>
                    <a:lnT>
                      <a:noFill/>
                    </a:lnT>
                    <a:lnB>
                      <a:noFill/>
                    </a:lnB>
                    <a:solidFill>
                      <a:srgbClr val="FFFFFF"/>
                    </a:solidFill>
                  </a:tcPr>
                </a:tc>
              </a:tr>
              <a:tr h="273872">
                <a:tc>
                  <a:txBody>
                    <a:bodyPr/>
                    <a:lstStyle/>
                    <a:p>
                      <a:pPr algn="l"/>
                      <a:r>
                        <a:rPr lang="en-US" sz="600" dirty="0">
                          <a:effectLst/>
                          <a:hlinkClick r:id="rId3"/>
                        </a:rPr>
                        <a:t>Amazon RDS </a:t>
                      </a:r>
                      <a:r>
                        <a:rPr lang="en-US" sz="600" dirty="0" smtClean="0">
                          <a:effectLst/>
                          <a:hlinkClick r:id="rId3"/>
                        </a:rPr>
                        <a:t>Security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Detailed information about security configurations in Amazon RDS</a:t>
                      </a:r>
                      <a:endParaRPr lang="en-US" sz="600">
                        <a:effectLst/>
                      </a:endParaRPr>
                    </a:p>
                  </a:txBody>
                  <a:tcPr marL="32473" marR="32473" marT="16236" marB="16236" anchor="ctr">
                    <a:lnL>
                      <a:noFill/>
                    </a:lnL>
                    <a:lnR>
                      <a:noFill/>
                    </a:lnR>
                    <a:lnT>
                      <a:noFill/>
                    </a:lnT>
                    <a:lnB>
                      <a:noFill/>
                    </a:lnB>
                    <a:solidFill>
                      <a:srgbClr val="FFFFFF"/>
                    </a:solidFill>
                  </a:tcPr>
                </a:tc>
              </a:tr>
              <a:tr h="508619">
                <a:tc>
                  <a:txBody>
                    <a:bodyPr/>
                    <a:lstStyle/>
                    <a:p>
                      <a:pPr algn="l"/>
                      <a:r>
                        <a:rPr lang="en-US" sz="600" dirty="0">
                          <a:effectLst/>
                          <a:hlinkClick r:id="rId4"/>
                        </a:rPr>
                        <a:t>Amazon </a:t>
                      </a:r>
                      <a:r>
                        <a:rPr lang="en-US" sz="600" dirty="0" smtClean="0">
                          <a:effectLst/>
                          <a:hlinkClick r:id="rId4"/>
                        </a:rPr>
                        <a:t>Aurora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cloud-native database offering superior performance and availability over traditional databases while maintaining MySQL and PostgreSQL compatibility</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5"/>
                        </a:rPr>
                        <a:t>AWS Database Migration Service (AWS DMS</a:t>
                      </a:r>
                      <a:r>
                        <a:rPr lang="en-US" sz="600" dirty="0" smtClean="0">
                          <a:effectLst/>
                          <a:hlinkClick r:id="rId5"/>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service that provides seamless database migration between source and target databases while keeping the source database operational</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6"/>
                        </a:rPr>
                        <a:t>Amazon </a:t>
                      </a:r>
                      <a:r>
                        <a:rPr lang="en-US" sz="600" dirty="0" err="1" smtClean="0">
                          <a:effectLst/>
                          <a:hlinkClick r:id="rId6"/>
                        </a:rPr>
                        <a:t>DynamoDB</a:t>
                      </a:r>
                      <a:r>
                        <a:rPr lang="en-US" sz="600" dirty="0" smtClean="0">
                          <a:effectLst/>
                          <a:hlinkClick r:id="rId6"/>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NoSQL database service providing single-digit millisecond performance at any scale with built-in security</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7"/>
                        </a:rPr>
                        <a:t>Amazon </a:t>
                      </a:r>
                      <a:r>
                        <a:rPr lang="en-US" sz="600" dirty="0" err="1" smtClean="0">
                          <a:effectLst/>
                          <a:hlinkClick r:id="rId7"/>
                        </a:rPr>
                        <a:t>ElastiCache</a:t>
                      </a:r>
                      <a:r>
                        <a:rPr lang="en-US" sz="600" dirty="0" smtClean="0">
                          <a:effectLst/>
                          <a:hlinkClick r:id="rId7"/>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An in-memory caching service that supports Redis, Valkey, or Memcached to improve application performance through faster data retrieval</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8"/>
                        </a:rPr>
                        <a:t>Amazon </a:t>
                      </a:r>
                      <a:r>
                        <a:rPr lang="en-US" sz="600" dirty="0" err="1" smtClean="0">
                          <a:effectLst/>
                          <a:hlinkClick r:id="rId8"/>
                        </a:rPr>
                        <a:t>DocumentDB</a:t>
                      </a:r>
                      <a:r>
                        <a:rPr lang="en-US" sz="600" dirty="0" smtClean="0">
                          <a:effectLst/>
                          <a:hlinkClick r:id="rId8"/>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MongoDB-compatible document database service designed for mission-critical workloads with automatic scaling</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9"/>
                        </a:rPr>
                        <a:t>Amazon </a:t>
                      </a:r>
                      <a:r>
                        <a:rPr lang="en-US" sz="600" dirty="0" smtClean="0">
                          <a:effectLst/>
                          <a:hlinkClick r:id="rId9"/>
                        </a:rPr>
                        <a:t>Backup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centralized service for automating and managing data backups across AWS services and on-premises resources</a:t>
                      </a:r>
                      <a:endParaRPr lang="en-US" sz="600">
                        <a:effectLst/>
                      </a:endParaRPr>
                    </a:p>
                  </a:txBody>
                  <a:tcPr marL="32473" marR="32473" marT="16236" marB="16236" anchor="ctr">
                    <a:lnL>
                      <a:noFill/>
                    </a:lnL>
                    <a:lnR>
                      <a:noFill/>
                    </a:lnR>
                    <a:lnT>
                      <a:noFill/>
                    </a:lnT>
                    <a:lnB>
                      <a:noFill/>
                    </a:lnB>
                    <a:solidFill>
                      <a:srgbClr val="FFFFFF"/>
                    </a:solidFill>
                  </a:tcPr>
                </a:tc>
              </a:tr>
              <a:tr h="273872">
                <a:tc>
                  <a:txBody>
                    <a:bodyPr/>
                    <a:lstStyle/>
                    <a:p>
                      <a:pPr algn="l"/>
                      <a:r>
                        <a:rPr lang="en-US" sz="600" dirty="0">
                          <a:effectLst/>
                          <a:hlinkClick r:id="rId10"/>
                        </a:rPr>
                        <a:t>Amazon </a:t>
                      </a:r>
                      <a:r>
                        <a:rPr lang="en-US" sz="600" dirty="0" smtClean="0">
                          <a:effectLst/>
                          <a:hlinkClick r:id="rId10"/>
                        </a:rPr>
                        <a:t>Neptune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graph database service optimized for storing and querying highly connected data relationships</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11"/>
                        </a:rPr>
                        <a:t>What Is a Relational Database</a:t>
                      </a:r>
                      <a:r>
                        <a:rPr lang="en-US" sz="600" dirty="0" smtClean="0">
                          <a:effectLst/>
                          <a:hlinkClick r:id="rId11"/>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structured database using tables with predefined schemas, supporting complex queries and transactions through SQL for consistent data relationships</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12"/>
                        </a:rPr>
                        <a:t>What Is a NoSQL Database</a:t>
                      </a:r>
                      <a:r>
                        <a:rPr lang="en-US" sz="600" dirty="0" smtClean="0">
                          <a:effectLst/>
                          <a:hlinkClick r:id="rId12"/>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solidFill>
                            <a:srgbClr val="0F141A"/>
                          </a:solidFill>
                          <a:effectLst/>
                        </a:rPr>
                        <a:t>A nonrelational database offering flexible schemas and high scalability for varied data types, optimized for specific data models and patterns</a:t>
                      </a:r>
                      <a:endParaRPr lang="en-US" sz="600">
                        <a:effectLst/>
                      </a:endParaRPr>
                    </a:p>
                  </a:txBody>
                  <a:tcPr marL="32473" marR="32473" marT="16236" marB="16236" anchor="ctr">
                    <a:lnL>
                      <a:noFill/>
                    </a:lnL>
                    <a:lnR>
                      <a:noFill/>
                    </a:lnR>
                    <a:lnT>
                      <a:noFill/>
                    </a:lnT>
                    <a:lnB>
                      <a:noFill/>
                    </a:lnB>
                    <a:solidFill>
                      <a:srgbClr val="FFFFFF"/>
                    </a:solidFill>
                  </a:tcPr>
                </a:tc>
              </a:tr>
              <a:tr h="391245">
                <a:tc>
                  <a:txBody>
                    <a:bodyPr/>
                    <a:lstStyle/>
                    <a:p>
                      <a:pPr algn="l"/>
                      <a:r>
                        <a:rPr lang="en-US" sz="600" dirty="0">
                          <a:effectLst/>
                          <a:hlinkClick r:id="rId13"/>
                        </a:rPr>
                        <a:t>What Is an In-Memory Caching Service</a:t>
                      </a:r>
                      <a:r>
                        <a:rPr lang="en-US" sz="600" dirty="0" smtClean="0">
                          <a:effectLst/>
                          <a:hlinkClick r:id="rId13"/>
                        </a:rPr>
                        <a:t>?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a:effectLst/>
                        </a:rPr>
                        <a:t>A high-speed data storage layer using RAM instead of disk storage, delivering microsecond latency for frequently accessed data</a:t>
                      </a:r>
                    </a:p>
                  </a:txBody>
                  <a:tcPr marL="32473" marR="32473" marT="16236" marB="16236" anchor="ctr">
                    <a:lnL>
                      <a:noFill/>
                    </a:lnL>
                    <a:lnR>
                      <a:noFill/>
                    </a:lnR>
                    <a:lnT>
                      <a:noFill/>
                    </a:lnT>
                    <a:lnB>
                      <a:noFill/>
                    </a:lnB>
                    <a:solidFill>
                      <a:srgbClr val="FFFFFF"/>
                    </a:solidFill>
                  </a:tcPr>
                </a:tc>
              </a:tr>
              <a:tr h="508619">
                <a:tc>
                  <a:txBody>
                    <a:bodyPr/>
                    <a:lstStyle/>
                    <a:p>
                      <a:pPr algn="l"/>
                      <a:r>
                        <a:rPr lang="en-US" sz="600" dirty="0">
                          <a:effectLst/>
                          <a:hlinkClick r:id="rId14"/>
                        </a:rPr>
                        <a:t>AWS Shared Responsibility </a:t>
                      </a:r>
                      <a:r>
                        <a:rPr lang="en-US" sz="600" dirty="0" smtClean="0">
                          <a:effectLst/>
                          <a:hlinkClick r:id="rId14"/>
                        </a:rPr>
                        <a:t>Model </a:t>
                      </a:r>
                      <a:endParaRPr lang="en-US" sz="600" dirty="0">
                        <a:effectLst/>
                      </a:endParaRPr>
                    </a:p>
                  </a:txBody>
                  <a:tcPr marL="32473" marR="32473" marT="16236" marB="16236" anchor="ctr">
                    <a:lnL>
                      <a:noFill/>
                    </a:lnL>
                    <a:lnR>
                      <a:noFill/>
                    </a:lnR>
                    <a:lnT>
                      <a:noFill/>
                    </a:lnT>
                    <a:lnB>
                      <a:noFill/>
                    </a:lnB>
                    <a:solidFill>
                      <a:srgbClr val="FFFFFF"/>
                    </a:solidFill>
                  </a:tcPr>
                </a:tc>
                <a:tc>
                  <a:txBody>
                    <a:bodyPr/>
                    <a:lstStyle/>
                    <a:p>
                      <a:pPr algn="l"/>
                      <a:r>
                        <a:rPr lang="en-US" sz="600" dirty="0">
                          <a:effectLst/>
                        </a:rPr>
                        <a:t>AWS is responsible for security </a:t>
                      </a:r>
                      <a:r>
                        <a:rPr lang="en-US" sz="600" b="1" dirty="0">
                          <a:effectLst/>
                        </a:rPr>
                        <a:t>of</a:t>
                      </a:r>
                      <a:r>
                        <a:rPr lang="en-US" sz="600" dirty="0">
                          <a:effectLst/>
                        </a:rPr>
                        <a:t> the cloud (infrastructure, hardware, networking, facilities) while customers are responsible for security </a:t>
                      </a:r>
                      <a:r>
                        <a:rPr lang="en-US" sz="600" b="1" dirty="0">
                          <a:effectLst/>
                        </a:rPr>
                        <a:t>in</a:t>
                      </a:r>
                      <a:r>
                        <a:rPr lang="en-US" sz="600" dirty="0">
                          <a:effectLst/>
                        </a:rPr>
                        <a:t> the cloud (data, configuration, access management).</a:t>
                      </a:r>
                    </a:p>
                  </a:txBody>
                  <a:tcPr marL="32473" marR="32473" marT="16236" marB="16236" anchor="ctr">
                    <a:lnL>
                      <a:noFill/>
                    </a:lnL>
                    <a:lnR>
                      <a:noFill/>
                    </a:lnR>
                    <a:lnT>
                      <a:noFill/>
                    </a:lnT>
                    <a:lnB>
                      <a:noFill/>
                    </a:lnB>
                    <a:solidFill>
                      <a:srgbClr val="FFFFFF"/>
                    </a:solidFill>
                  </a:tcPr>
                </a:tc>
              </a:tr>
            </a:tbl>
          </a:graphicData>
        </a:graphic>
      </p:graphicFrame>
    </p:spTree>
    <p:extLst>
      <p:ext uri="{BB962C8B-B14F-4D97-AF65-F5344CB8AC3E}">
        <p14:creationId xmlns:p14="http://schemas.microsoft.com/office/powerpoint/2010/main" val="3380556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TotalTime>
  <Words>1811</Words>
  <Application>Microsoft Office PowerPoint</Application>
  <PresentationFormat>Widescreen</PresentationFormat>
  <Paragraphs>255</Paragraphs>
  <Slides>42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Calibri Light</vt:lpstr>
      <vt:lpstr>Office Theme</vt:lpstr>
      <vt:lpstr>Module 7</vt:lpstr>
      <vt:lpstr>Outline</vt:lpstr>
      <vt:lpstr>Introduction to Databases</vt:lpstr>
      <vt:lpstr>In this lesson, you will learn:</vt:lpstr>
      <vt:lpstr>AWS shared responsibility model</vt:lpstr>
      <vt:lpstr>Fully managed services</vt:lpstr>
      <vt:lpstr>Managed services</vt:lpstr>
      <vt:lpstr>Unmanaged services</vt:lpstr>
      <vt:lpstr>Relational Database Services</vt:lpstr>
      <vt:lpstr>In this lesson, you will learn:</vt:lpstr>
      <vt:lpstr>Relational databases</vt:lpstr>
      <vt:lpstr>Relational databases</vt:lpstr>
      <vt:lpstr>Amazon Relational Database Service (Amazon RDS)</vt:lpstr>
      <vt:lpstr>Amazon Relational Database Service (Amazon RDS)</vt:lpstr>
      <vt:lpstr>Amazon RDS Benefits</vt:lpstr>
      <vt:lpstr>Amazon RDS Benefits</vt:lpstr>
      <vt:lpstr>Amazon Aurora</vt:lpstr>
      <vt:lpstr>Amazon Aurora</vt:lpstr>
      <vt:lpstr>Amazon Aurora Benefits</vt:lpstr>
      <vt:lpstr>NoSQL Database Services</vt:lpstr>
      <vt:lpstr>In this lesson, you will learn:</vt:lpstr>
      <vt:lpstr>NoSQL databases</vt:lpstr>
      <vt:lpstr>NoSQL databases</vt:lpstr>
      <vt:lpstr>Amazon DynamoDB Service</vt:lpstr>
      <vt:lpstr>Amazon DynamoDB Benefits</vt:lpstr>
      <vt:lpstr>Amazon DynamoDB Benefits</vt:lpstr>
      <vt:lpstr>In-Memory Caching Services</vt:lpstr>
      <vt:lpstr>In this lesson, you will learn:</vt:lpstr>
      <vt:lpstr>In-memory caches</vt:lpstr>
      <vt:lpstr>Amazon ElastiCache Service</vt:lpstr>
      <vt:lpstr>Amazon ElastiCache Benefits</vt:lpstr>
      <vt:lpstr>Amazon ElastiCache Benefits</vt:lpstr>
      <vt:lpstr>Additional Database Services</vt:lpstr>
      <vt:lpstr>In this lesson, you will learn:</vt:lpstr>
      <vt:lpstr>Amazon DocumentDB Service</vt:lpstr>
      <vt:lpstr>Amazon DocumentDB Benefits</vt:lpstr>
      <vt:lpstr>AWS Backup</vt:lpstr>
      <vt:lpstr>AWS Backup Benefits</vt:lpstr>
      <vt:lpstr>Amazon Neptune Service</vt:lpstr>
      <vt:lpstr>Amazon Neptune Benefits</vt:lpstr>
      <vt:lpstr>Recap</vt:lpstr>
      <vt:lpstr>Resources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76</cp:revision>
  <dcterms:created xsi:type="dcterms:W3CDTF">2025-08-24T14:21:57Z</dcterms:created>
  <dcterms:modified xsi:type="dcterms:W3CDTF">2025-08-25T21:05:04Z</dcterms:modified>
</cp:coreProperties>
</file>