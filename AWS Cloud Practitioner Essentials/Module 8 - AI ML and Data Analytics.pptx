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6" r:id="rId50"/>
    <p:sldId id="305" r:id="rId51"/>
    <p:sldId id="307" r:id="rId52"/>
    <p:sldId id="308" r:id="rId53"/>
    <p:sldId id="309" r:id="rId54"/>
    <p:sldId id="310" r:id="rId55"/>
    <p:sldId id="311" r:id="rId56"/>
    <p:sldId id="312" r:id="rId57"/>
    <p:sldId id="313" r:id="rId58"/>
    <p:sldId id="314"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3F1E4AA-9269-489C-80B7-015F8B9F89FB}"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3135245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F1E4AA-9269-489C-80B7-015F8B9F89FB}"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4294593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F1E4AA-9269-489C-80B7-015F8B9F89FB}"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2185078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F1E4AA-9269-489C-80B7-015F8B9F89FB}"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3968633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3F1E4AA-9269-489C-80B7-015F8B9F89FB}" type="datetimeFigureOut">
              <a:rPr lang="en-US" smtClean="0"/>
              <a:t>8/26/2025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2288583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F1E4AA-9269-489C-80B7-015F8B9F89FB}" type="datetimeFigureOut">
              <a:rPr lang="en-US" smtClean="0"/>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2195939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F1E4AA-9269-489C-80B7-015F8B9F89FB}" type="datetimeFigureOut">
              <a:rPr lang="en-US" smtClean="0"/>
              <a:t>8/26/2025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733767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F1E4AA-9269-489C-80B7-015F8B9F89FB}"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1924177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F1E4AA-9269-489C-80B7-015F8B9F89FB}"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419126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F1E4AA-9269-489C-80B7-015F8B9F89FB}"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347288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F1E4AA-9269-489C-80B7-015F8B9F89FB}"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A3CC-927B-4A35-AFF1-EA774E40EA72}" type="slidenum">
              <a:rPr lang="en-US" smtClean="0"/>
              <a:t>‹#›</a:t>
            </a:fld>
            <a:endParaRPr lang="en-US"/>
          </a:p>
        </p:txBody>
      </p:sp>
    </p:spTree>
    <p:extLst>
      <p:ext uri="{BB962C8B-B14F-4D97-AF65-F5344CB8AC3E}">
        <p14:creationId xmlns:p14="http://schemas.microsoft.com/office/powerpoint/2010/main" val="201140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F1E4AA-9269-489C-80B7-015F8B9F89FB}" type="datetimeFigureOut">
              <a:rPr lang="en-US" smtClean="0"/>
              <a:t>8/26/2025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66A3CC-927B-4A35-AFF1-EA774E40EA72}" type="slidenum">
              <a:rPr lang="en-US" smtClean="0"/>
              <a:t>‹#›</a:t>
            </a:fld>
            <a:endParaRPr lang="en-US"/>
          </a:p>
        </p:txBody>
      </p:sp>
    </p:spTree>
    <p:extLst>
      <p:ext uri="{BB962C8B-B14F-4D97-AF65-F5344CB8AC3E}">
        <p14:creationId xmlns:p14="http://schemas.microsoft.com/office/powerpoint/2010/main" val="3206929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hyperlink" Target="https://aws.amazon.com/textract/" TargetMode="External"/><Relationship Id="rId13" Type="http://schemas.openxmlformats.org/officeDocument/2006/relationships/hyperlink" Target="https://aws.amazon.com/bedrock/" TargetMode="External"/><Relationship Id="rId18" Type="http://schemas.openxmlformats.org/officeDocument/2006/relationships/hyperlink" Target="https://aws.amazon.com/s3/" TargetMode="External"/><Relationship Id="rId3" Type="http://schemas.openxmlformats.org/officeDocument/2006/relationships/hyperlink" Target="https://aws.amazon.com/polly/" TargetMode="External"/><Relationship Id="rId21" Type="http://schemas.openxmlformats.org/officeDocument/2006/relationships/hyperlink" Target="https://aws.amazon.com/glue/" TargetMode="External"/><Relationship Id="rId7" Type="http://schemas.openxmlformats.org/officeDocument/2006/relationships/hyperlink" Target="https://aws.amazon.com/rekognition/" TargetMode="External"/><Relationship Id="rId12" Type="http://schemas.openxmlformats.org/officeDocument/2006/relationships/hyperlink" Target="https://aws.amazon.com/sagemaker-ai/jumpstart/" TargetMode="External"/><Relationship Id="rId17" Type="http://schemas.openxmlformats.org/officeDocument/2006/relationships/hyperlink" Target="https://aws.amazon.com/firehose/" TargetMode="External"/><Relationship Id="rId25" Type="http://schemas.openxmlformats.org/officeDocument/2006/relationships/hyperlink" Target="https://aws.amazon.com/opensearch-service/" TargetMode="External"/><Relationship Id="rId2" Type="http://schemas.openxmlformats.org/officeDocument/2006/relationships/hyperlink" Target="https://aws.amazon.com/comprehend/" TargetMode="External"/><Relationship Id="rId16" Type="http://schemas.openxmlformats.org/officeDocument/2006/relationships/hyperlink" Target="https://aws.amazon.com/kinesis/data-streams/" TargetMode="External"/><Relationship Id="rId20" Type="http://schemas.openxmlformats.org/officeDocument/2006/relationships/hyperlink" Target="https://docs.aws.amazon.com/prescriptive-guidance/latest/serverless-etl-aws-glue/aws-glue-data-catalog.html" TargetMode="External"/><Relationship Id="rId1" Type="http://schemas.openxmlformats.org/officeDocument/2006/relationships/slideLayout" Target="../slideLayouts/slideLayout2.xml"/><Relationship Id="rId6" Type="http://schemas.openxmlformats.org/officeDocument/2006/relationships/hyperlink" Target="https://aws.amazon.com/kendra/" TargetMode="External"/><Relationship Id="rId11" Type="http://schemas.openxmlformats.org/officeDocument/2006/relationships/hyperlink" Target="https://aws.amazon.com/sagemaker-ai/" TargetMode="External"/><Relationship Id="rId24" Type="http://schemas.openxmlformats.org/officeDocument/2006/relationships/hyperlink" Target="https://aws.amazon.com/quicksight/" TargetMode="External"/><Relationship Id="rId5" Type="http://schemas.openxmlformats.org/officeDocument/2006/relationships/hyperlink" Target="https://aws.amazon.com/translate/" TargetMode="External"/><Relationship Id="rId15" Type="http://schemas.openxmlformats.org/officeDocument/2006/relationships/hyperlink" Target="https://aws.amazon.com/q/developer/" TargetMode="External"/><Relationship Id="rId23" Type="http://schemas.openxmlformats.org/officeDocument/2006/relationships/hyperlink" Target="https://aws.amazon.com/athena/" TargetMode="External"/><Relationship Id="rId10" Type="http://schemas.openxmlformats.org/officeDocument/2006/relationships/hyperlink" Target="https://aws.amazon.com/personalize/" TargetMode="External"/><Relationship Id="rId19" Type="http://schemas.openxmlformats.org/officeDocument/2006/relationships/hyperlink" Target="https://aws.amazon.com/redshift/" TargetMode="External"/><Relationship Id="rId4" Type="http://schemas.openxmlformats.org/officeDocument/2006/relationships/hyperlink" Target="https://aws.amazon.com/transcribe/" TargetMode="External"/><Relationship Id="rId9" Type="http://schemas.openxmlformats.org/officeDocument/2006/relationships/hyperlink" Target="https://aws.amazon.com/lex/" TargetMode="External"/><Relationship Id="rId14" Type="http://schemas.openxmlformats.org/officeDocument/2006/relationships/hyperlink" Target="https://aws.amazon.com/q/business/" TargetMode="External"/><Relationship Id="rId22" Type="http://schemas.openxmlformats.org/officeDocument/2006/relationships/hyperlink" Target="https://aws.amazon.com/em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smtClean="0"/>
              <a:t>Module 8 </a:t>
            </a:r>
            <a:endParaRPr lang="en-US" dirty="0"/>
          </a:p>
        </p:txBody>
      </p:sp>
      <p:sp>
        <p:nvSpPr>
          <p:cNvPr id="3" name="Subtitle 2"/>
          <p:cNvSpPr>
            <a:spLocks noGrp="1"/>
          </p:cNvSpPr>
          <p:nvPr>
            <p:ph type="subTitle" idx="1"/>
          </p:nvPr>
        </p:nvSpPr>
        <p:spPr/>
        <p:txBody>
          <a:bodyPr/>
          <a:lstStyle/>
          <a:p>
            <a:r>
              <a:rPr lang="en-US" sz="6000" b="1" dirty="0" smtClean="0"/>
              <a:t>AI ML and Data Analytics</a:t>
            </a:r>
            <a:r>
              <a:rPr lang="en-US" b="1" dirty="0" smtClean="0"/>
              <a:t/>
            </a:r>
            <a:br>
              <a:rPr lang="en-US" b="1" dirty="0" smtClean="0"/>
            </a:br>
            <a:endParaRPr lang="en-US" dirty="0"/>
          </a:p>
        </p:txBody>
      </p:sp>
    </p:spTree>
    <p:extLst>
      <p:ext uri="{BB962C8B-B14F-4D97-AF65-F5344CB8AC3E}">
        <p14:creationId xmlns:p14="http://schemas.microsoft.com/office/powerpoint/2010/main" val="5071429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Outline</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smtClean="0"/>
              <a:t>MODULE 8 INTRODUCTION</a:t>
            </a:r>
          </a:p>
          <a:p>
            <a:pPr lvl="1"/>
            <a:r>
              <a:rPr lang="en-US" dirty="0" smtClean="0">
                <a:effectLst/>
              </a:rPr>
              <a:t>Introduction to AI and Machine Learning</a:t>
            </a:r>
          </a:p>
          <a:p>
            <a:r>
              <a:rPr lang="en-US" b="1" dirty="0" smtClean="0"/>
              <a:t>AI/ML ON AWS</a:t>
            </a:r>
          </a:p>
          <a:p>
            <a:pPr lvl="1"/>
            <a:r>
              <a:rPr lang="en-US" dirty="0" smtClean="0">
                <a:effectLst/>
              </a:rPr>
              <a:t>AI/ML on AWS</a:t>
            </a:r>
          </a:p>
          <a:p>
            <a:pPr lvl="1"/>
            <a:r>
              <a:rPr lang="en-US" dirty="0" smtClean="0">
                <a:effectLst/>
              </a:rPr>
              <a:t>AWS AI/ML Solutions</a:t>
            </a:r>
          </a:p>
          <a:p>
            <a:pPr lvl="1"/>
            <a:r>
              <a:rPr lang="en-US" dirty="0" smtClean="0">
                <a:effectLst/>
              </a:rPr>
              <a:t>Introduction to Generative AI on AWS</a:t>
            </a:r>
          </a:p>
          <a:p>
            <a:pPr lvl="1"/>
            <a:r>
              <a:rPr lang="en-US" dirty="0" smtClean="0">
                <a:effectLst/>
              </a:rPr>
              <a:t>AWS Generative AI Solutions</a:t>
            </a:r>
          </a:p>
          <a:p>
            <a:r>
              <a:rPr lang="en-US" b="1" dirty="0" smtClean="0"/>
              <a:t>DATA ANALYTICS ON AWS</a:t>
            </a:r>
          </a:p>
          <a:p>
            <a:pPr lvl="1"/>
            <a:r>
              <a:rPr lang="en-US" dirty="0" smtClean="0">
                <a:effectLst/>
              </a:rPr>
              <a:t>Introduction to Data Analytics</a:t>
            </a:r>
          </a:p>
          <a:p>
            <a:pPr lvl="1"/>
            <a:r>
              <a:rPr lang="en-US" dirty="0" smtClean="0">
                <a:effectLst/>
              </a:rPr>
              <a:t>Data Pipelines on AWS</a:t>
            </a:r>
          </a:p>
          <a:p>
            <a:r>
              <a:rPr lang="en-US" b="1" dirty="0" smtClean="0"/>
              <a:t>CLOUD IN REAL LIFE</a:t>
            </a:r>
          </a:p>
          <a:p>
            <a:pPr lvl="1"/>
            <a:r>
              <a:rPr lang="en-US" dirty="0" smtClean="0">
                <a:effectLst/>
              </a:rPr>
              <a:t>Data Analytics and AI/ML</a:t>
            </a:r>
          </a:p>
          <a:p>
            <a:endParaRPr lang="en-US" dirty="0"/>
          </a:p>
        </p:txBody>
      </p:sp>
    </p:spTree>
    <p:extLst>
      <p:ext uri="{BB962C8B-B14F-4D97-AF65-F5344CB8AC3E}">
        <p14:creationId xmlns:p14="http://schemas.microsoft.com/office/powerpoint/2010/main" val="30053616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488" y="2568829"/>
            <a:ext cx="10515600" cy="1325563"/>
          </a:xfrm>
        </p:spPr>
        <p:txBody>
          <a:bodyPr/>
          <a:lstStyle/>
          <a:p>
            <a:pPr algn="ctr"/>
            <a:r>
              <a:rPr lang="en-US" b="1" dirty="0" smtClean="0"/>
              <a:t>Introduction to AI and Machine Learning</a:t>
            </a:r>
            <a:endParaRPr lang="en-US" dirty="0"/>
          </a:p>
        </p:txBody>
      </p:sp>
    </p:spTree>
    <p:extLst>
      <p:ext uri="{BB962C8B-B14F-4D97-AF65-F5344CB8AC3E}">
        <p14:creationId xmlns:p14="http://schemas.microsoft.com/office/powerpoint/2010/main" val="26488634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 concepts</a:t>
            </a:r>
            <a:endParaRPr lang="en-US" dirty="0"/>
          </a:p>
        </p:txBody>
      </p:sp>
      <p:sp>
        <p:nvSpPr>
          <p:cNvPr id="3" name="Content Placeholder 2"/>
          <p:cNvSpPr>
            <a:spLocks noGrp="1"/>
          </p:cNvSpPr>
          <p:nvPr>
            <p:ph idx="1"/>
          </p:nvPr>
        </p:nvSpPr>
        <p:spPr/>
        <p:txBody>
          <a:bodyPr>
            <a:normAutofit lnSpcReduction="10000"/>
          </a:bodyPr>
          <a:lstStyle/>
          <a:p>
            <a:r>
              <a:rPr lang="en-US" dirty="0" smtClean="0">
                <a:effectLst/>
              </a:rPr>
              <a:t>Let's review a couple of key definitions for artificial intelligence and machine learning. You will build on these concepts in the following lessons. </a:t>
            </a:r>
          </a:p>
          <a:p>
            <a:pPr lvl="1"/>
            <a:r>
              <a:rPr lang="en-US" b="1" dirty="0" smtClean="0"/>
              <a:t>AI</a:t>
            </a:r>
          </a:p>
          <a:p>
            <a:pPr lvl="2"/>
            <a:r>
              <a:rPr lang="en-US" dirty="0"/>
              <a:t>Artificial Intelligence is a broad field focused on the development of intelligent computer systems capable of performing humanlike tasks. </a:t>
            </a:r>
            <a:endParaRPr lang="en-US" dirty="0" smtClean="0"/>
          </a:p>
          <a:p>
            <a:pPr lvl="1"/>
            <a:r>
              <a:rPr lang="en-US" b="1" dirty="0" smtClean="0"/>
              <a:t>ML</a:t>
            </a:r>
          </a:p>
          <a:p>
            <a:pPr lvl="2"/>
            <a:r>
              <a:rPr lang="en-US" dirty="0"/>
              <a:t>Machine learning is a type of AI for training machines to perform complex tasks without explicit instructions. </a:t>
            </a:r>
            <a:endParaRPr lang="en-US" dirty="0" smtClean="0"/>
          </a:p>
          <a:p>
            <a:pPr lvl="2"/>
            <a:r>
              <a:rPr lang="en-US" dirty="0" smtClean="0"/>
              <a:t>Machine </a:t>
            </a:r>
            <a:r>
              <a:rPr lang="en-US" dirty="0"/>
              <a:t>learning training finds the patterns hidden in vast amounts of historical data to produce an ML model. </a:t>
            </a:r>
            <a:endParaRPr lang="en-US" dirty="0" smtClean="0"/>
          </a:p>
          <a:p>
            <a:pPr lvl="2"/>
            <a:r>
              <a:rPr lang="en-US" dirty="0" smtClean="0"/>
              <a:t>This </a:t>
            </a:r>
            <a:r>
              <a:rPr lang="en-US" dirty="0"/>
              <a:t>ML model can then be applied to new data to make predictions or decisions based on the patterns it's learned.</a:t>
            </a:r>
            <a:endParaRPr lang="en-US" dirty="0" smtClean="0"/>
          </a:p>
          <a:p>
            <a:pPr lvl="1"/>
            <a:endParaRPr lang="en-US" dirty="0" smtClean="0">
              <a:effectLst/>
            </a:endParaRPr>
          </a:p>
          <a:p>
            <a:endParaRPr lang="en-US" dirty="0"/>
          </a:p>
        </p:txBody>
      </p:sp>
    </p:spTree>
    <p:extLst>
      <p:ext uri="{BB962C8B-B14F-4D97-AF65-F5344CB8AC3E}">
        <p14:creationId xmlns:p14="http://schemas.microsoft.com/office/powerpoint/2010/main" val="22909346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048" y="2879725"/>
            <a:ext cx="10515600" cy="1325563"/>
          </a:xfrm>
        </p:spPr>
        <p:txBody>
          <a:bodyPr/>
          <a:lstStyle/>
          <a:p>
            <a:pPr algn="ctr"/>
            <a:r>
              <a:rPr lang="en-US" b="1" dirty="0" smtClean="0"/>
              <a:t>AI/ML on AWS</a:t>
            </a:r>
            <a:endParaRPr lang="en-US" dirty="0"/>
          </a:p>
        </p:txBody>
      </p:sp>
    </p:spTree>
    <p:extLst>
      <p:ext uri="{BB962C8B-B14F-4D97-AF65-F5344CB8AC3E}">
        <p14:creationId xmlns:p14="http://schemas.microsoft.com/office/powerpoint/2010/main" val="3025894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effectLst/>
              </a:rPr>
              <a:t>Identify common business use cases for AI/ML.</a:t>
            </a:r>
            <a:endParaRPr lang="en-US" dirty="0" smtClean="0"/>
          </a:p>
          <a:p>
            <a:r>
              <a:rPr lang="en-US" dirty="0" smtClean="0">
                <a:effectLst/>
              </a:rPr>
              <a:t>Identify the three tiers of AI/ML solutions offered by the AWS AI/ML stack.</a:t>
            </a:r>
            <a:endParaRPr lang="en-US" dirty="0" smtClean="0"/>
          </a:p>
          <a:p>
            <a:endParaRPr lang="en-US" dirty="0"/>
          </a:p>
        </p:txBody>
      </p:sp>
    </p:spTree>
    <p:extLst>
      <p:ext uri="{BB962C8B-B14F-4D97-AF65-F5344CB8AC3E}">
        <p14:creationId xmlns:p14="http://schemas.microsoft.com/office/powerpoint/2010/main" val="18488584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AWS AI/ML three tiers</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AI/ML helps solve for many common business use cases. </a:t>
            </a:r>
          </a:p>
          <a:p>
            <a:r>
              <a:rPr lang="en-US" dirty="0" smtClean="0"/>
              <a:t>At AWS, solutions for these common use cases, and others, are offered through the AWS AI/ML stack:</a:t>
            </a:r>
          </a:p>
          <a:p>
            <a:pPr marL="514350" indent="-514350">
              <a:buAutoNum type="arabicPeriod"/>
            </a:pPr>
            <a:r>
              <a:rPr lang="en-US" b="1" dirty="0" smtClean="0"/>
              <a:t>AWS AI Services (Pre-trained, Plug-and-Play)</a:t>
            </a:r>
          </a:p>
          <a:p>
            <a:pPr lvl="1"/>
            <a:r>
              <a:rPr lang="en-US" dirty="0" smtClean="0"/>
              <a:t>These are </a:t>
            </a:r>
            <a:r>
              <a:rPr lang="en-US" b="1" dirty="0" smtClean="0"/>
              <a:t>fully managed APIs</a:t>
            </a:r>
            <a:r>
              <a:rPr lang="en-US" dirty="0" smtClean="0"/>
              <a:t> with </a:t>
            </a:r>
            <a:r>
              <a:rPr lang="en-US" b="1" dirty="0" smtClean="0"/>
              <a:t>pre-built, pre-trained ML models</a:t>
            </a:r>
            <a:r>
              <a:rPr lang="en-US" dirty="0" smtClean="0"/>
              <a:t> that solve specific business problems without needing ML expertise.</a:t>
            </a:r>
          </a:p>
          <a:p>
            <a:pPr lvl="1"/>
            <a:r>
              <a:rPr lang="en-US" b="1" dirty="0" smtClean="0"/>
              <a:t>Examples:</a:t>
            </a:r>
            <a:endParaRPr lang="en-US" dirty="0" smtClean="0"/>
          </a:p>
          <a:p>
            <a:pPr lvl="2"/>
            <a:r>
              <a:rPr lang="en-US" b="1" dirty="0" smtClean="0"/>
              <a:t>Amazon Polly</a:t>
            </a:r>
            <a:r>
              <a:rPr lang="en-US" dirty="0" smtClean="0"/>
              <a:t> → Converts text to speech (great for voice assistants or accessibility apps).</a:t>
            </a:r>
          </a:p>
          <a:p>
            <a:pPr lvl="2"/>
            <a:r>
              <a:rPr lang="en-US" b="1" dirty="0" smtClean="0"/>
              <a:t>Amazon Comprehend</a:t>
            </a:r>
            <a:r>
              <a:rPr lang="en-US" dirty="0" smtClean="0"/>
              <a:t> → Natural language processing (sentiment analysis, topic extraction).</a:t>
            </a:r>
          </a:p>
          <a:p>
            <a:pPr lvl="2"/>
            <a:r>
              <a:rPr lang="en-US" b="1" dirty="0" smtClean="0"/>
              <a:t>Amazon </a:t>
            </a:r>
            <a:r>
              <a:rPr lang="en-US" b="1" dirty="0" err="1" smtClean="0"/>
              <a:t>Rekognition</a:t>
            </a:r>
            <a:r>
              <a:rPr lang="en-US" dirty="0" smtClean="0"/>
              <a:t> → Image &amp; video analysis (object detection, face recognition).</a:t>
            </a:r>
          </a:p>
          <a:p>
            <a:pPr lvl="2"/>
            <a:r>
              <a:rPr lang="en-US" b="1" dirty="0" smtClean="0"/>
              <a:t>Amazon Transcribe</a:t>
            </a:r>
            <a:r>
              <a:rPr lang="en-US" dirty="0" smtClean="0"/>
              <a:t> → Automatic speech-to-text.</a:t>
            </a:r>
          </a:p>
          <a:p>
            <a:pPr lvl="2"/>
            <a:r>
              <a:rPr lang="en-US" b="1" dirty="0" smtClean="0"/>
              <a:t>Amazon Translate</a:t>
            </a:r>
            <a:r>
              <a:rPr lang="en-US" dirty="0" smtClean="0"/>
              <a:t> → Real-time translation across multiple languages.</a:t>
            </a:r>
          </a:p>
          <a:p>
            <a:pPr lvl="1"/>
            <a:endParaRPr lang="en-US" b="1" dirty="0"/>
          </a:p>
        </p:txBody>
      </p:sp>
    </p:spTree>
    <p:extLst>
      <p:ext uri="{BB962C8B-B14F-4D97-AF65-F5344CB8AC3E}">
        <p14:creationId xmlns:p14="http://schemas.microsoft.com/office/powerpoint/2010/main" val="17814459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AWS AI Services (Pre-trained, Plug-and-Play)</a:t>
            </a:r>
            <a:endParaRPr lang="en-US" dirty="0"/>
          </a:p>
        </p:txBody>
      </p:sp>
      <p:sp>
        <p:nvSpPr>
          <p:cNvPr id="3" name="Content Placeholder 2"/>
          <p:cNvSpPr>
            <a:spLocks noGrp="1"/>
          </p:cNvSpPr>
          <p:nvPr>
            <p:ph idx="1"/>
          </p:nvPr>
        </p:nvSpPr>
        <p:spPr/>
        <p:txBody>
          <a:bodyPr/>
          <a:lstStyle/>
          <a:p>
            <a:r>
              <a:rPr lang="en-US" b="1" dirty="0" smtClean="0"/>
              <a:t>Use cases:</a:t>
            </a:r>
            <a:endParaRPr lang="en-US" dirty="0" smtClean="0"/>
          </a:p>
          <a:p>
            <a:pPr lvl="1"/>
            <a:r>
              <a:rPr lang="en-US" dirty="0" smtClean="0"/>
              <a:t>Customer support </a:t>
            </a:r>
            <a:r>
              <a:rPr lang="en-US" dirty="0" err="1" smtClean="0"/>
              <a:t>chatbots</a:t>
            </a:r>
            <a:r>
              <a:rPr lang="en-US" dirty="0" smtClean="0"/>
              <a:t> that understand and respond to natural language.</a:t>
            </a:r>
          </a:p>
          <a:p>
            <a:pPr lvl="1"/>
            <a:r>
              <a:rPr lang="en-US" dirty="0" smtClean="0"/>
              <a:t>Auto-generating subtitles for videos in multiple languages.</a:t>
            </a:r>
          </a:p>
          <a:p>
            <a:pPr lvl="1"/>
            <a:r>
              <a:rPr lang="en-US" dirty="0" smtClean="0"/>
              <a:t>Detecting inappropriate content in user-uploaded images.</a:t>
            </a:r>
          </a:p>
          <a:p>
            <a:pPr lvl="1"/>
            <a:r>
              <a:rPr lang="en-US" dirty="0" smtClean="0"/>
              <a:t>Voice-enabled applications (e.g., reading news aloud).</a:t>
            </a:r>
          </a:p>
          <a:p>
            <a:pPr lvl="1"/>
            <a:endParaRPr lang="en-US" b="1" dirty="0" smtClean="0"/>
          </a:p>
          <a:p>
            <a:pPr marL="457200" lvl="1" indent="0">
              <a:buNone/>
            </a:pPr>
            <a:endParaRPr lang="en-US" b="1" dirty="0"/>
          </a:p>
          <a:p>
            <a:pPr marL="457200" lvl="1" indent="0">
              <a:buNone/>
            </a:pPr>
            <a:r>
              <a:rPr lang="en-US" b="1" dirty="0" smtClean="0"/>
              <a:t>Best when:</a:t>
            </a:r>
            <a:r>
              <a:rPr lang="en-US" dirty="0" smtClean="0"/>
              <a:t> You want </a:t>
            </a:r>
            <a:r>
              <a:rPr lang="en-US" b="1" dirty="0" smtClean="0"/>
              <a:t>fast results</a:t>
            </a:r>
            <a:r>
              <a:rPr lang="en-US" dirty="0" smtClean="0"/>
              <a:t>, no ML expertise, and </a:t>
            </a:r>
            <a:r>
              <a:rPr lang="en-US" b="1" dirty="0" smtClean="0"/>
              <a:t>don’t need to customize models deeply</a:t>
            </a:r>
            <a:r>
              <a:rPr lang="en-US" dirty="0" smtClean="0"/>
              <a:t>.</a:t>
            </a:r>
          </a:p>
          <a:p>
            <a:pPr lvl="1"/>
            <a:endParaRPr lang="en-US" dirty="0"/>
          </a:p>
        </p:txBody>
      </p:sp>
    </p:spTree>
    <p:extLst>
      <p:ext uri="{BB962C8B-B14F-4D97-AF65-F5344CB8AC3E}">
        <p14:creationId xmlns:p14="http://schemas.microsoft.com/office/powerpoint/2010/main" val="32277708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AWS ML Services (Build, Train, Deploy with </a:t>
            </a:r>
            <a:r>
              <a:rPr lang="en-US" b="1" dirty="0" err="1" smtClean="0"/>
              <a:t>SageMaker</a:t>
            </a:r>
            <a:r>
              <a:rPr lang="en-US" b="1" dirty="0" smtClean="0"/>
              <a:t>)</a:t>
            </a:r>
            <a:endParaRPr lang="en-US" b="1" dirty="0"/>
          </a:p>
        </p:txBody>
      </p:sp>
      <p:sp>
        <p:nvSpPr>
          <p:cNvPr id="3" name="Content Placeholder 2"/>
          <p:cNvSpPr>
            <a:spLocks noGrp="1"/>
          </p:cNvSpPr>
          <p:nvPr>
            <p:ph idx="1"/>
          </p:nvPr>
        </p:nvSpPr>
        <p:spPr>
          <a:xfrm>
            <a:off x="838200" y="1825624"/>
            <a:ext cx="10515600" cy="5032376"/>
          </a:xfrm>
        </p:spPr>
        <p:txBody>
          <a:bodyPr>
            <a:normAutofit fontScale="77500" lnSpcReduction="20000"/>
          </a:bodyPr>
          <a:lstStyle/>
          <a:p>
            <a:r>
              <a:rPr lang="en-US" dirty="0" smtClean="0"/>
              <a:t>These services give you the </a:t>
            </a:r>
            <a:r>
              <a:rPr lang="en-US" b="1" dirty="0" smtClean="0"/>
              <a:t>flexibility to build your own models</a:t>
            </a:r>
            <a:r>
              <a:rPr lang="en-US" dirty="0" smtClean="0"/>
              <a:t> on a </a:t>
            </a:r>
            <a:r>
              <a:rPr lang="en-US" b="1" dirty="0" smtClean="0"/>
              <a:t>fully managed ML platform</a:t>
            </a:r>
            <a:r>
              <a:rPr lang="en-US" dirty="0" smtClean="0"/>
              <a:t>. </a:t>
            </a:r>
          </a:p>
          <a:p>
            <a:r>
              <a:rPr lang="en-US" dirty="0" smtClean="0"/>
              <a:t>The flagship here is </a:t>
            </a:r>
            <a:r>
              <a:rPr lang="en-US" b="1" dirty="0" smtClean="0"/>
              <a:t>Amazon </a:t>
            </a:r>
            <a:r>
              <a:rPr lang="en-US" b="1" dirty="0" err="1" smtClean="0"/>
              <a:t>SageMaker</a:t>
            </a:r>
            <a:r>
              <a:rPr lang="en-US" dirty="0" smtClean="0"/>
              <a:t>.</a:t>
            </a:r>
          </a:p>
          <a:p>
            <a:r>
              <a:rPr lang="en-US" b="1" dirty="0" smtClean="0"/>
              <a:t>What </a:t>
            </a:r>
            <a:r>
              <a:rPr lang="en-US" b="1" dirty="0" err="1" smtClean="0"/>
              <a:t>SageMaker</a:t>
            </a:r>
            <a:r>
              <a:rPr lang="en-US" b="1" dirty="0" smtClean="0"/>
              <a:t> offers:</a:t>
            </a:r>
            <a:endParaRPr lang="en-US" dirty="0" smtClean="0"/>
          </a:p>
          <a:p>
            <a:pPr lvl="1"/>
            <a:r>
              <a:rPr lang="en-US" dirty="0" smtClean="0"/>
              <a:t>Data labeling &amp; preprocessing.</a:t>
            </a:r>
          </a:p>
          <a:p>
            <a:pPr lvl="1"/>
            <a:r>
              <a:rPr lang="en-US" dirty="0" smtClean="0"/>
              <a:t>Model training at scale (distributed training jobs).</a:t>
            </a:r>
          </a:p>
          <a:p>
            <a:pPr lvl="1"/>
            <a:r>
              <a:rPr lang="en-US" dirty="0" err="1" smtClean="0"/>
              <a:t>Hyperparameter</a:t>
            </a:r>
            <a:r>
              <a:rPr lang="en-US" dirty="0" smtClean="0"/>
              <a:t> tuning.</a:t>
            </a:r>
          </a:p>
          <a:p>
            <a:pPr lvl="1"/>
            <a:r>
              <a:rPr lang="en-US" dirty="0" smtClean="0"/>
              <a:t>Model deployment with monitoring and debugging.</a:t>
            </a:r>
          </a:p>
          <a:p>
            <a:pPr lvl="1"/>
            <a:r>
              <a:rPr lang="en-US" dirty="0" smtClean="0"/>
              <a:t>Integration with </a:t>
            </a:r>
            <a:r>
              <a:rPr lang="en-US" dirty="0" err="1" smtClean="0"/>
              <a:t>Jupyter</a:t>
            </a:r>
            <a:r>
              <a:rPr lang="en-US" dirty="0" smtClean="0"/>
              <a:t> notebooks for experimentation.</a:t>
            </a:r>
          </a:p>
          <a:p>
            <a:r>
              <a:rPr lang="en-US" b="1" dirty="0" smtClean="0"/>
              <a:t>Use cases:</a:t>
            </a:r>
          </a:p>
          <a:p>
            <a:pPr lvl="1"/>
            <a:r>
              <a:rPr lang="en-US" dirty="0" smtClean="0"/>
              <a:t>Building a </a:t>
            </a:r>
            <a:r>
              <a:rPr lang="en-US" b="1" dirty="0" smtClean="0"/>
              <a:t>fraud detection</a:t>
            </a:r>
            <a:r>
              <a:rPr lang="en-US" dirty="0" smtClean="0"/>
              <a:t> model for an online banking system.</a:t>
            </a:r>
          </a:p>
          <a:p>
            <a:pPr lvl="1"/>
            <a:r>
              <a:rPr lang="en-US" dirty="0" smtClean="0"/>
              <a:t>Training a </a:t>
            </a:r>
            <a:r>
              <a:rPr lang="en-US" b="1" dirty="0" smtClean="0"/>
              <a:t>personalized recommendation engine</a:t>
            </a:r>
            <a:r>
              <a:rPr lang="en-US" dirty="0" smtClean="0"/>
              <a:t> beyond what AWS AI services offer.</a:t>
            </a:r>
          </a:p>
          <a:p>
            <a:pPr lvl="1"/>
            <a:r>
              <a:rPr lang="en-US" dirty="0" smtClean="0"/>
              <a:t>Predicting </a:t>
            </a:r>
            <a:r>
              <a:rPr lang="en-US" b="1" dirty="0" smtClean="0"/>
              <a:t>demand for coffee beans</a:t>
            </a:r>
            <a:r>
              <a:rPr lang="en-US" dirty="0" smtClean="0"/>
              <a:t> in your coffee shop chain based on past sales.</a:t>
            </a:r>
          </a:p>
          <a:p>
            <a:pPr lvl="1"/>
            <a:r>
              <a:rPr lang="en-US" dirty="0" smtClean="0"/>
              <a:t>Custom </a:t>
            </a:r>
            <a:r>
              <a:rPr lang="en-US" b="1" dirty="0" smtClean="0"/>
              <a:t>voice recognition system</a:t>
            </a:r>
            <a:r>
              <a:rPr lang="en-US" dirty="0" smtClean="0"/>
              <a:t> tuned to your business vocabulary.</a:t>
            </a:r>
          </a:p>
          <a:p>
            <a:pPr lvl="1"/>
            <a:endParaRPr lang="en-US" b="1" dirty="0" smtClean="0"/>
          </a:p>
          <a:p>
            <a:r>
              <a:rPr lang="en-US" b="1" dirty="0" smtClean="0"/>
              <a:t>Best when:</a:t>
            </a:r>
            <a:r>
              <a:rPr lang="en-US" dirty="0" smtClean="0"/>
              <a:t> You need </a:t>
            </a:r>
            <a:r>
              <a:rPr lang="en-US" b="1" dirty="0" smtClean="0"/>
              <a:t>customization</a:t>
            </a:r>
            <a:r>
              <a:rPr lang="en-US" dirty="0" smtClean="0"/>
              <a:t>, </a:t>
            </a:r>
            <a:r>
              <a:rPr lang="en-US" b="1" dirty="0" smtClean="0"/>
              <a:t>own data</a:t>
            </a:r>
            <a:r>
              <a:rPr lang="en-US" dirty="0" smtClean="0"/>
              <a:t>, and want more control without managing servers or ML infrastructure.</a:t>
            </a:r>
          </a:p>
          <a:p>
            <a:pPr lvl="1"/>
            <a:endParaRPr lang="en-US" dirty="0" smtClean="0"/>
          </a:p>
          <a:p>
            <a:pPr lvl="1"/>
            <a:endParaRPr lang="en-US" dirty="0" smtClean="0"/>
          </a:p>
          <a:p>
            <a:endParaRPr lang="en-US" dirty="0"/>
          </a:p>
        </p:txBody>
      </p:sp>
    </p:spTree>
    <p:extLst>
      <p:ext uri="{BB962C8B-B14F-4D97-AF65-F5344CB8AC3E}">
        <p14:creationId xmlns:p14="http://schemas.microsoft.com/office/powerpoint/2010/main" val="22894772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 AWS Frameworks &amp; Infrastructure (Custom, Deep ML/AI Workloads)</a:t>
            </a:r>
            <a:endParaRPr lang="en-US" b="1" dirty="0"/>
          </a:p>
        </p:txBody>
      </p:sp>
      <p:sp>
        <p:nvSpPr>
          <p:cNvPr id="3" name="Content Placeholder 2"/>
          <p:cNvSpPr>
            <a:spLocks noGrp="1"/>
          </p:cNvSpPr>
          <p:nvPr>
            <p:ph idx="1"/>
          </p:nvPr>
        </p:nvSpPr>
        <p:spPr>
          <a:xfrm>
            <a:off x="838200" y="1825624"/>
            <a:ext cx="10515600" cy="5032375"/>
          </a:xfrm>
        </p:spPr>
        <p:txBody>
          <a:bodyPr>
            <a:normAutofit fontScale="85000" lnSpcReduction="20000"/>
          </a:bodyPr>
          <a:lstStyle/>
          <a:p>
            <a:r>
              <a:rPr lang="en-US" dirty="0" smtClean="0"/>
              <a:t>This is the </a:t>
            </a:r>
            <a:r>
              <a:rPr lang="en-US" b="1" dirty="0" smtClean="0"/>
              <a:t>most flexible</a:t>
            </a:r>
            <a:r>
              <a:rPr lang="en-US" dirty="0" smtClean="0"/>
              <a:t> layer for businesses with </a:t>
            </a:r>
            <a:r>
              <a:rPr lang="en-US" b="1" dirty="0" smtClean="0"/>
              <a:t>expert ML teams</a:t>
            </a:r>
            <a:r>
              <a:rPr lang="en-US" dirty="0" smtClean="0"/>
              <a:t>. You build ML pipelines from scratch using popular frameworks (</a:t>
            </a:r>
            <a:r>
              <a:rPr lang="en-US" dirty="0" err="1" smtClean="0"/>
              <a:t>TensorFlow</a:t>
            </a:r>
            <a:r>
              <a:rPr lang="en-US" dirty="0" smtClean="0"/>
              <a:t>, </a:t>
            </a:r>
            <a:r>
              <a:rPr lang="en-US" dirty="0" err="1" smtClean="0"/>
              <a:t>PyTorch</a:t>
            </a:r>
            <a:r>
              <a:rPr lang="en-US" dirty="0" smtClean="0"/>
              <a:t>, </a:t>
            </a:r>
            <a:r>
              <a:rPr lang="en-US" dirty="0" err="1" smtClean="0"/>
              <a:t>MXNet</a:t>
            </a:r>
            <a:r>
              <a:rPr lang="en-US" dirty="0" smtClean="0"/>
              <a:t>) on </a:t>
            </a:r>
            <a:r>
              <a:rPr lang="en-US" b="1" dirty="0" smtClean="0"/>
              <a:t>specialized AWS infrastructure</a:t>
            </a:r>
            <a:r>
              <a:rPr lang="en-US" dirty="0" smtClean="0"/>
              <a:t>.</a:t>
            </a:r>
          </a:p>
          <a:p>
            <a:r>
              <a:rPr lang="en-US" dirty="0" smtClean="0"/>
              <a:t> </a:t>
            </a:r>
            <a:r>
              <a:rPr lang="en-US" b="1" dirty="0" smtClean="0"/>
              <a:t>Infrastructure options:</a:t>
            </a:r>
            <a:endParaRPr lang="en-US" dirty="0" smtClean="0"/>
          </a:p>
          <a:p>
            <a:pPr lvl="1"/>
            <a:r>
              <a:rPr lang="en-US" b="1" dirty="0" smtClean="0"/>
              <a:t>EC2 P3 / P4 Instances</a:t>
            </a:r>
            <a:r>
              <a:rPr lang="en-US" dirty="0" smtClean="0"/>
              <a:t> → GPU-based, optimized for ML training.</a:t>
            </a:r>
          </a:p>
          <a:p>
            <a:pPr lvl="1"/>
            <a:r>
              <a:rPr lang="en-US" b="1" dirty="0" smtClean="0"/>
              <a:t>AWS </a:t>
            </a:r>
            <a:r>
              <a:rPr lang="en-US" b="1" dirty="0" err="1" smtClean="0"/>
              <a:t>Inferentia</a:t>
            </a:r>
            <a:r>
              <a:rPr lang="en-US" b="1" dirty="0" smtClean="0"/>
              <a:t> &amp; </a:t>
            </a:r>
            <a:r>
              <a:rPr lang="en-US" b="1" dirty="0" err="1" smtClean="0"/>
              <a:t>Trainium</a:t>
            </a:r>
            <a:r>
              <a:rPr lang="en-US" b="1" dirty="0" smtClean="0"/>
              <a:t> Chips</a:t>
            </a:r>
            <a:r>
              <a:rPr lang="en-US" dirty="0" smtClean="0"/>
              <a:t> → Purpose-built ML accelerators for inference and training at scale.</a:t>
            </a:r>
          </a:p>
          <a:p>
            <a:pPr lvl="1"/>
            <a:r>
              <a:rPr lang="en-US" b="1" dirty="0" smtClean="0"/>
              <a:t>Deep Learning AMIs &amp; Containers</a:t>
            </a:r>
            <a:r>
              <a:rPr lang="en-US" dirty="0" smtClean="0"/>
              <a:t> → Pre-configured environments for </a:t>
            </a:r>
            <a:r>
              <a:rPr lang="en-US" dirty="0" err="1" smtClean="0"/>
              <a:t>TensorFlow</a:t>
            </a:r>
            <a:r>
              <a:rPr lang="en-US" dirty="0" smtClean="0"/>
              <a:t>, </a:t>
            </a:r>
            <a:r>
              <a:rPr lang="en-US" dirty="0" err="1" smtClean="0"/>
              <a:t>PyTorch</a:t>
            </a:r>
            <a:r>
              <a:rPr lang="en-US" dirty="0" smtClean="0"/>
              <a:t>, etc.</a:t>
            </a:r>
          </a:p>
          <a:p>
            <a:r>
              <a:rPr lang="en-US" b="1" dirty="0" smtClean="0"/>
              <a:t>Use cases:</a:t>
            </a:r>
            <a:endParaRPr lang="en-US" dirty="0" smtClean="0"/>
          </a:p>
          <a:p>
            <a:pPr lvl="1"/>
            <a:r>
              <a:rPr lang="en-US" dirty="0" smtClean="0"/>
              <a:t>Developing </a:t>
            </a:r>
            <a:r>
              <a:rPr lang="en-US" b="1" dirty="0" smtClean="0"/>
              <a:t>next-generation generative AI</a:t>
            </a:r>
            <a:r>
              <a:rPr lang="en-US" dirty="0" smtClean="0"/>
              <a:t> models (LLMs, image generators).</a:t>
            </a:r>
          </a:p>
          <a:p>
            <a:pPr lvl="1"/>
            <a:r>
              <a:rPr lang="en-US" dirty="0" smtClean="0"/>
              <a:t>Running </a:t>
            </a:r>
            <a:r>
              <a:rPr lang="en-US" b="1" dirty="0" smtClean="0"/>
              <a:t>massive-scale simulations</a:t>
            </a:r>
            <a:r>
              <a:rPr lang="en-US" dirty="0" smtClean="0"/>
              <a:t> for finance, healthcare, or climate.</a:t>
            </a:r>
          </a:p>
          <a:p>
            <a:pPr lvl="1"/>
            <a:r>
              <a:rPr lang="en-US" dirty="0" smtClean="0"/>
              <a:t>Training </a:t>
            </a:r>
            <a:r>
              <a:rPr lang="en-US" b="1" dirty="0" smtClean="0"/>
              <a:t>proprietary ML models</a:t>
            </a:r>
            <a:r>
              <a:rPr lang="en-US" dirty="0" smtClean="0"/>
              <a:t> with billions of parameters.</a:t>
            </a:r>
          </a:p>
          <a:p>
            <a:pPr lvl="1"/>
            <a:r>
              <a:rPr lang="en-US" dirty="0" smtClean="0"/>
              <a:t>Hosting your own </a:t>
            </a:r>
            <a:r>
              <a:rPr lang="en-US" b="1" dirty="0" smtClean="0"/>
              <a:t>specialized ML infrastructure</a:t>
            </a:r>
            <a:r>
              <a:rPr lang="en-US" dirty="0" smtClean="0"/>
              <a:t> with full control.</a:t>
            </a:r>
          </a:p>
          <a:p>
            <a:pPr marL="457200" lvl="1" indent="0">
              <a:buNone/>
            </a:pPr>
            <a:endParaRPr lang="en-US" dirty="0" smtClean="0"/>
          </a:p>
          <a:p>
            <a:r>
              <a:rPr lang="en-US" dirty="0" smtClean="0"/>
              <a:t> </a:t>
            </a:r>
            <a:r>
              <a:rPr lang="en-US" b="1" dirty="0" smtClean="0"/>
              <a:t>Best when:</a:t>
            </a:r>
            <a:r>
              <a:rPr lang="en-US" dirty="0" smtClean="0"/>
              <a:t> You need </a:t>
            </a:r>
            <a:r>
              <a:rPr lang="en-US" b="1" dirty="0" smtClean="0"/>
              <a:t>total flexibility</a:t>
            </a:r>
            <a:r>
              <a:rPr lang="en-US" dirty="0" smtClean="0"/>
              <a:t>, already have an </a:t>
            </a:r>
            <a:r>
              <a:rPr lang="en-US" b="1" dirty="0" smtClean="0"/>
              <a:t>experienced ML/data science team</a:t>
            </a:r>
            <a:r>
              <a:rPr lang="en-US" dirty="0" smtClean="0"/>
              <a:t>, and want to push the boundaries of ML innovation.</a:t>
            </a:r>
          </a:p>
          <a:p>
            <a:endParaRPr lang="en-US" dirty="0"/>
          </a:p>
        </p:txBody>
      </p:sp>
    </p:spTree>
    <p:extLst>
      <p:ext uri="{BB962C8B-B14F-4D97-AF65-F5344CB8AC3E}">
        <p14:creationId xmlns:p14="http://schemas.microsoft.com/office/powerpoint/2010/main" val="16718303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 brief</a:t>
            </a:r>
            <a:endParaRPr lang="en-US" b="1" dirty="0"/>
          </a:p>
        </p:txBody>
      </p:sp>
      <p:sp>
        <p:nvSpPr>
          <p:cNvPr id="3" name="Content Placeholder 2"/>
          <p:cNvSpPr>
            <a:spLocks noGrp="1"/>
          </p:cNvSpPr>
          <p:nvPr>
            <p:ph idx="1"/>
          </p:nvPr>
        </p:nvSpPr>
        <p:spPr/>
        <p:txBody>
          <a:bodyPr>
            <a:normAutofit/>
          </a:bodyPr>
          <a:lstStyle/>
          <a:p>
            <a:r>
              <a:rPr lang="en-US" b="1" dirty="0" smtClean="0"/>
              <a:t>AWS AI/ML solutions</a:t>
            </a:r>
          </a:p>
          <a:p>
            <a:r>
              <a:rPr lang="en-US" dirty="0" smtClean="0">
                <a:effectLst/>
              </a:rPr>
              <a:t>The AWS AI/ML stack is composed of the following three tiers of solutions:</a:t>
            </a:r>
            <a:endParaRPr lang="en-US" dirty="0" smtClean="0"/>
          </a:p>
          <a:p>
            <a:pPr lvl="1"/>
            <a:r>
              <a:rPr lang="en-US" b="1" i="1" dirty="0" smtClean="0">
                <a:effectLst/>
              </a:rPr>
              <a:t>AI services</a:t>
            </a:r>
            <a:r>
              <a:rPr lang="en-US" b="1" dirty="0" smtClean="0">
                <a:effectLst/>
              </a:rPr>
              <a:t> </a:t>
            </a:r>
            <a:r>
              <a:rPr lang="en-US" dirty="0" smtClean="0">
                <a:effectLst/>
              </a:rPr>
              <a:t>- pre-built models that are already trained to perform specific functions</a:t>
            </a:r>
            <a:endParaRPr lang="en-US" dirty="0" smtClean="0"/>
          </a:p>
          <a:p>
            <a:pPr lvl="1"/>
            <a:r>
              <a:rPr lang="en-US" b="1" i="1" dirty="0" smtClean="0">
                <a:effectLst/>
              </a:rPr>
              <a:t>ML services</a:t>
            </a:r>
            <a:r>
              <a:rPr lang="en-US" b="1" dirty="0" smtClean="0">
                <a:effectLst/>
              </a:rPr>
              <a:t> </a:t>
            </a:r>
            <a:r>
              <a:rPr lang="en-US" dirty="0" smtClean="0">
                <a:effectLst/>
              </a:rPr>
              <a:t>- a more customized approach with Amazon </a:t>
            </a:r>
            <a:r>
              <a:rPr lang="en-US" dirty="0" err="1" smtClean="0">
                <a:effectLst/>
              </a:rPr>
              <a:t>SageMaker</a:t>
            </a:r>
            <a:r>
              <a:rPr lang="en-US" dirty="0" smtClean="0">
                <a:effectLst/>
              </a:rPr>
              <a:t> AI where you build, train, and deploy your own ML models with fully managed infrastructure</a:t>
            </a:r>
            <a:endParaRPr lang="en-US" dirty="0" smtClean="0"/>
          </a:p>
          <a:p>
            <a:pPr lvl="1"/>
            <a:r>
              <a:rPr lang="en-US" b="1" i="1" dirty="0" smtClean="0">
                <a:effectLst/>
              </a:rPr>
              <a:t>ML frameworks and infrastructure</a:t>
            </a:r>
            <a:r>
              <a:rPr lang="en-US" b="1" dirty="0" smtClean="0">
                <a:effectLst/>
              </a:rPr>
              <a:t> </a:t>
            </a:r>
            <a:r>
              <a:rPr lang="en-US" dirty="0" smtClean="0">
                <a:effectLst/>
              </a:rPr>
              <a:t>- a completely custom approach to building models using purpose-built chips that integrate with popular ML frameworks</a:t>
            </a:r>
            <a:endParaRPr lang="en-US" dirty="0" smtClean="0"/>
          </a:p>
          <a:p>
            <a:endParaRPr lang="en-US" dirty="0"/>
          </a:p>
        </p:txBody>
      </p:sp>
      <p:pic>
        <p:nvPicPr>
          <p:cNvPr id="4" name="Picture 3"/>
          <p:cNvPicPr>
            <a:picLocks noChangeAspect="1"/>
          </p:cNvPicPr>
          <p:nvPr/>
        </p:nvPicPr>
        <p:blipFill>
          <a:blip r:embed="rId2"/>
          <a:stretch>
            <a:fillRect/>
          </a:stretch>
        </p:blipFill>
        <p:spPr>
          <a:xfrm>
            <a:off x="5824728" y="5663148"/>
            <a:ext cx="5440680" cy="1188461"/>
          </a:xfrm>
          <a:prstGeom prst="rect">
            <a:avLst/>
          </a:prstGeom>
        </p:spPr>
      </p:pic>
    </p:spTree>
    <p:extLst>
      <p:ext uri="{BB962C8B-B14F-4D97-AF65-F5344CB8AC3E}">
        <p14:creationId xmlns:p14="http://schemas.microsoft.com/office/powerpoint/2010/main" val="8536336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744" y="2797429"/>
            <a:ext cx="10515600" cy="1325563"/>
          </a:xfrm>
        </p:spPr>
        <p:txBody>
          <a:bodyPr/>
          <a:lstStyle/>
          <a:p>
            <a:pPr algn="ctr"/>
            <a:r>
              <a:rPr lang="en-US" b="1" dirty="0" smtClean="0"/>
              <a:t>AWS AI/ML Solutions</a:t>
            </a:r>
            <a:endParaRPr lang="en-US" dirty="0"/>
          </a:p>
        </p:txBody>
      </p:sp>
    </p:spTree>
    <p:extLst>
      <p:ext uri="{BB962C8B-B14F-4D97-AF65-F5344CB8AC3E}">
        <p14:creationId xmlns:p14="http://schemas.microsoft.com/office/powerpoint/2010/main" val="8763445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t>Describe the benefits and purpose of the services contained in each tier of the AWS AI/ML stack.</a:t>
            </a:r>
          </a:p>
          <a:p>
            <a:endParaRPr lang="en-US" dirty="0"/>
          </a:p>
        </p:txBody>
      </p:sp>
    </p:spTree>
    <p:extLst>
      <p:ext uri="{BB962C8B-B14F-4D97-AF65-F5344CB8AC3E}">
        <p14:creationId xmlns:p14="http://schemas.microsoft.com/office/powerpoint/2010/main" val="13523966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Tier 1: Pre-built AWS AI </a:t>
            </a:r>
            <a:r>
              <a:rPr lang="en-US" b="1" dirty="0" smtClean="0"/>
              <a:t>services</a:t>
            </a:r>
            <a:endParaRPr lang="en-US" dirty="0"/>
          </a:p>
        </p:txBody>
      </p:sp>
      <p:sp>
        <p:nvSpPr>
          <p:cNvPr id="3" name="Content Placeholder 2"/>
          <p:cNvSpPr>
            <a:spLocks noGrp="1"/>
          </p:cNvSpPr>
          <p:nvPr>
            <p:ph idx="1"/>
          </p:nvPr>
        </p:nvSpPr>
        <p:spPr/>
        <p:txBody>
          <a:bodyPr/>
          <a:lstStyle/>
          <a:p>
            <a:r>
              <a:rPr lang="en-US" dirty="0"/>
              <a:t>The AWS AI services tier is made up of pre-built models that are already trained to perform specific functions. </a:t>
            </a:r>
            <a:endParaRPr lang="en-US" dirty="0" smtClean="0"/>
          </a:p>
          <a:p>
            <a:r>
              <a:rPr lang="en-US" dirty="0" smtClean="0"/>
              <a:t>These </a:t>
            </a:r>
            <a:r>
              <a:rPr lang="en-US" dirty="0"/>
              <a:t>ready-to-use, managed services can help you quickly solve for a variety of business use cases. </a:t>
            </a:r>
            <a:endParaRPr lang="en-US" dirty="0" smtClean="0"/>
          </a:p>
          <a:p>
            <a:r>
              <a:rPr lang="en-US" dirty="0" smtClean="0"/>
              <a:t>In the next section, you will learn about the following three groups of AWS AI services:</a:t>
            </a:r>
          </a:p>
          <a:p>
            <a:pPr lvl="1"/>
            <a:r>
              <a:rPr lang="en-US" b="1" dirty="0" smtClean="0"/>
              <a:t>Language services</a:t>
            </a:r>
          </a:p>
          <a:p>
            <a:pPr lvl="1"/>
            <a:r>
              <a:rPr lang="en-US" b="1" dirty="0" smtClean="0"/>
              <a:t>Computer vision and search services</a:t>
            </a:r>
          </a:p>
          <a:p>
            <a:pPr lvl="1"/>
            <a:r>
              <a:rPr lang="en-US" b="1" dirty="0"/>
              <a:t>Conversational AI and personalization services</a:t>
            </a:r>
            <a:endParaRPr lang="en-US" b="1" dirty="0" smtClean="0"/>
          </a:p>
          <a:p>
            <a:endParaRPr lang="en-US" dirty="0"/>
          </a:p>
        </p:txBody>
      </p:sp>
    </p:spTree>
    <p:extLst>
      <p:ext uri="{BB962C8B-B14F-4D97-AF65-F5344CB8AC3E}">
        <p14:creationId xmlns:p14="http://schemas.microsoft.com/office/powerpoint/2010/main" val="6387646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Language services</a:t>
            </a:r>
            <a:endParaRPr lang="en-US" dirty="0"/>
          </a:p>
        </p:txBody>
      </p:sp>
      <p:sp>
        <p:nvSpPr>
          <p:cNvPr id="3" name="Content Placeholder 2"/>
          <p:cNvSpPr>
            <a:spLocks noGrp="1"/>
          </p:cNvSpPr>
          <p:nvPr>
            <p:ph idx="1"/>
          </p:nvPr>
        </p:nvSpPr>
        <p:spPr/>
        <p:txBody>
          <a:bodyPr>
            <a:normAutofit fontScale="92500"/>
          </a:bodyPr>
          <a:lstStyle/>
          <a:p>
            <a:r>
              <a:rPr lang="en-US" dirty="0" smtClean="0"/>
              <a:t>AWS AI language services are great for when you need to interpret text or speech and transform it into something meaningful. </a:t>
            </a:r>
          </a:p>
          <a:p>
            <a:r>
              <a:rPr lang="en-US" dirty="0" smtClean="0"/>
              <a:t>Let's examine how these services solve for some common use cases.</a:t>
            </a:r>
          </a:p>
          <a:p>
            <a:pPr lvl="1"/>
            <a:r>
              <a:rPr lang="en-US" b="1" dirty="0"/>
              <a:t>Amazon </a:t>
            </a:r>
            <a:r>
              <a:rPr lang="en-US" b="1" dirty="0" smtClean="0"/>
              <a:t>Comprehend</a:t>
            </a:r>
          </a:p>
          <a:p>
            <a:pPr lvl="2"/>
            <a:r>
              <a:rPr lang="en-US" dirty="0" smtClean="0"/>
              <a:t>Amazon Comprehend uses natural language processing to extract key insights from documents. It develops these insights by recognizing key phrases, language, sentiment, and other common elements in documents.</a:t>
            </a:r>
          </a:p>
          <a:p>
            <a:pPr lvl="2"/>
            <a:r>
              <a:rPr lang="en-US" b="1" dirty="0" smtClean="0">
                <a:effectLst/>
              </a:rPr>
              <a:t>Use cases: </a:t>
            </a:r>
            <a:r>
              <a:rPr lang="en-US" dirty="0" smtClean="0">
                <a:effectLst/>
              </a:rPr>
              <a:t>Content classification, customer sentiment analysis, and compliance monitoring</a:t>
            </a:r>
            <a:endParaRPr lang="en-US" b="1" dirty="0" smtClean="0"/>
          </a:p>
          <a:p>
            <a:pPr lvl="1"/>
            <a:r>
              <a:rPr lang="en-US" b="1" dirty="0" smtClean="0"/>
              <a:t>Amazon Translate</a:t>
            </a:r>
          </a:p>
          <a:p>
            <a:pPr lvl="2"/>
            <a:r>
              <a:rPr lang="en-US" dirty="0"/>
              <a:t>Amazon Translate is a text translation service. This service is ideal for global communication because it supports real-time and batch text translation across multiple languages.</a:t>
            </a:r>
            <a:endParaRPr lang="en-US" dirty="0" smtClean="0"/>
          </a:p>
          <a:p>
            <a:pPr lvl="2"/>
            <a:r>
              <a:rPr lang="en-US" b="1" dirty="0" smtClean="0">
                <a:effectLst/>
              </a:rPr>
              <a:t>Use cases: </a:t>
            </a:r>
            <a:r>
              <a:rPr lang="en-US" dirty="0"/>
              <a:t>Document translation and multi-language application integrations</a:t>
            </a:r>
            <a:endParaRPr lang="en-US" dirty="0" smtClean="0"/>
          </a:p>
          <a:p>
            <a:pPr lvl="2"/>
            <a:endParaRPr lang="en-US" dirty="0" smtClean="0">
              <a:effectLst/>
            </a:endParaRPr>
          </a:p>
          <a:p>
            <a:pPr lvl="1"/>
            <a:endParaRPr lang="en-US" b="1" dirty="0" smtClean="0"/>
          </a:p>
          <a:p>
            <a:pPr lvl="2"/>
            <a:endParaRPr lang="en-US" dirty="0" smtClean="0">
              <a:effectLst/>
            </a:endParaRPr>
          </a:p>
        </p:txBody>
      </p:sp>
    </p:spTree>
    <p:extLst>
      <p:ext uri="{BB962C8B-B14F-4D97-AF65-F5344CB8AC3E}">
        <p14:creationId xmlns:p14="http://schemas.microsoft.com/office/powerpoint/2010/main" val="41055525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Language services</a:t>
            </a:r>
            <a:endParaRPr lang="en-US" dirty="0"/>
          </a:p>
        </p:txBody>
      </p:sp>
      <p:sp>
        <p:nvSpPr>
          <p:cNvPr id="3" name="Content Placeholder 2"/>
          <p:cNvSpPr>
            <a:spLocks noGrp="1"/>
          </p:cNvSpPr>
          <p:nvPr>
            <p:ph idx="1"/>
          </p:nvPr>
        </p:nvSpPr>
        <p:spPr/>
        <p:txBody>
          <a:bodyPr>
            <a:normAutofit/>
          </a:bodyPr>
          <a:lstStyle/>
          <a:p>
            <a:r>
              <a:rPr lang="en-US" b="1" dirty="0"/>
              <a:t>Amazon </a:t>
            </a:r>
            <a:r>
              <a:rPr lang="en-US" b="1" dirty="0" smtClean="0"/>
              <a:t>Polly</a:t>
            </a:r>
          </a:p>
          <a:p>
            <a:pPr lvl="1"/>
            <a:r>
              <a:rPr lang="en-US" dirty="0"/>
              <a:t>Amazon Polly converts text into lifelike speech. It supports multiple languages, different genders, and a variety of accents.</a:t>
            </a:r>
            <a:endParaRPr lang="en-US" dirty="0" smtClean="0"/>
          </a:p>
          <a:p>
            <a:pPr lvl="1"/>
            <a:r>
              <a:rPr lang="en-US" b="1" dirty="0" smtClean="0">
                <a:effectLst/>
              </a:rPr>
              <a:t>Use cases: </a:t>
            </a:r>
            <a:r>
              <a:rPr lang="en-US" dirty="0" smtClean="0">
                <a:effectLst/>
              </a:rPr>
              <a:t>Virtual assistants, e-learning applications, and accessibility enhancements for visually impaired users</a:t>
            </a:r>
            <a:endParaRPr lang="en-US" dirty="0" smtClean="0"/>
          </a:p>
          <a:p>
            <a:r>
              <a:rPr lang="en-US" b="1" dirty="0"/>
              <a:t>Amazon </a:t>
            </a:r>
            <a:r>
              <a:rPr lang="en-US" b="1" dirty="0" smtClean="0"/>
              <a:t>Transcribe</a:t>
            </a:r>
          </a:p>
          <a:p>
            <a:pPr lvl="1"/>
            <a:r>
              <a:rPr lang="en-US" dirty="0"/>
              <a:t>Amazon Transcribe converts speech into text. It supports multiple languages and offers features such as speaker identification, custom vocabulary, and real-time transcription.</a:t>
            </a:r>
            <a:endParaRPr lang="en-US" dirty="0" smtClean="0"/>
          </a:p>
          <a:p>
            <a:pPr lvl="1"/>
            <a:r>
              <a:rPr lang="en-US" b="1" dirty="0" smtClean="0">
                <a:effectLst/>
              </a:rPr>
              <a:t>Use Cases: </a:t>
            </a:r>
            <a:r>
              <a:rPr lang="en-US" dirty="0"/>
              <a:t>Customer call transcription, automated subtitling, and metadata generation for media content.</a:t>
            </a:r>
            <a:endParaRPr lang="en-US" dirty="0" smtClean="0"/>
          </a:p>
          <a:p>
            <a:pPr lvl="1"/>
            <a:endParaRPr lang="en-US" dirty="0"/>
          </a:p>
        </p:txBody>
      </p:sp>
    </p:spTree>
    <p:extLst>
      <p:ext uri="{BB962C8B-B14F-4D97-AF65-F5344CB8AC3E}">
        <p14:creationId xmlns:p14="http://schemas.microsoft.com/office/powerpoint/2010/main" val="143764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Computer vision and search </a:t>
            </a:r>
            <a:r>
              <a:rPr lang="en-US" b="1" dirty="0" smtClean="0"/>
              <a:t>services</a:t>
            </a:r>
            <a:endParaRPr lang="en-US" dirty="0"/>
          </a:p>
        </p:txBody>
      </p:sp>
      <p:sp>
        <p:nvSpPr>
          <p:cNvPr id="3" name="Content Placeholder 2"/>
          <p:cNvSpPr>
            <a:spLocks noGrp="1"/>
          </p:cNvSpPr>
          <p:nvPr>
            <p:ph idx="1"/>
          </p:nvPr>
        </p:nvSpPr>
        <p:spPr>
          <a:xfrm>
            <a:off x="838200" y="1825624"/>
            <a:ext cx="10515600" cy="4776343"/>
          </a:xfrm>
        </p:spPr>
        <p:txBody>
          <a:bodyPr>
            <a:normAutofit lnSpcReduction="10000"/>
          </a:bodyPr>
          <a:lstStyle/>
          <a:p>
            <a:r>
              <a:rPr lang="en-US" dirty="0" smtClean="0"/>
              <a:t>These services are ideal for answering questions and gathering insights from various types of content sources such as documents, images, videos, and more. Let's look at some examples:</a:t>
            </a:r>
          </a:p>
          <a:p>
            <a:pPr marL="0" indent="0">
              <a:buNone/>
            </a:pPr>
            <a:endParaRPr lang="en-US" dirty="0"/>
          </a:p>
          <a:p>
            <a:pPr lvl="1"/>
            <a:r>
              <a:rPr lang="en-US" sz="3200" b="1" dirty="0"/>
              <a:t>Amazon </a:t>
            </a:r>
            <a:r>
              <a:rPr lang="en-US" sz="3200" b="1" dirty="0" smtClean="0"/>
              <a:t>Kendra</a:t>
            </a:r>
          </a:p>
          <a:p>
            <a:pPr lvl="2"/>
            <a:r>
              <a:rPr lang="en-US" sz="2800" dirty="0" smtClean="0">
                <a:effectLst/>
              </a:rPr>
              <a:t>Amazon Kendra uses natural language processing to search for answers within large amounts of enterprise content. </a:t>
            </a:r>
          </a:p>
          <a:p>
            <a:pPr lvl="2"/>
            <a:r>
              <a:rPr lang="en-US" sz="2800" dirty="0" smtClean="0">
                <a:effectLst/>
              </a:rPr>
              <a:t>Because it understands the context of a query, it can return more precise and relevant answers than just a list of documents with matching keywords.</a:t>
            </a:r>
            <a:endParaRPr lang="en-US" sz="2800" dirty="0" smtClean="0"/>
          </a:p>
          <a:p>
            <a:pPr lvl="2"/>
            <a:r>
              <a:rPr lang="en-US" sz="2800" b="1" dirty="0" smtClean="0">
                <a:effectLst/>
              </a:rPr>
              <a:t>Use cases: </a:t>
            </a:r>
            <a:r>
              <a:rPr lang="en-US" sz="2800" dirty="0" smtClean="0">
                <a:effectLst/>
              </a:rPr>
              <a:t>Intelligent search, </a:t>
            </a:r>
            <a:r>
              <a:rPr lang="en-US" sz="2800" dirty="0" err="1" smtClean="0">
                <a:effectLst/>
              </a:rPr>
              <a:t>chatbots</a:t>
            </a:r>
            <a:r>
              <a:rPr lang="en-US" sz="2800" dirty="0" smtClean="0">
                <a:effectLst/>
              </a:rPr>
              <a:t>, and application search integration</a:t>
            </a:r>
            <a:endParaRPr lang="en-US" sz="2800" b="1" dirty="0" smtClean="0"/>
          </a:p>
          <a:p>
            <a:pPr marL="1828800" lvl="4" indent="0">
              <a:buNone/>
            </a:pPr>
            <a:endParaRPr lang="en-US" b="1" dirty="0" smtClean="0"/>
          </a:p>
          <a:p>
            <a:pPr lvl="1"/>
            <a:endParaRPr lang="en-US" dirty="0"/>
          </a:p>
        </p:txBody>
      </p:sp>
    </p:spTree>
    <p:extLst>
      <p:ext uri="{BB962C8B-B14F-4D97-AF65-F5344CB8AC3E}">
        <p14:creationId xmlns:p14="http://schemas.microsoft.com/office/powerpoint/2010/main" val="3036814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Computer vision and search </a:t>
            </a:r>
            <a:r>
              <a:rPr lang="en-US" b="1" dirty="0" smtClean="0"/>
              <a:t>services</a:t>
            </a:r>
            <a:endParaRPr lang="en-US" dirty="0"/>
          </a:p>
        </p:txBody>
      </p:sp>
      <p:sp>
        <p:nvSpPr>
          <p:cNvPr id="3" name="Content Placeholder 2"/>
          <p:cNvSpPr>
            <a:spLocks noGrp="1"/>
          </p:cNvSpPr>
          <p:nvPr>
            <p:ph idx="1"/>
          </p:nvPr>
        </p:nvSpPr>
        <p:spPr/>
        <p:txBody>
          <a:bodyPr>
            <a:normAutofit lnSpcReduction="10000"/>
          </a:bodyPr>
          <a:lstStyle/>
          <a:p>
            <a:r>
              <a:rPr lang="en-US" b="1" dirty="0" smtClean="0"/>
              <a:t>Amazon </a:t>
            </a:r>
            <a:r>
              <a:rPr lang="en-US" b="1" dirty="0" err="1" smtClean="0"/>
              <a:t>Textract</a:t>
            </a:r>
            <a:endParaRPr lang="en-US" b="1" dirty="0" smtClean="0"/>
          </a:p>
          <a:p>
            <a:pPr lvl="1"/>
            <a:r>
              <a:rPr lang="en-US" dirty="0" smtClean="0">
                <a:effectLst/>
              </a:rPr>
              <a:t>Amazon </a:t>
            </a:r>
            <a:r>
              <a:rPr lang="en-US" dirty="0" err="1" smtClean="0">
                <a:effectLst/>
              </a:rPr>
              <a:t>Textract</a:t>
            </a:r>
            <a:r>
              <a:rPr lang="en-US" dirty="0" smtClean="0">
                <a:effectLst/>
              </a:rPr>
              <a:t> detects and extracts typed and handwritten text found in documents, forms, and even tables within documents.</a:t>
            </a:r>
            <a:endParaRPr lang="en-US" dirty="0" smtClean="0"/>
          </a:p>
          <a:p>
            <a:pPr lvl="1"/>
            <a:r>
              <a:rPr lang="en-US" b="1" dirty="0" smtClean="0">
                <a:effectLst/>
              </a:rPr>
              <a:t>Use cases: </a:t>
            </a:r>
            <a:r>
              <a:rPr lang="en-US" dirty="0" smtClean="0">
                <a:effectLst/>
              </a:rPr>
              <a:t>Financial, healthcare, and government form text extraction for quick processing</a:t>
            </a:r>
          </a:p>
          <a:p>
            <a:pPr marL="0" indent="0">
              <a:buNone/>
            </a:pPr>
            <a:endParaRPr lang="en-US" b="1" dirty="0" smtClean="0"/>
          </a:p>
          <a:p>
            <a:r>
              <a:rPr lang="en-US" b="1" dirty="0" smtClean="0"/>
              <a:t>Amazon </a:t>
            </a:r>
            <a:r>
              <a:rPr lang="en-US" b="1" dirty="0" err="1" smtClean="0"/>
              <a:t>Rekognition</a:t>
            </a:r>
            <a:endParaRPr lang="en-US" b="1" dirty="0" smtClean="0"/>
          </a:p>
          <a:p>
            <a:pPr lvl="2"/>
            <a:r>
              <a:rPr lang="en-US" dirty="0" smtClean="0">
                <a:effectLst/>
              </a:rPr>
              <a:t>Amazon </a:t>
            </a:r>
            <a:r>
              <a:rPr lang="en-US" dirty="0" err="1" smtClean="0">
                <a:effectLst/>
              </a:rPr>
              <a:t>Rekognition</a:t>
            </a:r>
            <a:r>
              <a:rPr lang="en-US" dirty="0" smtClean="0">
                <a:effectLst/>
              </a:rPr>
              <a:t> is a video analysis service. It can identify objects, people, text, scenes, and activities within images and videos stored in Amazon Simple Storage Service (Amazon S3).</a:t>
            </a:r>
            <a:endParaRPr lang="en-US" dirty="0" smtClean="0"/>
          </a:p>
          <a:p>
            <a:pPr lvl="2"/>
            <a:r>
              <a:rPr lang="en-US" b="1" dirty="0" smtClean="0">
                <a:effectLst/>
              </a:rPr>
              <a:t>Use cases: </a:t>
            </a:r>
            <a:r>
              <a:rPr lang="en-US" dirty="0" smtClean="0">
                <a:effectLst/>
              </a:rPr>
              <a:t>Content moderation, identity verification, media analysis, and home automation experiences</a:t>
            </a:r>
            <a:endParaRPr lang="en-US" dirty="0" smtClean="0"/>
          </a:p>
          <a:p>
            <a:endParaRPr lang="en-US" b="1" dirty="0" smtClean="0"/>
          </a:p>
          <a:p>
            <a:endParaRPr lang="en-US" b="1" dirty="0" smtClean="0"/>
          </a:p>
          <a:p>
            <a:pPr lvl="1"/>
            <a:endParaRPr lang="en-US" dirty="0"/>
          </a:p>
          <a:p>
            <a:pPr marL="457200" lvl="1" indent="0">
              <a:buNone/>
            </a:pPr>
            <a:endParaRPr lang="en-US" dirty="0" smtClean="0"/>
          </a:p>
          <a:p>
            <a:pPr lvl="1"/>
            <a:endParaRPr lang="en-US" dirty="0"/>
          </a:p>
        </p:txBody>
      </p:sp>
    </p:spTree>
    <p:extLst>
      <p:ext uri="{BB962C8B-B14F-4D97-AF65-F5344CB8AC3E}">
        <p14:creationId xmlns:p14="http://schemas.microsoft.com/office/powerpoint/2010/main" val="32317323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Conversational AI and personalization </a:t>
            </a:r>
            <a:r>
              <a:rPr lang="en-US" b="1" dirty="0" smtClean="0"/>
              <a:t>services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With these services, users can interact with your apps through text and voice conversations. </a:t>
            </a:r>
          </a:p>
          <a:p>
            <a:r>
              <a:rPr lang="en-US" dirty="0" smtClean="0"/>
              <a:t>You can also present your customers with product recommendations personalized just for them. Let's explore these services.</a:t>
            </a:r>
          </a:p>
          <a:p>
            <a:r>
              <a:rPr lang="en-US" b="1" dirty="0"/>
              <a:t>Amazon </a:t>
            </a:r>
            <a:r>
              <a:rPr lang="en-US" b="1" dirty="0" smtClean="0"/>
              <a:t>Lex</a:t>
            </a:r>
          </a:p>
          <a:p>
            <a:pPr lvl="1"/>
            <a:r>
              <a:rPr lang="en-US" dirty="0"/>
              <a:t>With Amazon Lex, you can add voice and text conversational interfaces to your applications. This service uses both natural language understanding (NLU) and automatic speech recognition (ASR) to create lifelike conversations.</a:t>
            </a:r>
            <a:endParaRPr lang="en-US" dirty="0" smtClean="0"/>
          </a:p>
          <a:p>
            <a:pPr lvl="1"/>
            <a:r>
              <a:rPr lang="en-US" b="1" dirty="0" smtClean="0">
                <a:effectLst/>
              </a:rPr>
              <a:t>Use cases: </a:t>
            </a:r>
            <a:r>
              <a:rPr lang="en-US" dirty="0" smtClean="0">
                <a:effectLst/>
              </a:rPr>
              <a:t>Virtual assistants, natural language search for FAQs, and automated application bots</a:t>
            </a:r>
            <a:endParaRPr lang="en-US" b="1" dirty="0" smtClean="0"/>
          </a:p>
          <a:p>
            <a:r>
              <a:rPr lang="en-US" b="1" dirty="0"/>
              <a:t>Amazon </a:t>
            </a:r>
            <a:r>
              <a:rPr lang="en-US" b="1" dirty="0" smtClean="0"/>
              <a:t>Personalize</a:t>
            </a:r>
          </a:p>
          <a:p>
            <a:pPr lvl="1"/>
            <a:r>
              <a:rPr lang="en-US" dirty="0"/>
              <a:t>With Amazon Personalize, you can use historical data to build intelligent applications with personalized recommendations for your customers.</a:t>
            </a:r>
            <a:endParaRPr lang="en-US" dirty="0" smtClean="0"/>
          </a:p>
          <a:p>
            <a:pPr lvl="1"/>
            <a:r>
              <a:rPr lang="en-US" b="1" dirty="0" smtClean="0">
                <a:effectLst/>
              </a:rPr>
              <a:t>Use cases: </a:t>
            </a:r>
            <a:r>
              <a:rPr lang="en-US" dirty="0" smtClean="0">
                <a:effectLst/>
              </a:rPr>
              <a:t>Personalized streaming, product, and trending recommendations</a:t>
            </a:r>
            <a:endParaRPr lang="en-US" dirty="0" smtClean="0"/>
          </a:p>
          <a:p>
            <a:pPr lvl="1"/>
            <a:endParaRPr lang="en-US" dirty="0"/>
          </a:p>
        </p:txBody>
      </p:sp>
    </p:spTree>
    <p:extLst>
      <p:ext uri="{BB962C8B-B14F-4D97-AF65-F5344CB8AC3E}">
        <p14:creationId xmlns:p14="http://schemas.microsoft.com/office/powerpoint/2010/main" val="14390902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Tier 2: ML </a:t>
            </a:r>
            <a:r>
              <a:rPr lang="en-US" b="1" dirty="0" smtClean="0"/>
              <a:t>services</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 ML services tier provides a more customized approach for customers who want a bit more control over their ML solutions without having to manage infrastructure. </a:t>
            </a:r>
            <a:endParaRPr lang="en-US" dirty="0" smtClean="0"/>
          </a:p>
          <a:p>
            <a:r>
              <a:rPr lang="en-US" b="1" dirty="0" err="1" smtClean="0"/>
              <a:t>SageMaker</a:t>
            </a:r>
            <a:r>
              <a:rPr lang="en-US" dirty="0" smtClean="0"/>
              <a:t> </a:t>
            </a:r>
            <a:r>
              <a:rPr lang="en-US" dirty="0"/>
              <a:t>AI is a key </a:t>
            </a:r>
            <a:r>
              <a:rPr lang="en-US" dirty="0" smtClean="0"/>
              <a:t>offering in this tier.</a:t>
            </a:r>
          </a:p>
          <a:p>
            <a:r>
              <a:rPr lang="en-US" b="1" dirty="0"/>
              <a:t>Amazon </a:t>
            </a:r>
            <a:r>
              <a:rPr lang="en-US" b="1" dirty="0" err="1"/>
              <a:t>SageMaker</a:t>
            </a:r>
            <a:r>
              <a:rPr lang="en-US" b="1" dirty="0"/>
              <a:t> AI</a:t>
            </a:r>
            <a:endParaRPr lang="en-US" b="1" dirty="0" smtClean="0">
              <a:effectLst/>
            </a:endParaRPr>
          </a:p>
          <a:p>
            <a:pPr lvl="1"/>
            <a:r>
              <a:rPr lang="en-US" dirty="0"/>
              <a:t>With this fully managed service, you can build, train, and deploy your own ML models without worrying about infrastructure. </a:t>
            </a:r>
            <a:endParaRPr lang="en-US" dirty="0" smtClean="0"/>
          </a:p>
          <a:p>
            <a:pPr lvl="1"/>
            <a:r>
              <a:rPr lang="en-US" dirty="0" smtClean="0"/>
              <a:t>The </a:t>
            </a:r>
            <a:r>
              <a:rPr lang="en-US" b="1" dirty="0" err="1"/>
              <a:t>SageMaker</a:t>
            </a:r>
            <a:r>
              <a:rPr lang="en-US" dirty="0"/>
              <a:t> AI integrated development environment (IDE) provides simplified access control and transparency over your ML projects. </a:t>
            </a:r>
            <a:endParaRPr lang="en-US" dirty="0" smtClean="0"/>
          </a:p>
          <a:p>
            <a:pPr lvl="1"/>
            <a:r>
              <a:rPr lang="en-US" dirty="0" smtClean="0"/>
              <a:t>You </a:t>
            </a:r>
            <a:r>
              <a:rPr lang="en-US" dirty="0"/>
              <a:t>can track model training experiments, visualize data, and debug and monitor your workflows all within one environment. </a:t>
            </a:r>
            <a:endParaRPr lang="en-US" dirty="0" smtClean="0"/>
          </a:p>
          <a:p>
            <a:pPr lvl="1"/>
            <a:r>
              <a:rPr lang="en-US" dirty="0" err="1" smtClean="0"/>
              <a:t>SageMaker</a:t>
            </a:r>
            <a:r>
              <a:rPr lang="en-US" dirty="0" smtClean="0"/>
              <a:t> </a:t>
            </a:r>
            <a:r>
              <a:rPr lang="en-US" dirty="0"/>
              <a:t>AI even offers access to hundreds of pre-trained models that you can deploy in a few quick steps.</a:t>
            </a:r>
            <a:endParaRPr lang="en-US" dirty="0" smtClean="0">
              <a:effectLst/>
            </a:endParaRPr>
          </a:p>
          <a:p>
            <a:endParaRPr lang="en-US" dirty="0"/>
          </a:p>
        </p:txBody>
      </p:sp>
    </p:spTree>
    <p:extLst>
      <p:ext uri="{BB962C8B-B14F-4D97-AF65-F5344CB8AC3E}">
        <p14:creationId xmlns:p14="http://schemas.microsoft.com/office/powerpoint/2010/main" val="30098942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benefits of </a:t>
            </a:r>
            <a:r>
              <a:rPr lang="en-US" b="1" dirty="0" err="1"/>
              <a:t>SageMaker</a:t>
            </a:r>
            <a:r>
              <a:rPr lang="en-US" b="1" dirty="0"/>
              <a:t> </a:t>
            </a:r>
            <a:r>
              <a:rPr lang="en-US" b="1" dirty="0" smtClean="0"/>
              <a:t>AI</a:t>
            </a:r>
            <a:endParaRPr lang="en-US" dirty="0"/>
          </a:p>
        </p:txBody>
      </p:sp>
      <p:sp>
        <p:nvSpPr>
          <p:cNvPr id="3" name="Content Placeholder 2"/>
          <p:cNvSpPr>
            <a:spLocks noGrp="1"/>
          </p:cNvSpPr>
          <p:nvPr>
            <p:ph idx="1"/>
          </p:nvPr>
        </p:nvSpPr>
        <p:spPr/>
        <p:txBody>
          <a:bodyPr/>
          <a:lstStyle/>
          <a:p>
            <a:r>
              <a:rPr lang="en-US" b="1" dirty="0"/>
              <a:t>Choice of ML tools</a:t>
            </a:r>
            <a:r>
              <a:rPr lang="en-US" dirty="0" smtClean="0">
                <a:effectLst/>
              </a:rPr>
              <a:t/>
            </a:r>
            <a:br>
              <a:rPr lang="en-US" dirty="0" smtClean="0">
                <a:effectLst/>
              </a:rPr>
            </a:br>
            <a:r>
              <a:rPr lang="en-US" dirty="0" smtClean="0"/>
              <a:t>Increase </a:t>
            </a:r>
            <a:r>
              <a:rPr lang="en-US" dirty="0"/>
              <a:t>innovation with different tool choices. </a:t>
            </a:r>
            <a:r>
              <a:rPr lang="en-US" dirty="0" smtClean="0"/>
              <a:t>Data </a:t>
            </a:r>
            <a:r>
              <a:rPr lang="en-US" dirty="0"/>
              <a:t>scientists can use the IDE, and business analysts can use the no-code interface.</a:t>
            </a:r>
            <a:endParaRPr lang="en-US" dirty="0" smtClean="0">
              <a:effectLst/>
            </a:endParaRPr>
          </a:p>
          <a:p>
            <a:r>
              <a:rPr lang="en-US" b="1" dirty="0"/>
              <a:t>Fully managed infrastructure</a:t>
            </a:r>
            <a:r>
              <a:rPr lang="en-US" dirty="0" smtClean="0"/>
              <a:t/>
            </a:r>
            <a:br>
              <a:rPr lang="en-US" dirty="0" smtClean="0"/>
            </a:br>
            <a:r>
              <a:rPr lang="en-US" dirty="0"/>
              <a:t>Focus on ML model development while </a:t>
            </a:r>
            <a:r>
              <a:rPr lang="en-US" b="1" dirty="0" err="1"/>
              <a:t>SageMaker</a:t>
            </a:r>
            <a:r>
              <a:rPr lang="en-US" dirty="0"/>
              <a:t> AI provides you with high-performance, cost-effective infrastructure.</a:t>
            </a:r>
            <a:endParaRPr lang="en-US" dirty="0" smtClean="0"/>
          </a:p>
          <a:p>
            <a:r>
              <a:rPr lang="en-US" b="1" dirty="0"/>
              <a:t>Repeatable ML workflows</a:t>
            </a:r>
            <a:r>
              <a:rPr lang="en-US" dirty="0" smtClean="0"/>
              <a:t/>
            </a:r>
            <a:br>
              <a:rPr lang="en-US" dirty="0" smtClean="0"/>
            </a:br>
            <a:r>
              <a:rPr lang="en-US" dirty="0"/>
              <a:t>Automate and standardize your </a:t>
            </a:r>
            <a:r>
              <a:rPr lang="en-US" dirty="0" err="1"/>
              <a:t>MLOps</a:t>
            </a:r>
            <a:r>
              <a:rPr lang="en-US" dirty="0"/>
              <a:t> practices and governance across your enterprise to support transparency and auditability.</a:t>
            </a:r>
            <a:endParaRPr lang="en-US" dirty="0" smtClean="0"/>
          </a:p>
          <a:p>
            <a:endParaRPr lang="en-US" dirty="0"/>
          </a:p>
        </p:txBody>
      </p:sp>
    </p:spTree>
    <p:extLst>
      <p:ext uri="{BB962C8B-B14F-4D97-AF65-F5344CB8AC3E}">
        <p14:creationId xmlns:p14="http://schemas.microsoft.com/office/powerpoint/2010/main" val="33841566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Tier 3: ML frameworks and </a:t>
            </a:r>
            <a:r>
              <a:rPr lang="en-US" b="1" dirty="0" smtClean="0"/>
              <a:t>infrastructure</a:t>
            </a:r>
            <a:endParaRPr lang="en-US" dirty="0"/>
          </a:p>
        </p:txBody>
      </p:sp>
      <p:sp>
        <p:nvSpPr>
          <p:cNvPr id="3" name="Content Placeholder 2"/>
          <p:cNvSpPr>
            <a:spLocks noGrp="1"/>
          </p:cNvSpPr>
          <p:nvPr>
            <p:ph idx="1"/>
          </p:nvPr>
        </p:nvSpPr>
        <p:spPr>
          <a:xfrm>
            <a:off x="838200" y="1825624"/>
            <a:ext cx="10515600" cy="5032375"/>
          </a:xfrm>
        </p:spPr>
        <p:txBody>
          <a:bodyPr>
            <a:normAutofit lnSpcReduction="10000"/>
          </a:bodyPr>
          <a:lstStyle/>
          <a:p>
            <a:r>
              <a:rPr lang="en-US" dirty="0"/>
              <a:t>Some organizations have highly specialized needs that require complete control over the ML training process. </a:t>
            </a:r>
            <a:endParaRPr lang="en-US" dirty="0" smtClean="0"/>
          </a:p>
          <a:p>
            <a:r>
              <a:rPr lang="en-US" dirty="0" smtClean="0"/>
              <a:t>They </a:t>
            </a:r>
            <a:r>
              <a:rPr lang="en-US" dirty="0"/>
              <a:t>can use in-house expertise, ML frameworks, and AWS infrastructure to develop their own ML solutions</a:t>
            </a:r>
            <a:r>
              <a:rPr lang="en-US" dirty="0" smtClean="0"/>
              <a:t>.</a:t>
            </a:r>
          </a:p>
          <a:p>
            <a:r>
              <a:rPr lang="en-US" b="1" dirty="0"/>
              <a:t>Core components</a:t>
            </a:r>
            <a:endParaRPr lang="en-US" b="1" dirty="0" smtClean="0"/>
          </a:p>
          <a:p>
            <a:pPr lvl="1"/>
            <a:r>
              <a:rPr lang="en-US" b="1" dirty="0"/>
              <a:t>ML </a:t>
            </a:r>
            <a:r>
              <a:rPr lang="en-US" b="1" dirty="0" smtClean="0"/>
              <a:t>frameworks</a:t>
            </a:r>
          </a:p>
          <a:p>
            <a:pPr lvl="2"/>
            <a:r>
              <a:rPr lang="en-US" dirty="0" smtClean="0">
                <a:effectLst/>
              </a:rPr>
              <a:t>An ML framework is a software library or tool that provides experienced ML practitioners with pre-built, optimized components for building machine learning models. </a:t>
            </a:r>
          </a:p>
          <a:p>
            <a:pPr lvl="2"/>
            <a:r>
              <a:rPr lang="en-US" dirty="0" smtClean="0">
                <a:effectLst/>
              </a:rPr>
              <a:t>AWS supports ML frameworks like </a:t>
            </a:r>
            <a:r>
              <a:rPr lang="en-US" dirty="0" err="1" smtClean="0">
                <a:effectLst/>
              </a:rPr>
              <a:t>PyTorch</a:t>
            </a:r>
            <a:r>
              <a:rPr lang="en-US" dirty="0" smtClean="0">
                <a:effectLst/>
              </a:rPr>
              <a:t>, Apache M-X Net, and </a:t>
            </a:r>
            <a:r>
              <a:rPr lang="en-US" dirty="0" err="1" smtClean="0">
                <a:effectLst/>
              </a:rPr>
              <a:t>TensorFlow</a:t>
            </a:r>
            <a:r>
              <a:rPr lang="en-US" dirty="0" smtClean="0">
                <a:effectLst/>
              </a:rPr>
              <a:t>.</a:t>
            </a:r>
            <a:endParaRPr lang="en-US" b="1" dirty="0" smtClean="0"/>
          </a:p>
          <a:p>
            <a:pPr lvl="1"/>
            <a:r>
              <a:rPr lang="en-US" b="1" dirty="0"/>
              <a:t>AWS ML </a:t>
            </a:r>
            <a:r>
              <a:rPr lang="en-US" b="1" dirty="0" smtClean="0"/>
              <a:t>infrastructure</a:t>
            </a:r>
          </a:p>
          <a:p>
            <a:pPr lvl="2"/>
            <a:r>
              <a:rPr lang="en-US" dirty="0"/>
              <a:t>AWS ML infrastructure, such as ML-optimized </a:t>
            </a:r>
            <a:r>
              <a:rPr lang="en-US" dirty="0" smtClean="0">
                <a:effectLst/>
              </a:rPr>
              <a:t>Amazon Elastic Compute Cloud (Amazon EC2)</a:t>
            </a:r>
            <a:r>
              <a:rPr lang="en-US" dirty="0"/>
              <a:t> instances, Amazon EMR, and </a:t>
            </a:r>
            <a:r>
              <a:rPr lang="en-US" dirty="0" smtClean="0">
                <a:effectLst/>
              </a:rPr>
              <a:t>Amazon Elastic Container Service (Amazon ECS),</a:t>
            </a:r>
            <a:r>
              <a:rPr lang="en-US" dirty="0"/>
              <a:t> can support these custom solutions. These services provide high performance and flexibility for advanced ML workloads.</a:t>
            </a:r>
            <a:endParaRPr lang="en-US" dirty="0" smtClean="0"/>
          </a:p>
          <a:p>
            <a:pPr lvl="1"/>
            <a:endParaRPr lang="en-US" dirty="0"/>
          </a:p>
        </p:txBody>
      </p:sp>
    </p:spTree>
    <p:extLst>
      <p:ext uri="{BB962C8B-B14F-4D97-AF65-F5344CB8AC3E}">
        <p14:creationId xmlns:p14="http://schemas.microsoft.com/office/powerpoint/2010/main" val="15634108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25445"/>
            <a:ext cx="10515600" cy="1325563"/>
          </a:xfrm>
        </p:spPr>
        <p:txBody>
          <a:bodyPr/>
          <a:lstStyle/>
          <a:p>
            <a:pPr algn="ctr"/>
            <a:r>
              <a:rPr lang="en-US" b="1" dirty="0" smtClean="0"/>
              <a:t>Introduction to Generative AI on AWS</a:t>
            </a:r>
            <a:endParaRPr lang="en-US" dirty="0"/>
          </a:p>
        </p:txBody>
      </p:sp>
    </p:spTree>
    <p:extLst>
      <p:ext uri="{BB962C8B-B14F-4D97-AF65-F5344CB8AC3E}">
        <p14:creationId xmlns:p14="http://schemas.microsoft.com/office/powerpoint/2010/main" val="4917761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 this lesson, you will learn:</a:t>
            </a:r>
            <a:endParaRPr lang="en-US" dirty="0"/>
          </a:p>
        </p:txBody>
      </p:sp>
      <p:sp>
        <p:nvSpPr>
          <p:cNvPr id="3" name="Content Placeholder 2"/>
          <p:cNvSpPr>
            <a:spLocks noGrp="1"/>
          </p:cNvSpPr>
          <p:nvPr>
            <p:ph idx="1"/>
          </p:nvPr>
        </p:nvSpPr>
        <p:spPr/>
        <p:txBody>
          <a:bodyPr/>
          <a:lstStyle/>
          <a:p>
            <a:r>
              <a:rPr lang="en-US" dirty="0" smtClean="0"/>
              <a:t>Describe deep learning and its subset, generative AI.</a:t>
            </a:r>
          </a:p>
          <a:p>
            <a:r>
              <a:rPr lang="en-US" dirty="0" smtClean="0"/>
              <a:t>Identify the types of generative AI solutions offered by AWS.</a:t>
            </a:r>
          </a:p>
          <a:p>
            <a:endParaRPr lang="en-US" dirty="0"/>
          </a:p>
        </p:txBody>
      </p:sp>
    </p:spTree>
    <p:extLst>
      <p:ext uri="{BB962C8B-B14F-4D97-AF65-F5344CB8AC3E}">
        <p14:creationId xmlns:p14="http://schemas.microsoft.com/office/powerpoint/2010/main" val="35561435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Deep learning</a:t>
            </a:r>
            <a:endParaRPr lang="en-US" dirty="0"/>
          </a:p>
        </p:txBody>
      </p:sp>
      <p:sp>
        <p:nvSpPr>
          <p:cNvPr id="3" name="Content Placeholder 2"/>
          <p:cNvSpPr>
            <a:spLocks noGrp="1"/>
          </p:cNvSpPr>
          <p:nvPr>
            <p:ph idx="1"/>
          </p:nvPr>
        </p:nvSpPr>
        <p:spPr/>
        <p:txBody>
          <a:bodyPr/>
          <a:lstStyle/>
          <a:p>
            <a:r>
              <a:rPr lang="en-US" dirty="0" smtClean="0">
                <a:effectLst/>
              </a:rPr>
              <a:t>Deep learning (DL) is a </a:t>
            </a:r>
            <a:r>
              <a:rPr lang="en-US" b="1" dirty="0" smtClean="0">
                <a:effectLst/>
              </a:rPr>
              <a:t>subset</a:t>
            </a:r>
            <a:r>
              <a:rPr lang="en-US" dirty="0" smtClean="0">
                <a:effectLst/>
              </a:rPr>
              <a:t> of machine learning (ML) where models are trained using layers of artificial neurons that mimic the human brain. </a:t>
            </a:r>
          </a:p>
          <a:p>
            <a:r>
              <a:rPr lang="en-US" dirty="0" smtClean="0">
                <a:effectLst/>
              </a:rPr>
              <a:t>Each layer of these neural networks summarizes and feeds information to the next layer until a final model is produced.</a:t>
            </a:r>
            <a:endParaRPr lang="en-US" dirty="0"/>
          </a:p>
        </p:txBody>
      </p:sp>
      <p:pic>
        <p:nvPicPr>
          <p:cNvPr id="4" name="Picture 3"/>
          <p:cNvPicPr>
            <a:picLocks noChangeAspect="1"/>
          </p:cNvPicPr>
          <p:nvPr/>
        </p:nvPicPr>
        <p:blipFill>
          <a:blip r:embed="rId2"/>
          <a:stretch>
            <a:fillRect/>
          </a:stretch>
        </p:blipFill>
        <p:spPr>
          <a:xfrm>
            <a:off x="2208657" y="4071938"/>
            <a:ext cx="6457950" cy="2105025"/>
          </a:xfrm>
          <a:prstGeom prst="rect">
            <a:avLst/>
          </a:prstGeom>
        </p:spPr>
      </p:pic>
    </p:spTree>
    <p:extLst>
      <p:ext uri="{BB962C8B-B14F-4D97-AF65-F5344CB8AC3E}">
        <p14:creationId xmlns:p14="http://schemas.microsoft.com/office/powerpoint/2010/main" val="22248222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Generative AI</a:t>
            </a:r>
            <a:endParaRPr lang="en-US" dirty="0"/>
          </a:p>
        </p:txBody>
      </p:sp>
      <p:sp>
        <p:nvSpPr>
          <p:cNvPr id="3" name="Content Placeholder 2"/>
          <p:cNvSpPr>
            <a:spLocks noGrp="1"/>
          </p:cNvSpPr>
          <p:nvPr>
            <p:ph idx="1"/>
          </p:nvPr>
        </p:nvSpPr>
        <p:spPr/>
        <p:txBody>
          <a:bodyPr>
            <a:normAutofit/>
          </a:bodyPr>
          <a:lstStyle/>
          <a:p>
            <a:r>
              <a:rPr lang="en-US" sz="2400" dirty="0"/>
              <a:t>Generative AI is a type of deep learning </a:t>
            </a:r>
            <a:r>
              <a:rPr lang="en-US" sz="2400" dirty="0" smtClean="0"/>
              <a:t>(DL) powered </a:t>
            </a:r>
            <a:r>
              <a:rPr lang="en-US" sz="2400" dirty="0"/>
              <a:t>by extremely large ML models known as </a:t>
            </a:r>
            <a:r>
              <a:rPr lang="en-US" sz="2400" b="1" dirty="0"/>
              <a:t>foundation models (FMs)</a:t>
            </a:r>
            <a:r>
              <a:rPr lang="en-US" sz="2400" dirty="0"/>
              <a:t>. </a:t>
            </a:r>
            <a:endParaRPr lang="en-US" sz="2400" dirty="0" smtClean="0"/>
          </a:p>
          <a:p>
            <a:r>
              <a:rPr lang="en-US" sz="2400" dirty="0" smtClean="0"/>
              <a:t>FMs</a:t>
            </a:r>
            <a:r>
              <a:rPr lang="en-US" sz="2400" dirty="0"/>
              <a:t> are pre-trained on vast collections of data. While traditional ML models are trained to perform singular tasks, FMs can be adapted to perform multiple tasks.</a:t>
            </a:r>
            <a:endParaRPr lang="en-US" sz="2400" dirty="0" smtClean="0"/>
          </a:p>
          <a:p>
            <a:r>
              <a:rPr lang="en-US" sz="2400" dirty="0"/>
              <a:t>Large language models (LLMs), are a popular type of FM trained to use human language. </a:t>
            </a:r>
            <a:endParaRPr lang="en-US" sz="2400" dirty="0" smtClean="0"/>
          </a:p>
          <a:p>
            <a:r>
              <a:rPr lang="en-US" sz="2400" dirty="0" smtClean="0"/>
              <a:t>Foundation </a:t>
            </a:r>
            <a:r>
              <a:rPr lang="en-US" sz="2400" dirty="0"/>
              <a:t>models can also be used to create videos, images, music, and more.</a:t>
            </a:r>
            <a:endParaRPr lang="en-US" sz="2400" dirty="0" smtClean="0"/>
          </a:p>
          <a:p>
            <a:endParaRPr lang="en-US" sz="2400" dirty="0"/>
          </a:p>
        </p:txBody>
      </p:sp>
      <p:pic>
        <p:nvPicPr>
          <p:cNvPr id="4" name="Picture 3"/>
          <p:cNvPicPr>
            <a:picLocks noChangeAspect="1"/>
          </p:cNvPicPr>
          <p:nvPr/>
        </p:nvPicPr>
        <p:blipFill>
          <a:blip r:embed="rId2"/>
          <a:stretch>
            <a:fillRect/>
          </a:stretch>
        </p:blipFill>
        <p:spPr>
          <a:xfrm>
            <a:off x="2450592" y="4563860"/>
            <a:ext cx="6211824" cy="2294140"/>
          </a:xfrm>
          <a:prstGeom prst="rect">
            <a:avLst/>
          </a:prstGeom>
        </p:spPr>
      </p:pic>
    </p:spTree>
    <p:extLst>
      <p:ext uri="{BB962C8B-B14F-4D97-AF65-F5344CB8AC3E}">
        <p14:creationId xmlns:p14="http://schemas.microsoft.com/office/powerpoint/2010/main" val="10850624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Generative AI on AWS</a:t>
            </a:r>
            <a:endParaRPr lang="en-US" dirty="0"/>
          </a:p>
        </p:txBody>
      </p:sp>
      <p:sp>
        <p:nvSpPr>
          <p:cNvPr id="3" name="Content Placeholder 2"/>
          <p:cNvSpPr>
            <a:spLocks noGrp="1"/>
          </p:cNvSpPr>
          <p:nvPr>
            <p:ph idx="1"/>
          </p:nvPr>
        </p:nvSpPr>
        <p:spPr/>
        <p:txBody>
          <a:bodyPr/>
          <a:lstStyle/>
          <a:p>
            <a:r>
              <a:rPr lang="en-US" dirty="0"/>
              <a:t>AWS offers the following types of generative AI solutions:</a:t>
            </a:r>
            <a:endParaRPr lang="en-US" dirty="0" smtClean="0"/>
          </a:p>
          <a:p>
            <a:pPr lvl="1"/>
            <a:r>
              <a:rPr lang="en-US" b="1" i="1" dirty="0"/>
              <a:t>Amazon </a:t>
            </a:r>
            <a:r>
              <a:rPr lang="en-US" b="1" i="1" dirty="0" err="1"/>
              <a:t>SageMaker</a:t>
            </a:r>
            <a:r>
              <a:rPr lang="en-US" b="1" i="1" dirty="0"/>
              <a:t> JumpStart</a:t>
            </a:r>
            <a:r>
              <a:rPr lang="en-US" dirty="0" smtClean="0">
                <a:effectLst/>
              </a:rPr>
              <a:t>—</a:t>
            </a:r>
            <a:r>
              <a:rPr lang="en-US" dirty="0"/>
              <a:t>An ML hub with FMs and pre-built ML solutions deployable with a few clicks</a:t>
            </a:r>
            <a:endParaRPr lang="en-US" dirty="0" smtClean="0"/>
          </a:p>
          <a:p>
            <a:pPr lvl="1"/>
            <a:r>
              <a:rPr lang="en-US" b="1" i="1" dirty="0"/>
              <a:t>Amazon Bedrock</a:t>
            </a:r>
            <a:r>
              <a:rPr lang="en-US" dirty="0" smtClean="0">
                <a:effectLst/>
              </a:rPr>
              <a:t>—</a:t>
            </a:r>
            <a:r>
              <a:rPr lang="en-US" dirty="0"/>
              <a:t>A fully managed service for adapting and deploying FMs from Amazon and other leading AI companies</a:t>
            </a:r>
            <a:endParaRPr lang="en-US" dirty="0" smtClean="0"/>
          </a:p>
          <a:p>
            <a:pPr lvl="1"/>
            <a:r>
              <a:rPr lang="en-US" b="1" i="1" dirty="0"/>
              <a:t>Amazon Q</a:t>
            </a:r>
            <a:r>
              <a:rPr lang="en-US" dirty="0" smtClean="0">
                <a:effectLst/>
              </a:rPr>
              <a:t>—</a:t>
            </a:r>
            <a:r>
              <a:rPr lang="en-US" dirty="0"/>
              <a:t>An interactive AI assistant that can be integrated with a company's information repositories</a:t>
            </a:r>
            <a:endParaRPr lang="en-US" dirty="0" smtClean="0"/>
          </a:p>
          <a:p>
            <a:pPr marL="457200" lvl="1" indent="0">
              <a:buNone/>
            </a:pPr>
            <a:endParaRPr lang="en-US" dirty="0"/>
          </a:p>
        </p:txBody>
      </p:sp>
      <p:pic>
        <p:nvPicPr>
          <p:cNvPr id="4" name="Picture 3"/>
          <p:cNvPicPr>
            <a:picLocks noChangeAspect="1"/>
          </p:cNvPicPr>
          <p:nvPr/>
        </p:nvPicPr>
        <p:blipFill>
          <a:blip r:embed="rId2"/>
          <a:stretch>
            <a:fillRect/>
          </a:stretch>
        </p:blipFill>
        <p:spPr>
          <a:xfrm>
            <a:off x="2346769" y="4733544"/>
            <a:ext cx="6181725" cy="1981200"/>
          </a:xfrm>
          <a:prstGeom prst="rect">
            <a:avLst/>
          </a:prstGeom>
        </p:spPr>
      </p:pic>
    </p:spTree>
    <p:extLst>
      <p:ext uri="{BB962C8B-B14F-4D97-AF65-F5344CB8AC3E}">
        <p14:creationId xmlns:p14="http://schemas.microsoft.com/office/powerpoint/2010/main" val="415062142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05405"/>
            <a:ext cx="10515600" cy="1325563"/>
          </a:xfrm>
        </p:spPr>
        <p:txBody>
          <a:bodyPr/>
          <a:lstStyle/>
          <a:p>
            <a:pPr algn="ctr"/>
            <a:r>
              <a:rPr lang="en-US" b="1" dirty="0" smtClean="0"/>
              <a:t>AWS Generative AI Solutions</a:t>
            </a:r>
            <a:endParaRPr lang="en-US" dirty="0"/>
          </a:p>
        </p:txBody>
      </p:sp>
    </p:spTree>
    <p:extLst>
      <p:ext uri="{BB962C8B-B14F-4D97-AF65-F5344CB8AC3E}">
        <p14:creationId xmlns:p14="http://schemas.microsoft.com/office/powerpoint/2010/main" val="22191208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effectLst/>
              </a:rPr>
              <a:t>Describe the benefits and purpose of the generative AI services offered by AWS.</a:t>
            </a:r>
            <a:endParaRPr lang="en-US" dirty="0" smtClean="0"/>
          </a:p>
          <a:p>
            <a:endParaRPr lang="en-US" dirty="0"/>
          </a:p>
        </p:txBody>
      </p:sp>
    </p:spTree>
    <p:extLst>
      <p:ext uri="{BB962C8B-B14F-4D97-AF65-F5344CB8AC3E}">
        <p14:creationId xmlns:p14="http://schemas.microsoft.com/office/powerpoint/2010/main" val="32450112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a:t>SageMaker</a:t>
            </a:r>
            <a:r>
              <a:rPr lang="en-US" b="1" dirty="0"/>
              <a:t> </a:t>
            </a:r>
            <a:r>
              <a:rPr lang="en-US" b="1" dirty="0" smtClean="0"/>
              <a:t>JumpStart</a:t>
            </a:r>
            <a:endParaRPr lang="en-US" dirty="0"/>
          </a:p>
        </p:txBody>
      </p:sp>
      <p:sp>
        <p:nvSpPr>
          <p:cNvPr id="3" name="Content Placeholder 2"/>
          <p:cNvSpPr>
            <a:spLocks noGrp="1"/>
          </p:cNvSpPr>
          <p:nvPr>
            <p:ph idx="1"/>
          </p:nvPr>
        </p:nvSpPr>
        <p:spPr/>
        <p:txBody>
          <a:bodyPr/>
          <a:lstStyle/>
          <a:p>
            <a:r>
              <a:rPr lang="en-US" b="1" dirty="0" err="1" smtClean="0"/>
              <a:t>SageMaker</a:t>
            </a:r>
            <a:r>
              <a:rPr lang="en-US" b="1" dirty="0" smtClean="0"/>
              <a:t> JumpStart </a:t>
            </a:r>
            <a:r>
              <a:rPr lang="en-US" dirty="0" smtClean="0"/>
              <a:t>is a machine learning hub within </a:t>
            </a:r>
            <a:r>
              <a:rPr lang="en-US" dirty="0" err="1" smtClean="0"/>
              <a:t>SageMaker</a:t>
            </a:r>
            <a:r>
              <a:rPr lang="en-US" dirty="0" smtClean="0"/>
              <a:t> AI that accelerates the process of building, training, and deploying ML models. </a:t>
            </a:r>
          </a:p>
          <a:p>
            <a:r>
              <a:rPr lang="en-US" b="1" dirty="0" err="1" smtClean="0"/>
              <a:t>SageMaker</a:t>
            </a:r>
            <a:r>
              <a:rPr lang="en-US" b="1" dirty="0" smtClean="0"/>
              <a:t> JumpStart </a:t>
            </a:r>
            <a:r>
              <a:rPr lang="en-US" dirty="0" smtClean="0"/>
              <a:t>offers a library of pre-built ML solutions across various domains such as computer vision, NLP, and tabular data. </a:t>
            </a:r>
          </a:p>
          <a:p>
            <a:r>
              <a:rPr lang="en-US" dirty="0" smtClean="0"/>
              <a:t>These pre-trained models can be fine-tuned to suit your specific needs and deployed with just a few clicks.</a:t>
            </a:r>
            <a:endParaRPr lang="en-US" dirty="0"/>
          </a:p>
        </p:txBody>
      </p:sp>
    </p:spTree>
    <p:extLst>
      <p:ext uri="{BB962C8B-B14F-4D97-AF65-F5344CB8AC3E}">
        <p14:creationId xmlns:p14="http://schemas.microsoft.com/office/powerpoint/2010/main" val="39756405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Common use cases for </a:t>
            </a:r>
            <a:r>
              <a:rPr lang="en-US" b="1" dirty="0" err="1"/>
              <a:t>SageMaker</a:t>
            </a:r>
            <a:r>
              <a:rPr lang="en-US" b="1" dirty="0"/>
              <a:t> </a:t>
            </a:r>
            <a:r>
              <a:rPr lang="en-US" b="1" dirty="0" smtClean="0"/>
              <a:t>JumpStart</a:t>
            </a:r>
            <a:endParaRPr lang="en-US" dirty="0"/>
          </a:p>
        </p:txBody>
      </p:sp>
      <p:sp>
        <p:nvSpPr>
          <p:cNvPr id="3" name="Content Placeholder 2"/>
          <p:cNvSpPr>
            <a:spLocks noGrp="1"/>
          </p:cNvSpPr>
          <p:nvPr>
            <p:ph idx="1"/>
          </p:nvPr>
        </p:nvSpPr>
        <p:spPr/>
        <p:txBody>
          <a:bodyPr/>
          <a:lstStyle/>
          <a:p>
            <a:r>
              <a:rPr lang="en-US" b="1" dirty="0"/>
              <a:t>Rapid ML model deployments</a:t>
            </a:r>
            <a:r>
              <a:rPr lang="en-US" dirty="0" smtClean="0">
                <a:effectLst/>
              </a:rPr>
              <a:t/>
            </a:r>
            <a:br>
              <a:rPr lang="en-US" dirty="0" smtClean="0">
                <a:effectLst/>
              </a:rPr>
            </a:br>
            <a:r>
              <a:rPr lang="en-US" dirty="0"/>
              <a:t>Quickly deploy pre-trained models without extensive ML expertise</a:t>
            </a:r>
            <a:r>
              <a:rPr lang="en-US" dirty="0" smtClean="0"/>
              <a:t>.</a:t>
            </a:r>
          </a:p>
          <a:p>
            <a:r>
              <a:rPr lang="en-US" b="1" dirty="0"/>
              <a:t>Custom fine-tuned solutions</a:t>
            </a:r>
            <a:r>
              <a:rPr lang="en-US" dirty="0" smtClean="0"/>
              <a:t/>
            </a:r>
            <a:br>
              <a:rPr lang="en-US" dirty="0" smtClean="0"/>
            </a:br>
            <a:r>
              <a:rPr lang="en-US" dirty="0"/>
              <a:t>Fine-tune pre-trained FMs with your domain-specific data.</a:t>
            </a:r>
            <a:endParaRPr lang="en-US" dirty="0" smtClean="0"/>
          </a:p>
          <a:p>
            <a:r>
              <a:rPr lang="en-US" b="1" dirty="0"/>
              <a:t>ML experiments and prototypes</a:t>
            </a:r>
            <a:r>
              <a:rPr lang="en-US" dirty="0" smtClean="0"/>
              <a:t/>
            </a:r>
            <a:br>
              <a:rPr lang="en-US" dirty="0" smtClean="0"/>
            </a:br>
            <a:r>
              <a:rPr lang="en-US" dirty="0"/>
              <a:t>Compare performance for different models before committing to a specific approach.</a:t>
            </a:r>
            <a:endParaRPr lang="en-US" dirty="0" smtClean="0"/>
          </a:p>
          <a:p>
            <a:endParaRPr lang="en-US" dirty="0">
              <a:effectLst/>
            </a:endParaRPr>
          </a:p>
        </p:txBody>
      </p:sp>
    </p:spTree>
    <p:extLst>
      <p:ext uri="{BB962C8B-B14F-4D97-AF65-F5344CB8AC3E}">
        <p14:creationId xmlns:p14="http://schemas.microsoft.com/office/powerpoint/2010/main" val="33804846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smtClean="0"/>
              <a:t>Bedrock</a:t>
            </a:r>
            <a:endParaRPr lang="en-US" dirty="0"/>
          </a:p>
        </p:txBody>
      </p:sp>
      <p:sp>
        <p:nvSpPr>
          <p:cNvPr id="3" name="Content Placeholder 2"/>
          <p:cNvSpPr>
            <a:spLocks noGrp="1"/>
          </p:cNvSpPr>
          <p:nvPr>
            <p:ph idx="1"/>
          </p:nvPr>
        </p:nvSpPr>
        <p:spPr/>
        <p:txBody>
          <a:bodyPr/>
          <a:lstStyle/>
          <a:p>
            <a:r>
              <a:rPr lang="en-US" b="1" dirty="0" smtClean="0"/>
              <a:t>Amazon Bedrock </a:t>
            </a:r>
            <a:r>
              <a:rPr lang="en-US" dirty="0" smtClean="0"/>
              <a:t>is a fully managed service that was specifically designed for working with large foundation models and building generative AI applications. </a:t>
            </a:r>
          </a:p>
          <a:p>
            <a:r>
              <a:rPr lang="en-US" dirty="0" smtClean="0"/>
              <a:t>It provides access to FMs from Amazon and leading AI startups, such as Claude and Stable Diffusion, all through a single unified API. </a:t>
            </a:r>
          </a:p>
          <a:p>
            <a:r>
              <a:rPr lang="en-US" dirty="0" smtClean="0"/>
              <a:t>With Amazon Bedrock, you can quickly experiment with FMs, fine-tune them with your own data, and seamlessly integrate them into your AWS applications.</a:t>
            </a:r>
            <a:endParaRPr lang="en-US" dirty="0"/>
          </a:p>
        </p:txBody>
      </p:sp>
    </p:spTree>
    <p:extLst>
      <p:ext uri="{BB962C8B-B14F-4D97-AF65-F5344CB8AC3E}">
        <p14:creationId xmlns:p14="http://schemas.microsoft.com/office/powerpoint/2010/main" val="408198650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Common use cases for Amazon </a:t>
            </a:r>
            <a:r>
              <a:rPr lang="en-US" b="1" dirty="0" smtClean="0"/>
              <a:t>Bedrock</a:t>
            </a:r>
            <a:endParaRPr lang="en-US" dirty="0"/>
          </a:p>
        </p:txBody>
      </p:sp>
      <p:sp>
        <p:nvSpPr>
          <p:cNvPr id="3" name="Content Placeholder 2"/>
          <p:cNvSpPr>
            <a:spLocks noGrp="1"/>
          </p:cNvSpPr>
          <p:nvPr>
            <p:ph idx="1"/>
          </p:nvPr>
        </p:nvSpPr>
        <p:spPr/>
        <p:txBody>
          <a:bodyPr/>
          <a:lstStyle/>
          <a:p>
            <a:r>
              <a:rPr lang="en-US" b="1" dirty="0"/>
              <a:t>Enterprise-grade generative AI</a:t>
            </a:r>
            <a:r>
              <a:rPr lang="en-US" dirty="0" smtClean="0">
                <a:effectLst/>
              </a:rPr>
              <a:t/>
            </a:r>
            <a:br>
              <a:rPr lang="en-US" dirty="0" smtClean="0">
                <a:effectLst/>
              </a:rPr>
            </a:br>
            <a:r>
              <a:rPr lang="en-US" dirty="0"/>
              <a:t>Build production-ready generative AI applications with enterprise-level security, privacy, and scalability.</a:t>
            </a:r>
            <a:endParaRPr lang="en-US" dirty="0" smtClean="0">
              <a:effectLst/>
            </a:endParaRPr>
          </a:p>
          <a:p>
            <a:r>
              <a:rPr lang="en-US" b="1" dirty="0"/>
              <a:t>Multimodal content generation</a:t>
            </a:r>
            <a:r>
              <a:rPr lang="en-US" dirty="0" smtClean="0"/>
              <a:t/>
            </a:r>
            <a:br>
              <a:rPr lang="en-US" dirty="0" smtClean="0"/>
            </a:br>
            <a:r>
              <a:rPr lang="en-US" dirty="0"/>
              <a:t>Create applications that can generate multiple content types, such as text and images.</a:t>
            </a:r>
            <a:endParaRPr lang="en-US" dirty="0" smtClean="0"/>
          </a:p>
          <a:p>
            <a:r>
              <a:rPr lang="en-US" b="1" dirty="0"/>
              <a:t>Advanced conversational AI</a:t>
            </a:r>
            <a:r>
              <a:rPr lang="en-US" dirty="0" smtClean="0"/>
              <a:t/>
            </a:r>
            <a:br>
              <a:rPr lang="en-US" dirty="0" smtClean="0"/>
            </a:br>
            <a:r>
              <a:rPr lang="en-US" dirty="0"/>
              <a:t>Develop advanced conversational agents that connect to your enterprise data to provide accurate responses.</a:t>
            </a:r>
            <a:endParaRPr lang="en-US" dirty="0" smtClean="0"/>
          </a:p>
          <a:p>
            <a:endParaRPr lang="en-US" dirty="0"/>
          </a:p>
        </p:txBody>
      </p:sp>
    </p:spTree>
    <p:extLst>
      <p:ext uri="{BB962C8B-B14F-4D97-AF65-F5344CB8AC3E}">
        <p14:creationId xmlns:p14="http://schemas.microsoft.com/office/powerpoint/2010/main" val="12211730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Q </a:t>
            </a:r>
            <a:r>
              <a:rPr lang="en-US" b="1" dirty="0" smtClean="0"/>
              <a:t>products</a:t>
            </a:r>
            <a:endParaRPr lang="en-US" dirty="0"/>
          </a:p>
        </p:txBody>
      </p:sp>
      <p:sp>
        <p:nvSpPr>
          <p:cNvPr id="3" name="Content Placeholder 2"/>
          <p:cNvSpPr>
            <a:spLocks noGrp="1"/>
          </p:cNvSpPr>
          <p:nvPr>
            <p:ph idx="1"/>
          </p:nvPr>
        </p:nvSpPr>
        <p:spPr>
          <a:xfrm>
            <a:off x="838200" y="1825624"/>
            <a:ext cx="10515600" cy="5032375"/>
          </a:xfrm>
        </p:spPr>
        <p:txBody>
          <a:bodyPr>
            <a:normAutofit fontScale="92500" lnSpcReduction="20000"/>
          </a:bodyPr>
          <a:lstStyle/>
          <a:p>
            <a:r>
              <a:rPr lang="en-US" dirty="0" smtClean="0"/>
              <a:t>Amazon Q is a generative AI assistant that can help companies streamline processes, get to decisions faster, and improve employee productivity. </a:t>
            </a:r>
          </a:p>
          <a:p>
            <a:r>
              <a:rPr lang="en-US" dirty="0" smtClean="0"/>
              <a:t>It can help every employee gain insights into their data and accelerate their tasks.</a:t>
            </a:r>
          </a:p>
          <a:p>
            <a:r>
              <a:rPr lang="en-US" dirty="0" smtClean="0">
                <a:effectLst/>
              </a:rPr>
              <a:t>Amazon Q consists of the following two products:</a:t>
            </a:r>
          </a:p>
          <a:p>
            <a:pPr lvl="1"/>
            <a:r>
              <a:rPr lang="en-US" b="1" dirty="0"/>
              <a:t>Amazon Q </a:t>
            </a:r>
            <a:r>
              <a:rPr lang="en-US" b="1" dirty="0" smtClean="0"/>
              <a:t>Business</a:t>
            </a:r>
          </a:p>
          <a:p>
            <a:pPr lvl="2"/>
            <a:r>
              <a:rPr lang="en-US" dirty="0"/>
              <a:t>Amazon Q Business can answer pressing questions, help solve problems, and take actions using the data and expertise found in your company's information repositories. </a:t>
            </a:r>
            <a:endParaRPr lang="en-US" dirty="0" smtClean="0"/>
          </a:p>
          <a:p>
            <a:pPr lvl="2"/>
            <a:r>
              <a:rPr lang="en-US" dirty="0" smtClean="0"/>
              <a:t>Amazon </a:t>
            </a:r>
            <a:r>
              <a:rPr lang="en-US" dirty="0"/>
              <a:t>Q Business provides this tailored assistance with a secure connection to commonly used systems.</a:t>
            </a:r>
            <a:endParaRPr lang="en-US" dirty="0" smtClean="0"/>
          </a:p>
          <a:p>
            <a:pPr lvl="2"/>
            <a:r>
              <a:rPr lang="en-US" b="1" dirty="0" smtClean="0">
                <a:effectLst/>
              </a:rPr>
              <a:t>Use cases: </a:t>
            </a:r>
            <a:r>
              <a:rPr lang="en-US" dirty="0" smtClean="0">
                <a:effectLst/>
              </a:rPr>
              <a:t>Information requests, automated workflows, and insight extraction</a:t>
            </a:r>
            <a:endParaRPr lang="en-US" b="1" dirty="0" smtClean="0"/>
          </a:p>
          <a:p>
            <a:pPr lvl="1"/>
            <a:r>
              <a:rPr lang="en-US" b="1" dirty="0"/>
              <a:t>Amazon Q </a:t>
            </a:r>
            <a:r>
              <a:rPr lang="en-US" b="1" dirty="0" smtClean="0"/>
              <a:t>Developer</a:t>
            </a:r>
          </a:p>
          <a:p>
            <a:pPr lvl="2"/>
            <a:r>
              <a:rPr lang="en-US" dirty="0"/>
              <a:t>Amazon Q Developer provides code recommendations to accelerate development for coding languages including C#, Java, JavaScript, Python, and </a:t>
            </a:r>
            <a:r>
              <a:rPr lang="en-US" dirty="0" err="1"/>
              <a:t>TypeScript</a:t>
            </a:r>
            <a:r>
              <a:rPr lang="en-US" dirty="0"/>
              <a:t> applications. It integrates with multiple IDEs and helps developers write code faster by generating entire functions and logical blocks of code.</a:t>
            </a:r>
            <a:endParaRPr lang="en-US" dirty="0" smtClean="0"/>
          </a:p>
          <a:p>
            <a:pPr lvl="2"/>
            <a:r>
              <a:rPr lang="en-US" b="1" dirty="0" smtClean="0">
                <a:effectLst/>
              </a:rPr>
              <a:t>Use cases: </a:t>
            </a:r>
            <a:r>
              <a:rPr lang="en-US" dirty="0" smtClean="0">
                <a:effectLst/>
              </a:rPr>
              <a:t>Faster code generation, improved reliability and security, and automated code reviews</a:t>
            </a:r>
            <a:endParaRPr lang="en-US" dirty="0" smtClean="0"/>
          </a:p>
          <a:p>
            <a:pPr lvl="1"/>
            <a:endParaRPr lang="en-US" dirty="0" smtClean="0"/>
          </a:p>
          <a:p>
            <a:endParaRPr lang="en-US" dirty="0"/>
          </a:p>
        </p:txBody>
      </p:sp>
    </p:spTree>
    <p:extLst>
      <p:ext uri="{BB962C8B-B14F-4D97-AF65-F5344CB8AC3E}">
        <p14:creationId xmlns:p14="http://schemas.microsoft.com/office/powerpoint/2010/main" val="185744933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2989453"/>
            <a:ext cx="10515600" cy="1325563"/>
          </a:xfrm>
        </p:spPr>
        <p:txBody>
          <a:bodyPr/>
          <a:lstStyle/>
          <a:p>
            <a:pPr algn="ctr"/>
            <a:r>
              <a:rPr lang="en-US" b="1" dirty="0" smtClean="0"/>
              <a:t>Introduction to Data Analytics</a:t>
            </a:r>
            <a:endParaRPr lang="en-US" dirty="0"/>
          </a:p>
        </p:txBody>
      </p:sp>
    </p:spTree>
    <p:extLst>
      <p:ext uri="{BB962C8B-B14F-4D97-AF65-F5344CB8AC3E}">
        <p14:creationId xmlns:p14="http://schemas.microsoft.com/office/powerpoint/2010/main" val="409663743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 this lesson, you will learn:</a:t>
            </a:r>
            <a:endParaRPr lang="en-US" dirty="0"/>
          </a:p>
        </p:txBody>
      </p:sp>
      <p:sp>
        <p:nvSpPr>
          <p:cNvPr id="3" name="Content Placeholder 2"/>
          <p:cNvSpPr>
            <a:spLocks noGrp="1"/>
          </p:cNvSpPr>
          <p:nvPr>
            <p:ph idx="1"/>
          </p:nvPr>
        </p:nvSpPr>
        <p:spPr/>
        <p:txBody>
          <a:bodyPr/>
          <a:lstStyle/>
          <a:p>
            <a:r>
              <a:rPr lang="en-US" dirty="0" smtClean="0"/>
              <a:t>Describe the benefits and purpose of ETL data pipelines.</a:t>
            </a:r>
          </a:p>
          <a:p>
            <a:r>
              <a:rPr lang="en-US" dirty="0" smtClean="0">
                <a:effectLst/>
              </a:rPr>
              <a:t>Define data analytics.</a:t>
            </a:r>
            <a:endParaRPr lang="en-US" dirty="0" smtClean="0"/>
          </a:p>
          <a:p>
            <a:endParaRPr lang="en-US" dirty="0"/>
          </a:p>
        </p:txBody>
      </p:sp>
    </p:spTree>
    <p:extLst>
      <p:ext uri="{BB962C8B-B14F-4D97-AF65-F5344CB8AC3E}">
        <p14:creationId xmlns:p14="http://schemas.microsoft.com/office/powerpoint/2010/main" val="4811495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pipelines for ETL processes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effectLst/>
              </a:rPr>
              <a:t>Both AI/ML and traditional data analytics need clean and accessible data in a format that's usable by analytics tools and AI algorithms. </a:t>
            </a:r>
          </a:p>
          <a:p>
            <a:r>
              <a:rPr lang="en-US" dirty="0" smtClean="0">
                <a:effectLst/>
              </a:rPr>
              <a:t>ETL processes are used for this purpose. With ETL, you perform the following steps:</a:t>
            </a:r>
          </a:p>
          <a:p>
            <a:pPr lvl="1"/>
            <a:r>
              <a:rPr lang="en-US" b="1" i="1" dirty="0" smtClean="0">
                <a:effectLst/>
              </a:rPr>
              <a:t>Extract</a:t>
            </a:r>
            <a:r>
              <a:rPr lang="en-US" dirty="0" smtClean="0">
                <a:effectLst/>
              </a:rPr>
              <a:t> the data from various sources and store it.</a:t>
            </a:r>
            <a:endParaRPr lang="en-US" dirty="0" smtClean="0"/>
          </a:p>
          <a:p>
            <a:pPr lvl="1"/>
            <a:r>
              <a:rPr lang="en-US" b="1" i="1" dirty="0" smtClean="0">
                <a:effectLst/>
              </a:rPr>
              <a:t>Transform</a:t>
            </a:r>
            <a:r>
              <a:rPr lang="en-US" i="1" dirty="0" smtClean="0">
                <a:effectLst/>
              </a:rPr>
              <a:t> </a:t>
            </a:r>
            <a:r>
              <a:rPr lang="en-US" dirty="0" smtClean="0">
                <a:effectLst/>
              </a:rPr>
              <a:t>it into a consistent, usable format for downstream tools to consume.</a:t>
            </a:r>
            <a:endParaRPr lang="en-US" dirty="0" smtClean="0"/>
          </a:p>
          <a:p>
            <a:pPr lvl="1"/>
            <a:r>
              <a:rPr lang="en-US" b="1" i="1" dirty="0" smtClean="0">
                <a:effectLst/>
              </a:rPr>
              <a:t>Load</a:t>
            </a:r>
            <a:r>
              <a:rPr lang="en-US" i="1" dirty="0" smtClean="0">
                <a:effectLst/>
              </a:rPr>
              <a:t> </a:t>
            </a:r>
            <a:r>
              <a:rPr lang="en-US" dirty="0" smtClean="0">
                <a:effectLst/>
              </a:rPr>
              <a:t>it into a destination system, like a data warehouse or analytics platform.</a:t>
            </a:r>
            <a:endParaRPr lang="en-US" dirty="0" smtClean="0"/>
          </a:p>
          <a:p>
            <a:pPr marL="457200" lvl="1" indent="0">
              <a:buNone/>
            </a:pPr>
            <a:endParaRPr lang="en-US" dirty="0" smtClean="0">
              <a:effectLst/>
            </a:endParaRPr>
          </a:p>
          <a:p>
            <a:r>
              <a:rPr lang="en-US" dirty="0" smtClean="0">
                <a:effectLst/>
              </a:rPr>
              <a:t>Data pipelines are automated assembly lines used to make the ETL process efficient and repeatable. </a:t>
            </a:r>
          </a:p>
          <a:p>
            <a:r>
              <a:rPr lang="en-US" dirty="0" smtClean="0">
                <a:effectLst/>
              </a:rPr>
              <a:t>AWS has a suite of integrated services so you can build your own data pipelines.</a:t>
            </a:r>
            <a:endParaRPr lang="en-US" dirty="0" smtClean="0"/>
          </a:p>
          <a:p>
            <a:endParaRPr lang="en-US" dirty="0" smtClean="0"/>
          </a:p>
          <a:p>
            <a:endParaRPr lang="en-US" dirty="0"/>
          </a:p>
        </p:txBody>
      </p:sp>
    </p:spTree>
    <p:extLst>
      <p:ext uri="{BB962C8B-B14F-4D97-AF65-F5344CB8AC3E}">
        <p14:creationId xmlns:p14="http://schemas.microsoft.com/office/powerpoint/2010/main" val="30784560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analytics</a:t>
            </a:r>
            <a:endParaRPr lang="en-US" dirty="0"/>
          </a:p>
        </p:txBody>
      </p:sp>
      <p:sp>
        <p:nvSpPr>
          <p:cNvPr id="3" name="Content Placeholder 2"/>
          <p:cNvSpPr>
            <a:spLocks noGrp="1"/>
          </p:cNvSpPr>
          <p:nvPr>
            <p:ph idx="1"/>
          </p:nvPr>
        </p:nvSpPr>
        <p:spPr/>
        <p:txBody>
          <a:bodyPr/>
          <a:lstStyle/>
          <a:p>
            <a:r>
              <a:rPr lang="en-US" dirty="0" smtClean="0">
                <a:effectLst/>
              </a:rPr>
              <a:t>Data analytics is when analysts transform raw historical data to uncover valuable insights and trends. </a:t>
            </a:r>
          </a:p>
          <a:p>
            <a:r>
              <a:rPr lang="en-US" dirty="0" smtClean="0">
                <a:effectLst/>
              </a:rPr>
              <a:t>This traditional data analysis can apply to important use cases, such as the following:</a:t>
            </a:r>
            <a:endParaRPr lang="en-US" dirty="0" smtClean="0"/>
          </a:p>
          <a:p>
            <a:pPr lvl="1"/>
            <a:r>
              <a:rPr lang="en-US" dirty="0" smtClean="0">
                <a:effectLst/>
              </a:rPr>
              <a:t>Loan companies explaining lending decisions to customers.</a:t>
            </a:r>
            <a:endParaRPr lang="en-US" dirty="0" smtClean="0"/>
          </a:p>
          <a:p>
            <a:pPr lvl="1"/>
            <a:r>
              <a:rPr lang="en-US" dirty="0" smtClean="0">
                <a:effectLst/>
              </a:rPr>
              <a:t>Medical researchers analyzing clinical trial data through hypothesis testing.</a:t>
            </a:r>
            <a:endParaRPr lang="en-US" dirty="0" smtClean="0"/>
          </a:p>
          <a:p>
            <a:pPr lvl="1"/>
            <a:r>
              <a:rPr lang="en-US" dirty="0" smtClean="0">
                <a:effectLst/>
              </a:rPr>
              <a:t>Insurance companies making their risk assessment models transparent for regulators.</a:t>
            </a:r>
            <a:br>
              <a:rPr lang="en-US" dirty="0" smtClean="0">
                <a:effectLst/>
              </a:rPr>
            </a:br>
            <a:endParaRPr lang="en-US" dirty="0" smtClean="0"/>
          </a:p>
          <a:p>
            <a:endParaRPr lang="en-US" dirty="0"/>
          </a:p>
        </p:txBody>
      </p:sp>
    </p:spTree>
    <p:extLst>
      <p:ext uri="{BB962C8B-B14F-4D97-AF65-F5344CB8AC3E}">
        <p14:creationId xmlns:p14="http://schemas.microsoft.com/office/powerpoint/2010/main" val="27562537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464" y="3044317"/>
            <a:ext cx="10515600" cy="1325563"/>
          </a:xfrm>
        </p:spPr>
        <p:txBody>
          <a:bodyPr/>
          <a:lstStyle/>
          <a:p>
            <a:pPr algn="ctr"/>
            <a:r>
              <a:rPr lang="en-US" b="1" dirty="0" smtClean="0"/>
              <a:t>Data Pipelines on AWS</a:t>
            </a:r>
            <a:endParaRPr lang="en-US" dirty="0"/>
          </a:p>
        </p:txBody>
      </p:sp>
    </p:spTree>
    <p:extLst>
      <p:ext uri="{BB962C8B-B14F-4D97-AF65-F5344CB8AC3E}">
        <p14:creationId xmlns:p14="http://schemas.microsoft.com/office/powerpoint/2010/main" val="3153313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 this lesson, you will learn:</a:t>
            </a:r>
            <a:endParaRPr lang="en-US" dirty="0"/>
          </a:p>
        </p:txBody>
      </p:sp>
      <p:sp>
        <p:nvSpPr>
          <p:cNvPr id="3" name="Content Placeholder 2"/>
          <p:cNvSpPr>
            <a:spLocks noGrp="1"/>
          </p:cNvSpPr>
          <p:nvPr>
            <p:ph idx="1"/>
          </p:nvPr>
        </p:nvSpPr>
        <p:spPr/>
        <p:txBody>
          <a:bodyPr/>
          <a:lstStyle/>
          <a:p>
            <a:r>
              <a:rPr lang="en-US" dirty="0" smtClean="0"/>
              <a:t>Describe the AWS services used in each phase of a typical AWS data pipeline.</a:t>
            </a:r>
          </a:p>
          <a:p>
            <a:endParaRPr lang="en-US" dirty="0"/>
          </a:p>
        </p:txBody>
      </p:sp>
    </p:spTree>
    <p:extLst>
      <p:ext uri="{BB962C8B-B14F-4D97-AF65-F5344CB8AC3E}">
        <p14:creationId xmlns:p14="http://schemas.microsoft.com/office/powerpoint/2010/main" val="205895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data pipeline </a:t>
            </a:r>
            <a:r>
              <a:rPr lang="en-US" b="1" dirty="0" smtClean="0"/>
              <a:t>services</a:t>
            </a:r>
            <a:endParaRPr lang="en-US" dirty="0"/>
          </a:p>
        </p:txBody>
      </p:sp>
      <p:sp>
        <p:nvSpPr>
          <p:cNvPr id="3" name="Content Placeholder 2"/>
          <p:cNvSpPr>
            <a:spLocks noGrp="1"/>
          </p:cNvSpPr>
          <p:nvPr>
            <p:ph idx="1"/>
          </p:nvPr>
        </p:nvSpPr>
        <p:spPr/>
        <p:txBody>
          <a:bodyPr/>
          <a:lstStyle/>
          <a:p>
            <a:r>
              <a:rPr lang="en-US" b="1" dirty="0"/>
              <a:t>Data ingestion services</a:t>
            </a:r>
            <a:endParaRPr lang="en-US" b="1" dirty="0" smtClean="0"/>
          </a:p>
          <a:p>
            <a:pPr lvl="1"/>
            <a:r>
              <a:rPr lang="en-US" dirty="0" smtClean="0"/>
              <a:t>Data ingestion involves moving data from source systems into your chosen storage solution. </a:t>
            </a:r>
            <a:endParaRPr lang="ar-EG" dirty="0" smtClean="0"/>
          </a:p>
          <a:p>
            <a:pPr lvl="1"/>
            <a:r>
              <a:rPr lang="en-US" dirty="0" smtClean="0"/>
              <a:t>Use real-time ingestion when the data is needed immediately. Use batch ingestion when some latency is tolerable.</a:t>
            </a:r>
            <a:endParaRPr lang="en-US" dirty="0"/>
          </a:p>
        </p:txBody>
      </p:sp>
      <p:pic>
        <p:nvPicPr>
          <p:cNvPr id="4" name="Picture 3"/>
          <p:cNvPicPr>
            <a:picLocks noChangeAspect="1"/>
          </p:cNvPicPr>
          <p:nvPr/>
        </p:nvPicPr>
        <p:blipFill>
          <a:blip r:embed="rId2"/>
          <a:stretch>
            <a:fillRect/>
          </a:stretch>
        </p:blipFill>
        <p:spPr>
          <a:xfrm>
            <a:off x="1351216" y="3917442"/>
            <a:ext cx="8867775" cy="1638300"/>
          </a:xfrm>
          <a:prstGeom prst="rect">
            <a:avLst/>
          </a:prstGeom>
        </p:spPr>
      </p:pic>
    </p:spTree>
    <p:extLst>
      <p:ext uri="{BB962C8B-B14F-4D97-AF65-F5344CB8AC3E}">
        <p14:creationId xmlns:p14="http://schemas.microsoft.com/office/powerpoint/2010/main" val="3340624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ingestion services</a:t>
            </a:r>
          </a:p>
        </p:txBody>
      </p:sp>
      <p:sp>
        <p:nvSpPr>
          <p:cNvPr id="3" name="Content Placeholder 2"/>
          <p:cNvSpPr>
            <a:spLocks noGrp="1"/>
          </p:cNvSpPr>
          <p:nvPr>
            <p:ph idx="1"/>
          </p:nvPr>
        </p:nvSpPr>
        <p:spPr/>
        <p:txBody>
          <a:bodyPr/>
          <a:lstStyle/>
          <a:p>
            <a:r>
              <a:rPr lang="en-US" b="1" dirty="0" smtClean="0">
                <a:effectLst/>
              </a:rPr>
              <a:t>Amazon Kinesis Data Streams</a:t>
            </a:r>
            <a:endParaRPr lang="ar-EG" b="1" dirty="0" smtClean="0">
              <a:effectLst/>
            </a:endParaRPr>
          </a:p>
          <a:p>
            <a:pPr lvl="1"/>
            <a:r>
              <a:rPr lang="en-US" dirty="0" smtClean="0">
                <a:effectLst/>
              </a:rPr>
              <a:t>You can use Kinesis Data Streams for real-time ingestion of terabytes of data from applications, streams, and sensors. </a:t>
            </a:r>
            <a:endParaRPr lang="ar-EG" dirty="0" smtClean="0">
              <a:effectLst/>
            </a:endParaRPr>
          </a:p>
          <a:p>
            <a:pPr lvl="1"/>
            <a:r>
              <a:rPr lang="en-US" dirty="0" smtClean="0">
                <a:effectLst/>
              </a:rPr>
              <a:t>This </a:t>
            </a:r>
            <a:r>
              <a:rPr lang="en-US" dirty="0" err="1" smtClean="0">
                <a:effectLst/>
              </a:rPr>
              <a:t>serverless</a:t>
            </a:r>
            <a:r>
              <a:rPr lang="en-US" dirty="0" smtClean="0">
                <a:effectLst/>
              </a:rPr>
              <a:t> service even provides automatic provisioning and scaling in on-demand mode.</a:t>
            </a:r>
            <a:endParaRPr lang="ar-EG" b="1" dirty="0"/>
          </a:p>
          <a:p>
            <a:r>
              <a:rPr lang="en-US" b="1" dirty="0" smtClean="0">
                <a:effectLst/>
              </a:rPr>
              <a:t>Amazon Data Firehose</a:t>
            </a:r>
            <a:endParaRPr lang="ar-EG" b="1" dirty="0" smtClean="0">
              <a:effectLst/>
            </a:endParaRPr>
          </a:p>
          <a:p>
            <a:pPr lvl="1"/>
            <a:r>
              <a:rPr lang="en-US" dirty="0" smtClean="0">
                <a:effectLst/>
              </a:rPr>
              <a:t>Firehose is an option for data ingestion in near real-time. </a:t>
            </a:r>
            <a:endParaRPr lang="ar-EG" dirty="0" smtClean="0">
              <a:effectLst/>
            </a:endParaRPr>
          </a:p>
          <a:p>
            <a:pPr lvl="1"/>
            <a:r>
              <a:rPr lang="en-US" dirty="0" smtClean="0">
                <a:effectLst/>
              </a:rPr>
              <a:t>This fully managed service provides automatic provisioning and scaling. </a:t>
            </a:r>
            <a:endParaRPr lang="ar-EG" dirty="0" smtClean="0">
              <a:effectLst/>
            </a:endParaRPr>
          </a:p>
          <a:p>
            <a:pPr lvl="1"/>
            <a:r>
              <a:rPr lang="en-US" dirty="0" smtClean="0">
                <a:effectLst/>
              </a:rPr>
              <a:t>It also delivers data within seconds to data lakes, warehouses, and analytics services.</a:t>
            </a:r>
            <a:endParaRPr lang="en-US" dirty="0"/>
          </a:p>
        </p:txBody>
      </p:sp>
    </p:spTree>
    <p:extLst>
      <p:ext uri="{BB962C8B-B14F-4D97-AF65-F5344CB8AC3E}">
        <p14:creationId xmlns:p14="http://schemas.microsoft.com/office/powerpoint/2010/main" val="24891978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storage </a:t>
            </a:r>
            <a:r>
              <a:rPr lang="en-US" b="1" dirty="0" smtClean="0"/>
              <a:t>services</a:t>
            </a:r>
            <a:endParaRPr lang="en-US" dirty="0"/>
          </a:p>
        </p:txBody>
      </p:sp>
      <p:sp>
        <p:nvSpPr>
          <p:cNvPr id="3" name="Content Placeholder 2"/>
          <p:cNvSpPr>
            <a:spLocks noGrp="1"/>
          </p:cNvSpPr>
          <p:nvPr>
            <p:ph idx="1"/>
          </p:nvPr>
        </p:nvSpPr>
        <p:spPr/>
        <p:txBody>
          <a:bodyPr/>
          <a:lstStyle/>
          <a:p>
            <a:r>
              <a:rPr lang="en-US" dirty="0" smtClean="0"/>
              <a:t>Data can come from many different sources. </a:t>
            </a:r>
            <a:endParaRPr lang="ar-EG" dirty="0" smtClean="0"/>
          </a:p>
          <a:p>
            <a:r>
              <a:rPr lang="en-US" dirty="0" smtClean="0"/>
              <a:t>To gain insights, data is commonly consolidated into a single location. </a:t>
            </a:r>
            <a:endParaRPr lang="ar-EG" dirty="0" smtClean="0"/>
          </a:p>
          <a:p>
            <a:r>
              <a:rPr lang="en-US" dirty="0" smtClean="0"/>
              <a:t>There are two storage options for this:</a:t>
            </a:r>
          </a:p>
          <a:p>
            <a:pPr lvl="1"/>
            <a:r>
              <a:rPr lang="en-US" i="1" dirty="0" smtClean="0"/>
              <a:t>Flexible </a:t>
            </a:r>
            <a:r>
              <a:rPr lang="en-US" b="1" i="1" dirty="0" smtClean="0"/>
              <a:t>data lakes</a:t>
            </a:r>
            <a:r>
              <a:rPr lang="en-US" dirty="0" smtClean="0"/>
              <a:t> store vast amounts of raw data. </a:t>
            </a:r>
          </a:p>
          <a:p>
            <a:pPr lvl="1"/>
            <a:r>
              <a:rPr lang="en-US" dirty="0" smtClean="0"/>
              <a:t>Alternatively, the more structured </a:t>
            </a:r>
            <a:r>
              <a:rPr lang="en-US" b="1" i="1" dirty="0" smtClean="0"/>
              <a:t>data</a:t>
            </a:r>
            <a:r>
              <a:rPr lang="en-US" i="1" dirty="0" smtClean="0"/>
              <a:t> </a:t>
            </a:r>
            <a:r>
              <a:rPr lang="en-US" b="1" i="1" dirty="0" smtClean="0"/>
              <a:t>warehouses</a:t>
            </a:r>
            <a:r>
              <a:rPr lang="en-US" dirty="0" smtClean="0"/>
              <a:t> are optimized for business intelligence.</a:t>
            </a:r>
            <a:endParaRPr lang="en-US" dirty="0"/>
          </a:p>
        </p:txBody>
      </p:sp>
      <p:pic>
        <p:nvPicPr>
          <p:cNvPr id="4" name="Picture 3"/>
          <p:cNvPicPr>
            <a:picLocks noChangeAspect="1"/>
          </p:cNvPicPr>
          <p:nvPr/>
        </p:nvPicPr>
        <p:blipFill>
          <a:blip r:embed="rId2"/>
          <a:stretch>
            <a:fillRect/>
          </a:stretch>
        </p:blipFill>
        <p:spPr>
          <a:xfrm>
            <a:off x="1414462" y="4645025"/>
            <a:ext cx="8905875" cy="1666875"/>
          </a:xfrm>
          <a:prstGeom prst="rect">
            <a:avLst/>
          </a:prstGeom>
        </p:spPr>
      </p:pic>
    </p:spTree>
    <p:extLst>
      <p:ext uri="{BB962C8B-B14F-4D97-AF65-F5344CB8AC3E}">
        <p14:creationId xmlns:p14="http://schemas.microsoft.com/office/powerpoint/2010/main" val="13534042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storage </a:t>
            </a:r>
            <a:r>
              <a:rPr lang="en-US" b="1" dirty="0" smtClean="0"/>
              <a:t>services</a:t>
            </a:r>
            <a:endParaRPr lang="en-US" dirty="0"/>
          </a:p>
        </p:txBody>
      </p:sp>
      <p:sp>
        <p:nvSpPr>
          <p:cNvPr id="3" name="Content Placeholder 2"/>
          <p:cNvSpPr>
            <a:spLocks noGrp="1"/>
          </p:cNvSpPr>
          <p:nvPr>
            <p:ph idx="1"/>
          </p:nvPr>
        </p:nvSpPr>
        <p:spPr/>
        <p:txBody>
          <a:bodyPr/>
          <a:lstStyle/>
          <a:p>
            <a:r>
              <a:rPr lang="en-US" b="1" dirty="0"/>
              <a:t>Amazon </a:t>
            </a:r>
            <a:r>
              <a:rPr lang="en-US" b="1" dirty="0" smtClean="0"/>
              <a:t>S3</a:t>
            </a:r>
          </a:p>
          <a:p>
            <a:pPr lvl="1"/>
            <a:r>
              <a:rPr lang="en-US" dirty="0" smtClean="0">
                <a:effectLst/>
              </a:rPr>
              <a:t>Amazon S3 is a popular choice for data lakes. </a:t>
            </a:r>
          </a:p>
          <a:p>
            <a:pPr lvl="1"/>
            <a:r>
              <a:rPr lang="en-US" dirty="0" smtClean="0">
                <a:effectLst/>
              </a:rPr>
              <a:t>This object storage service can securely house virtually any amount of structured or unstructured data. </a:t>
            </a:r>
          </a:p>
          <a:p>
            <a:pPr lvl="1"/>
            <a:r>
              <a:rPr lang="en-US" dirty="0" smtClean="0">
                <a:effectLst/>
              </a:rPr>
              <a:t>Amazon S3 is also fully elastic, automatically scaling as you add and remove data.</a:t>
            </a:r>
            <a:endParaRPr lang="en-US" b="1" dirty="0" smtClean="0"/>
          </a:p>
          <a:p>
            <a:r>
              <a:rPr lang="en-US" b="1" dirty="0"/>
              <a:t>Amazon </a:t>
            </a:r>
            <a:r>
              <a:rPr lang="en-US" b="1" dirty="0" smtClean="0"/>
              <a:t>Redshift</a:t>
            </a:r>
          </a:p>
          <a:p>
            <a:pPr lvl="1"/>
            <a:r>
              <a:rPr lang="en-US" dirty="0" smtClean="0">
                <a:effectLst/>
              </a:rPr>
              <a:t>Amazon Redshift is </a:t>
            </a:r>
            <a:r>
              <a:rPr lang="en-US" dirty="0"/>
              <a:t>a fully managed data warehouse service that can store petabytes of structured or </a:t>
            </a:r>
            <a:r>
              <a:rPr lang="en-US" dirty="0" err="1"/>
              <a:t>semistructured</a:t>
            </a:r>
            <a:r>
              <a:rPr lang="en-US" dirty="0"/>
              <a:t> data. </a:t>
            </a:r>
            <a:endParaRPr lang="en-US" dirty="0" smtClean="0"/>
          </a:p>
          <a:p>
            <a:pPr lvl="1"/>
            <a:r>
              <a:rPr lang="en-US" dirty="0" smtClean="0">
                <a:effectLst/>
              </a:rPr>
              <a:t>With the scalability and pay-as-you-go pricing model, organizations can cost-effectively analyze large datasets.</a:t>
            </a:r>
            <a:endParaRPr lang="en-US" dirty="0"/>
          </a:p>
        </p:txBody>
      </p:sp>
    </p:spTree>
    <p:extLst>
      <p:ext uri="{BB962C8B-B14F-4D97-AF65-F5344CB8AC3E}">
        <p14:creationId xmlns:p14="http://schemas.microsoft.com/office/powerpoint/2010/main" val="10806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cataloging </a:t>
            </a:r>
            <a:r>
              <a:rPr lang="en-US" b="1" dirty="0" smtClean="0"/>
              <a:t>services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Cataloging your data with metadata provides an inventory of your organization's data.</a:t>
            </a:r>
          </a:p>
          <a:p>
            <a:endParaRPr lang="en-US" dirty="0" smtClean="0"/>
          </a:p>
          <a:p>
            <a:endParaRPr lang="en-US" dirty="0"/>
          </a:p>
          <a:p>
            <a:endParaRPr lang="en-US" dirty="0" smtClean="0"/>
          </a:p>
          <a:p>
            <a:endParaRPr lang="en-US" dirty="0"/>
          </a:p>
          <a:p>
            <a:r>
              <a:rPr lang="en-US" b="1" dirty="0"/>
              <a:t>AWS Glue Data </a:t>
            </a:r>
            <a:r>
              <a:rPr lang="en-US" b="1" dirty="0" smtClean="0"/>
              <a:t>Catalog</a:t>
            </a:r>
          </a:p>
          <a:p>
            <a:pPr lvl="1"/>
            <a:r>
              <a:rPr lang="en-US" dirty="0"/>
              <a:t>AWS Glue Data Catalog provides a centralized, scalable, and managed metadata repository that enhances data discovery. </a:t>
            </a:r>
            <a:endParaRPr lang="en-US" dirty="0" smtClean="0"/>
          </a:p>
          <a:p>
            <a:pPr lvl="1"/>
            <a:r>
              <a:rPr lang="en-US" dirty="0" smtClean="0"/>
              <a:t>It </a:t>
            </a:r>
            <a:r>
              <a:rPr lang="en-US" dirty="0"/>
              <a:t>improves the overall efficiency of data pipelines by delivering metadata to various data stores and analytics services.</a:t>
            </a:r>
          </a:p>
        </p:txBody>
      </p:sp>
      <p:pic>
        <p:nvPicPr>
          <p:cNvPr id="4" name="Picture 3"/>
          <p:cNvPicPr>
            <a:picLocks noChangeAspect="1"/>
          </p:cNvPicPr>
          <p:nvPr/>
        </p:nvPicPr>
        <p:blipFill>
          <a:blip r:embed="rId2"/>
          <a:stretch>
            <a:fillRect/>
          </a:stretch>
        </p:blipFill>
        <p:spPr>
          <a:xfrm>
            <a:off x="1250251" y="2588323"/>
            <a:ext cx="8886825" cy="1571625"/>
          </a:xfrm>
          <a:prstGeom prst="rect">
            <a:avLst/>
          </a:prstGeom>
        </p:spPr>
      </p:pic>
    </p:spTree>
    <p:extLst>
      <p:ext uri="{BB962C8B-B14F-4D97-AF65-F5344CB8AC3E}">
        <p14:creationId xmlns:p14="http://schemas.microsoft.com/office/powerpoint/2010/main" val="18550814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processing </a:t>
            </a:r>
            <a:r>
              <a:rPr lang="en-US" b="1" dirty="0" smtClean="0"/>
              <a:t>services</a:t>
            </a:r>
            <a:endParaRPr lang="en-US" dirty="0"/>
          </a:p>
        </p:txBody>
      </p:sp>
      <p:sp>
        <p:nvSpPr>
          <p:cNvPr id="3" name="Content Placeholder 2"/>
          <p:cNvSpPr>
            <a:spLocks noGrp="1"/>
          </p:cNvSpPr>
          <p:nvPr>
            <p:ph idx="1"/>
          </p:nvPr>
        </p:nvSpPr>
        <p:spPr/>
        <p:txBody>
          <a:bodyPr/>
          <a:lstStyle/>
          <a:p>
            <a:r>
              <a:rPr lang="en-US" dirty="0" smtClean="0"/>
              <a:t>Data processing services clean and transform your data so it's ready to be analyzed.</a:t>
            </a:r>
            <a:endParaRPr lang="en-US" dirty="0"/>
          </a:p>
        </p:txBody>
      </p:sp>
      <p:pic>
        <p:nvPicPr>
          <p:cNvPr id="4" name="Picture 3"/>
          <p:cNvPicPr>
            <a:picLocks noChangeAspect="1"/>
          </p:cNvPicPr>
          <p:nvPr/>
        </p:nvPicPr>
        <p:blipFill>
          <a:blip r:embed="rId2"/>
          <a:stretch>
            <a:fillRect/>
          </a:stretch>
        </p:blipFill>
        <p:spPr>
          <a:xfrm>
            <a:off x="1504759" y="3186906"/>
            <a:ext cx="8963025" cy="1628775"/>
          </a:xfrm>
          <a:prstGeom prst="rect">
            <a:avLst/>
          </a:prstGeom>
        </p:spPr>
      </p:pic>
    </p:spTree>
    <p:extLst>
      <p:ext uri="{BB962C8B-B14F-4D97-AF65-F5344CB8AC3E}">
        <p14:creationId xmlns:p14="http://schemas.microsoft.com/office/powerpoint/2010/main" val="24403433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processing </a:t>
            </a:r>
            <a:r>
              <a:rPr lang="en-US" b="1" dirty="0" smtClean="0"/>
              <a:t>services</a:t>
            </a:r>
            <a:endParaRPr lang="en-US" dirty="0"/>
          </a:p>
        </p:txBody>
      </p:sp>
      <p:sp>
        <p:nvSpPr>
          <p:cNvPr id="3" name="Content Placeholder 2"/>
          <p:cNvSpPr>
            <a:spLocks noGrp="1"/>
          </p:cNvSpPr>
          <p:nvPr>
            <p:ph idx="1"/>
          </p:nvPr>
        </p:nvSpPr>
        <p:spPr/>
        <p:txBody>
          <a:bodyPr>
            <a:normAutofit fontScale="92500"/>
          </a:bodyPr>
          <a:lstStyle/>
          <a:p>
            <a:r>
              <a:rPr lang="en-US" b="1" dirty="0"/>
              <a:t>AWS </a:t>
            </a:r>
            <a:r>
              <a:rPr lang="en-US" b="1" dirty="0" smtClean="0"/>
              <a:t>Glue</a:t>
            </a:r>
          </a:p>
          <a:p>
            <a:pPr lvl="1"/>
            <a:r>
              <a:rPr lang="en-US" dirty="0" smtClean="0">
                <a:effectLst/>
              </a:rPr>
              <a:t>AWS Glue is a fully managed ETL service that makes data preparation simpler, faster, and cost effective. </a:t>
            </a:r>
          </a:p>
          <a:p>
            <a:pPr lvl="1"/>
            <a:r>
              <a:rPr lang="en-US" dirty="0" smtClean="0">
                <a:effectLst/>
              </a:rPr>
              <a:t>AWS Glue ETL jobs can use the AWS Glue Data Catalog to access metadata about data sources, which can help inform transformations defined in the ETL script.</a:t>
            </a:r>
            <a:endParaRPr lang="en-US" b="1" dirty="0"/>
          </a:p>
          <a:p>
            <a:r>
              <a:rPr lang="en-US" b="1" dirty="0" smtClean="0"/>
              <a:t>Amazon EMR</a:t>
            </a:r>
          </a:p>
          <a:p>
            <a:pPr lvl="1"/>
            <a:r>
              <a:rPr lang="en-US" dirty="0" smtClean="0">
                <a:effectLst/>
              </a:rPr>
              <a:t>Amazon EMR is ideal for large-scale data processing and organizations with existing big data expertise. </a:t>
            </a:r>
          </a:p>
          <a:p>
            <a:pPr lvl="1"/>
            <a:r>
              <a:rPr lang="en-US" dirty="0" smtClean="0">
                <a:effectLst/>
              </a:rPr>
              <a:t>It automatically handles infrastructure provisioning, cluster management, and scaling. </a:t>
            </a:r>
          </a:p>
          <a:p>
            <a:pPr lvl="1"/>
            <a:r>
              <a:rPr lang="en-US" dirty="0" smtClean="0">
                <a:effectLst/>
              </a:rPr>
              <a:t>Amazon EMR supports popular big data frameworks like Apache Spark, Apache Hadoop, and Apache Hive.</a:t>
            </a:r>
            <a:endParaRPr lang="en-US" dirty="0"/>
          </a:p>
        </p:txBody>
      </p:sp>
    </p:spTree>
    <p:extLst>
      <p:ext uri="{BB962C8B-B14F-4D97-AF65-F5344CB8AC3E}">
        <p14:creationId xmlns:p14="http://schemas.microsoft.com/office/powerpoint/2010/main" val="3546999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analysis and visualization </a:t>
            </a:r>
            <a:r>
              <a:rPr lang="en-US" b="1" dirty="0" smtClean="0"/>
              <a:t>services</a:t>
            </a:r>
            <a:endParaRPr lang="en-US" dirty="0"/>
          </a:p>
        </p:txBody>
      </p:sp>
      <p:sp>
        <p:nvSpPr>
          <p:cNvPr id="3" name="Content Placeholder 2"/>
          <p:cNvSpPr>
            <a:spLocks noGrp="1"/>
          </p:cNvSpPr>
          <p:nvPr>
            <p:ph idx="1"/>
          </p:nvPr>
        </p:nvSpPr>
        <p:spPr/>
        <p:txBody>
          <a:bodyPr/>
          <a:lstStyle/>
          <a:p>
            <a:r>
              <a:rPr lang="en-US" dirty="0" smtClean="0"/>
              <a:t>Queries and visualization tools help you to develop important insights about your data.</a:t>
            </a:r>
            <a:endParaRPr lang="en-US" dirty="0"/>
          </a:p>
        </p:txBody>
      </p:sp>
      <p:pic>
        <p:nvPicPr>
          <p:cNvPr id="4" name="Picture 3"/>
          <p:cNvPicPr>
            <a:picLocks noChangeAspect="1"/>
          </p:cNvPicPr>
          <p:nvPr/>
        </p:nvPicPr>
        <p:blipFill>
          <a:blip r:embed="rId2"/>
          <a:stretch>
            <a:fillRect/>
          </a:stretch>
        </p:blipFill>
        <p:spPr>
          <a:xfrm>
            <a:off x="1227201" y="2647188"/>
            <a:ext cx="8896350" cy="1600200"/>
          </a:xfrm>
          <a:prstGeom prst="rect">
            <a:avLst/>
          </a:prstGeom>
        </p:spPr>
      </p:pic>
    </p:spTree>
    <p:extLst>
      <p:ext uri="{BB962C8B-B14F-4D97-AF65-F5344CB8AC3E}">
        <p14:creationId xmlns:p14="http://schemas.microsoft.com/office/powerpoint/2010/main" val="37678117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analysis and visualization services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Amazon </a:t>
            </a:r>
            <a:r>
              <a:rPr lang="en-US" b="1" dirty="0" smtClean="0"/>
              <a:t>Athena</a:t>
            </a:r>
          </a:p>
          <a:p>
            <a:pPr lvl="1"/>
            <a:r>
              <a:rPr lang="en-US" dirty="0" smtClean="0">
                <a:effectLst/>
              </a:rPr>
              <a:t>With Athena, you can run SQL queries to analyze data in relational, </a:t>
            </a:r>
            <a:r>
              <a:rPr lang="en-US" dirty="0" err="1" smtClean="0">
                <a:effectLst/>
              </a:rPr>
              <a:t>nonrelational</a:t>
            </a:r>
            <a:r>
              <a:rPr lang="en-US" dirty="0" smtClean="0">
                <a:effectLst/>
              </a:rPr>
              <a:t>, object, and custom data sources. </a:t>
            </a:r>
          </a:p>
          <a:p>
            <a:pPr lvl="1"/>
            <a:r>
              <a:rPr lang="en-US" dirty="0" smtClean="0">
                <a:effectLst/>
              </a:rPr>
              <a:t>This fully managed </a:t>
            </a:r>
            <a:r>
              <a:rPr lang="en-US" dirty="0" err="1" smtClean="0">
                <a:effectLst/>
              </a:rPr>
              <a:t>serverless</a:t>
            </a:r>
            <a:r>
              <a:rPr lang="en-US" dirty="0" smtClean="0">
                <a:effectLst/>
              </a:rPr>
              <a:t> service can access data hosted on Amazon S3, on premises, or even in multi-cloud environments. </a:t>
            </a:r>
          </a:p>
          <a:p>
            <a:pPr lvl="1"/>
            <a:r>
              <a:rPr lang="en-US" dirty="0" smtClean="0">
                <a:effectLst/>
              </a:rPr>
              <a:t>It offers a cost-effective solution for data analysis because you only pay for the queries you run.</a:t>
            </a:r>
            <a:endParaRPr lang="en-US" b="1" dirty="0" smtClean="0"/>
          </a:p>
          <a:p>
            <a:r>
              <a:rPr lang="en-US" b="1" dirty="0"/>
              <a:t>Amazon </a:t>
            </a:r>
            <a:r>
              <a:rPr lang="en-US" b="1" dirty="0" smtClean="0"/>
              <a:t>Redshift</a:t>
            </a:r>
          </a:p>
          <a:p>
            <a:pPr lvl="1"/>
            <a:r>
              <a:rPr lang="en-US" dirty="0" smtClean="0">
                <a:effectLst/>
              </a:rPr>
              <a:t>Amazon Redshift is a fully managed data warehouse solution. </a:t>
            </a:r>
          </a:p>
          <a:p>
            <a:pPr lvl="1"/>
            <a:r>
              <a:rPr lang="en-US" dirty="0" smtClean="0"/>
              <a:t>Its </a:t>
            </a:r>
            <a:r>
              <a:rPr lang="en-US" dirty="0"/>
              <a:t>columnar storage and massively parallel processing architecture make it ideal for analyzing large datasets. </a:t>
            </a:r>
            <a:endParaRPr lang="en-US" dirty="0" smtClean="0"/>
          </a:p>
          <a:p>
            <a:pPr lvl="1"/>
            <a:r>
              <a:rPr lang="en-US" dirty="0" smtClean="0">
                <a:effectLst/>
              </a:rPr>
              <a:t>You can use it to perform complex SQL queries on large datasets for frequent, high-performance analytical workloads.</a:t>
            </a:r>
            <a:endParaRPr lang="en-US" dirty="0"/>
          </a:p>
        </p:txBody>
      </p:sp>
    </p:spTree>
    <p:extLst>
      <p:ext uri="{BB962C8B-B14F-4D97-AF65-F5344CB8AC3E}">
        <p14:creationId xmlns:p14="http://schemas.microsoft.com/office/powerpoint/2010/main" val="33904570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analysis and visualization </a:t>
            </a:r>
            <a:r>
              <a:rPr lang="en-US" b="1" dirty="0" smtClean="0"/>
              <a:t>services</a:t>
            </a:r>
            <a:endParaRPr lang="en-US" dirty="0"/>
          </a:p>
        </p:txBody>
      </p:sp>
      <p:sp>
        <p:nvSpPr>
          <p:cNvPr id="3" name="Content Placeholder 2"/>
          <p:cNvSpPr>
            <a:spLocks noGrp="1"/>
          </p:cNvSpPr>
          <p:nvPr>
            <p:ph idx="1"/>
          </p:nvPr>
        </p:nvSpPr>
        <p:spPr/>
        <p:txBody>
          <a:bodyPr>
            <a:normAutofit lnSpcReduction="10000"/>
          </a:bodyPr>
          <a:lstStyle/>
          <a:p>
            <a:r>
              <a:rPr lang="en-US" b="1" dirty="0"/>
              <a:t>Amazon </a:t>
            </a:r>
            <a:r>
              <a:rPr lang="en-US" b="1" dirty="0" err="1" smtClean="0"/>
              <a:t>QuickSight</a:t>
            </a:r>
            <a:endParaRPr lang="en-US" b="1" dirty="0" smtClean="0"/>
          </a:p>
          <a:p>
            <a:pPr lvl="1"/>
            <a:r>
              <a:rPr lang="en-US" dirty="0" smtClean="0">
                <a:effectLst/>
              </a:rPr>
              <a:t>With </a:t>
            </a:r>
            <a:r>
              <a:rPr lang="en-US" dirty="0" err="1" smtClean="0">
                <a:effectLst/>
              </a:rPr>
              <a:t>QuickSight</a:t>
            </a:r>
            <a:r>
              <a:rPr lang="en-US" dirty="0" smtClean="0">
                <a:effectLst/>
              </a:rPr>
              <a:t>, both technical and non-technical users can quickly create modern interactive dashboards and reports from various data sources without managing infrastructure. </a:t>
            </a:r>
          </a:p>
          <a:p>
            <a:pPr lvl="1"/>
            <a:r>
              <a:rPr lang="en-US" dirty="0" smtClean="0">
                <a:effectLst/>
              </a:rPr>
              <a:t>Amazon Q in </a:t>
            </a:r>
            <a:r>
              <a:rPr lang="en-US" dirty="0" err="1" smtClean="0">
                <a:effectLst/>
              </a:rPr>
              <a:t>QuickSight</a:t>
            </a:r>
            <a:r>
              <a:rPr lang="en-US" dirty="0" smtClean="0">
                <a:effectLst/>
              </a:rPr>
              <a:t> provides natural language queries so business analysts and users can build, discover, and share meaningful insights in seconds.</a:t>
            </a:r>
            <a:endParaRPr lang="en-US" b="1" dirty="0" smtClean="0"/>
          </a:p>
          <a:p>
            <a:r>
              <a:rPr lang="en-US" b="1" dirty="0"/>
              <a:t>Amazon OpenSearch </a:t>
            </a:r>
            <a:r>
              <a:rPr lang="en-US" b="1" dirty="0" smtClean="0"/>
              <a:t>Service</a:t>
            </a:r>
          </a:p>
          <a:p>
            <a:pPr lvl="1"/>
            <a:r>
              <a:rPr lang="en-US" dirty="0" smtClean="0">
                <a:effectLst/>
              </a:rPr>
              <a:t>With OpenSearch Service, you can search for relevant content through precise keyword matching or natural language queries. </a:t>
            </a:r>
          </a:p>
          <a:p>
            <a:pPr lvl="1"/>
            <a:r>
              <a:rPr lang="en-US" dirty="0" smtClean="0">
                <a:effectLst/>
              </a:rPr>
              <a:t>Unified dashboards provide real-time data visualization as you analyze and monitor logs, traces, and metrics for various applications.</a:t>
            </a:r>
            <a:endParaRPr lang="en-US" dirty="0"/>
          </a:p>
        </p:txBody>
      </p:sp>
    </p:spTree>
    <p:extLst>
      <p:ext uri="{BB962C8B-B14F-4D97-AF65-F5344CB8AC3E}">
        <p14:creationId xmlns:p14="http://schemas.microsoft.com/office/powerpoint/2010/main" val="20595572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05405"/>
            <a:ext cx="10515600" cy="1325563"/>
          </a:xfrm>
        </p:spPr>
        <p:txBody>
          <a:bodyPr/>
          <a:lstStyle/>
          <a:p>
            <a:pPr algn="ctr"/>
            <a:r>
              <a:rPr lang="en-US" b="1" dirty="0" smtClean="0"/>
              <a:t>Data Analytics and AI/ML</a:t>
            </a:r>
            <a:endParaRPr lang="en-US" dirty="0"/>
          </a:p>
        </p:txBody>
      </p:sp>
    </p:spTree>
    <p:extLst>
      <p:ext uri="{BB962C8B-B14F-4D97-AF65-F5344CB8AC3E}">
        <p14:creationId xmlns:p14="http://schemas.microsoft.com/office/powerpoint/2010/main" val="38410820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 this lesson, you will learn:</a:t>
            </a:r>
            <a:endParaRPr lang="en-US" dirty="0"/>
          </a:p>
        </p:txBody>
      </p:sp>
      <p:sp>
        <p:nvSpPr>
          <p:cNvPr id="3" name="Content Placeholder 2"/>
          <p:cNvSpPr>
            <a:spLocks noGrp="1"/>
          </p:cNvSpPr>
          <p:nvPr>
            <p:ph idx="1"/>
          </p:nvPr>
        </p:nvSpPr>
        <p:spPr/>
        <p:txBody>
          <a:bodyPr/>
          <a:lstStyle/>
          <a:p>
            <a:r>
              <a:rPr lang="en-US" dirty="0" smtClean="0">
                <a:effectLst/>
              </a:rPr>
              <a:t>Explain how a real-life company might use an automated data pipeline for efficient data ingestion, processing, and delivery.</a:t>
            </a:r>
            <a:endParaRPr lang="en-US" dirty="0" smtClean="0"/>
          </a:p>
          <a:p>
            <a:endParaRPr lang="en-US" dirty="0"/>
          </a:p>
        </p:txBody>
      </p:sp>
    </p:spTree>
    <p:extLst>
      <p:ext uri="{BB962C8B-B14F-4D97-AF65-F5344CB8AC3E}">
        <p14:creationId xmlns:p14="http://schemas.microsoft.com/office/powerpoint/2010/main" val="4519835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analytics and AI/ML architecture </a:t>
            </a:r>
            <a:r>
              <a:rPr lang="en-US" b="1" dirty="0" smtClean="0"/>
              <a:t>diagram</a:t>
            </a:r>
            <a:endParaRPr lang="en-US" dirty="0"/>
          </a:p>
        </p:txBody>
      </p:sp>
      <p:sp>
        <p:nvSpPr>
          <p:cNvPr id="3" name="Content Placeholder 2"/>
          <p:cNvSpPr>
            <a:spLocks noGrp="1"/>
          </p:cNvSpPr>
          <p:nvPr>
            <p:ph idx="1"/>
          </p:nvPr>
        </p:nvSpPr>
        <p:spPr/>
        <p:txBody>
          <a:bodyPr/>
          <a:lstStyle/>
          <a:p>
            <a:r>
              <a:rPr lang="en-US" b="1" dirty="0"/>
              <a:t>Delivering customer data for analysis and ML model training</a:t>
            </a:r>
            <a:endParaRPr lang="en-US" dirty="0" smtClean="0">
              <a:effectLst/>
            </a:endParaRPr>
          </a:p>
          <a:p>
            <a:pPr lvl="1"/>
            <a:r>
              <a:rPr lang="en-US" dirty="0" smtClean="0">
                <a:effectLst/>
              </a:rPr>
              <a:t>Let's </a:t>
            </a:r>
            <a:r>
              <a:rPr lang="en-US" dirty="0" err="1" smtClean="0">
                <a:effectLst/>
              </a:rPr>
              <a:t>discussin</a:t>
            </a:r>
            <a:r>
              <a:rPr lang="en-US" dirty="0" smtClean="0">
                <a:effectLst/>
              </a:rPr>
              <a:t> an e-commerce company uses an automated data pipeline to ingest, process, and deliver data to multiple stakeholders. </a:t>
            </a:r>
          </a:p>
          <a:p>
            <a:pPr lvl="1"/>
            <a:r>
              <a:rPr lang="en-US" dirty="0" smtClean="0">
                <a:effectLst/>
              </a:rPr>
              <a:t>As a result, data scientists and ML engineers can use the same data set for analysis and ML model training.</a:t>
            </a:r>
          </a:p>
          <a:p>
            <a:endParaRPr lang="en-US" dirty="0"/>
          </a:p>
        </p:txBody>
      </p:sp>
    </p:spTree>
    <p:extLst>
      <p:ext uri="{BB962C8B-B14F-4D97-AF65-F5344CB8AC3E}">
        <p14:creationId xmlns:p14="http://schemas.microsoft.com/office/powerpoint/2010/main" val="42436389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analytics and AI/ML architecture diagram</a:t>
            </a:r>
            <a:endParaRPr lang="en-US" dirty="0"/>
          </a:p>
        </p:txBody>
      </p:sp>
      <p:pic>
        <p:nvPicPr>
          <p:cNvPr id="4" name="Content Placeholder 3"/>
          <p:cNvPicPr>
            <a:picLocks noGrp="1" noChangeAspect="1"/>
          </p:cNvPicPr>
          <p:nvPr>
            <p:ph idx="1"/>
          </p:nvPr>
        </p:nvPicPr>
        <p:blipFill>
          <a:blip r:embed="rId2"/>
          <a:stretch>
            <a:fillRect/>
          </a:stretch>
        </p:blipFill>
        <p:spPr>
          <a:xfrm>
            <a:off x="4810156" y="1901000"/>
            <a:ext cx="7381844" cy="4351338"/>
          </a:xfrm>
          <a:prstGeom prst="rect">
            <a:avLst/>
          </a:prstGeom>
        </p:spPr>
      </p:pic>
      <p:sp>
        <p:nvSpPr>
          <p:cNvPr id="5" name="TextBox 4"/>
          <p:cNvSpPr txBox="1"/>
          <p:nvPr/>
        </p:nvSpPr>
        <p:spPr>
          <a:xfrm>
            <a:off x="713644" y="1690688"/>
            <a:ext cx="4096512" cy="5078313"/>
          </a:xfrm>
          <a:prstGeom prst="rect">
            <a:avLst/>
          </a:prstGeom>
          <a:noFill/>
        </p:spPr>
        <p:txBody>
          <a:bodyPr wrap="square" rtlCol="0">
            <a:spAutoFit/>
          </a:bodyPr>
          <a:lstStyle/>
          <a:p>
            <a:r>
              <a:rPr lang="en-US" b="1" dirty="0" smtClean="0"/>
              <a:t>1. Make recommendations</a:t>
            </a:r>
          </a:p>
          <a:p>
            <a:r>
              <a:rPr lang="en-US" dirty="0" smtClean="0">
                <a:effectLst/>
              </a:rPr>
              <a:t>An e-commerce company uses an ML model to make product recommendations.</a:t>
            </a:r>
          </a:p>
          <a:p>
            <a:endParaRPr lang="en-US" dirty="0"/>
          </a:p>
          <a:p>
            <a:r>
              <a:rPr lang="en-US" b="1" dirty="0" smtClean="0"/>
              <a:t>2. Store app data</a:t>
            </a:r>
          </a:p>
          <a:p>
            <a:r>
              <a:rPr lang="en-US" dirty="0" smtClean="0">
                <a:effectLst/>
              </a:rPr>
              <a:t>An Amazon </a:t>
            </a:r>
            <a:r>
              <a:rPr lang="en-US" dirty="0" err="1" smtClean="0">
                <a:effectLst/>
              </a:rPr>
              <a:t>DynamoDB</a:t>
            </a:r>
            <a:r>
              <a:rPr lang="en-US" dirty="0" smtClean="0">
                <a:effectLst/>
              </a:rPr>
              <a:t> database stores the historical customer data gathered through the app. This makes sense for low-latency reads and writes but isn't ideal for ML model training.</a:t>
            </a:r>
            <a:endParaRPr lang="en-US" dirty="0" smtClean="0"/>
          </a:p>
          <a:p>
            <a:endParaRPr lang="en-US" dirty="0" smtClean="0"/>
          </a:p>
          <a:p>
            <a:r>
              <a:rPr lang="en-US" b="1" dirty="0" smtClean="0"/>
              <a:t>3. Ingest data</a:t>
            </a:r>
          </a:p>
          <a:p>
            <a:r>
              <a:rPr lang="en-US" dirty="0" smtClean="0">
                <a:effectLst/>
              </a:rPr>
              <a:t>Kinesis Data Streams ingests the data from </a:t>
            </a:r>
            <a:r>
              <a:rPr lang="en-US" dirty="0" err="1" smtClean="0">
                <a:effectLst/>
              </a:rPr>
              <a:t>DynamoDB</a:t>
            </a:r>
            <a:r>
              <a:rPr lang="en-US" dirty="0" smtClean="0">
                <a:effectLst/>
              </a:rPr>
              <a:t>. Amazon Data Firehose then aggregates the data.</a:t>
            </a:r>
            <a:endParaRPr lang="en-US" dirty="0" smtClean="0"/>
          </a:p>
          <a:p>
            <a:endParaRPr lang="en-US" dirty="0" smtClean="0"/>
          </a:p>
          <a:p>
            <a:endParaRPr lang="en-US" dirty="0"/>
          </a:p>
        </p:txBody>
      </p:sp>
    </p:spTree>
    <p:extLst>
      <p:ext uri="{BB962C8B-B14F-4D97-AF65-F5344CB8AC3E}">
        <p14:creationId xmlns:p14="http://schemas.microsoft.com/office/powerpoint/2010/main" val="1207058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analytics and AI/ML architecture diagram</a:t>
            </a:r>
            <a:endParaRPr lang="en-US" dirty="0"/>
          </a:p>
        </p:txBody>
      </p:sp>
      <p:pic>
        <p:nvPicPr>
          <p:cNvPr id="4" name="Content Placeholder 3"/>
          <p:cNvPicPr>
            <a:picLocks noGrp="1" noChangeAspect="1"/>
          </p:cNvPicPr>
          <p:nvPr>
            <p:ph idx="1"/>
          </p:nvPr>
        </p:nvPicPr>
        <p:blipFill>
          <a:blip r:embed="rId2"/>
          <a:stretch>
            <a:fillRect/>
          </a:stretch>
        </p:blipFill>
        <p:spPr>
          <a:xfrm>
            <a:off x="4810156" y="1901000"/>
            <a:ext cx="7381844" cy="4351338"/>
          </a:xfrm>
          <a:prstGeom prst="rect">
            <a:avLst/>
          </a:prstGeom>
        </p:spPr>
      </p:pic>
      <p:sp>
        <p:nvSpPr>
          <p:cNvPr id="5" name="TextBox 4"/>
          <p:cNvSpPr txBox="1"/>
          <p:nvPr/>
        </p:nvSpPr>
        <p:spPr>
          <a:xfrm>
            <a:off x="838200" y="1901000"/>
            <a:ext cx="4096512" cy="4801314"/>
          </a:xfrm>
          <a:prstGeom prst="rect">
            <a:avLst/>
          </a:prstGeom>
          <a:noFill/>
        </p:spPr>
        <p:txBody>
          <a:bodyPr wrap="square" rtlCol="0">
            <a:spAutoFit/>
          </a:bodyPr>
          <a:lstStyle/>
          <a:p>
            <a:r>
              <a:rPr lang="en-US" dirty="0" smtClean="0"/>
              <a:t>4. </a:t>
            </a:r>
            <a:r>
              <a:rPr lang="en-US" b="1" dirty="0" smtClean="0"/>
              <a:t>Process data</a:t>
            </a:r>
          </a:p>
          <a:p>
            <a:r>
              <a:rPr lang="en-US" dirty="0" smtClean="0">
                <a:effectLst/>
              </a:rPr>
              <a:t>The data is in JSON format, so Firehose invokes an AWS Lambda function that transforms the data into .csv format.</a:t>
            </a:r>
            <a:endParaRPr lang="en-US" dirty="0" smtClean="0"/>
          </a:p>
          <a:p>
            <a:endParaRPr lang="en-US" dirty="0" smtClean="0"/>
          </a:p>
          <a:p>
            <a:r>
              <a:rPr lang="en-US" dirty="0" smtClean="0"/>
              <a:t>5. </a:t>
            </a:r>
            <a:r>
              <a:rPr lang="en-US" b="1" dirty="0" smtClean="0"/>
              <a:t>Deliver data</a:t>
            </a:r>
          </a:p>
          <a:p>
            <a:r>
              <a:rPr lang="en-US" dirty="0" smtClean="0">
                <a:effectLst/>
              </a:rPr>
              <a:t>Firehose then delivers the data to the company's Amazon S3 data lake, where it is available for multiple consumers.</a:t>
            </a:r>
            <a:endParaRPr lang="en-US" dirty="0" smtClean="0"/>
          </a:p>
          <a:p>
            <a:endParaRPr lang="en-US" dirty="0" smtClean="0"/>
          </a:p>
          <a:p>
            <a:r>
              <a:rPr lang="en-US" dirty="0" smtClean="0"/>
              <a:t>6. </a:t>
            </a:r>
            <a:r>
              <a:rPr lang="en-US" b="1" dirty="0" smtClean="0"/>
              <a:t>Catalog data</a:t>
            </a:r>
          </a:p>
          <a:p>
            <a:r>
              <a:rPr lang="en-US" dirty="0" smtClean="0">
                <a:effectLst/>
              </a:rPr>
              <a:t>AWS Glue Data Catalog serves as a metadata repository with tables that describe the schema and location of the Amazon S3 data.</a:t>
            </a:r>
            <a:endParaRPr lang="en-US" dirty="0" smtClean="0"/>
          </a:p>
          <a:p>
            <a:endParaRPr lang="en-US" dirty="0" smtClean="0"/>
          </a:p>
          <a:p>
            <a:endParaRPr lang="en-US" dirty="0"/>
          </a:p>
        </p:txBody>
      </p:sp>
    </p:spTree>
    <p:extLst>
      <p:ext uri="{BB962C8B-B14F-4D97-AF65-F5344CB8AC3E}">
        <p14:creationId xmlns:p14="http://schemas.microsoft.com/office/powerpoint/2010/main" val="24423766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analytics and AI/ML architecture diagram</a:t>
            </a:r>
            <a:endParaRPr lang="en-US" dirty="0"/>
          </a:p>
        </p:txBody>
      </p:sp>
      <p:pic>
        <p:nvPicPr>
          <p:cNvPr id="4" name="Content Placeholder 3"/>
          <p:cNvPicPr>
            <a:picLocks noGrp="1" noChangeAspect="1"/>
          </p:cNvPicPr>
          <p:nvPr>
            <p:ph idx="1"/>
          </p:nvPr>
        </p:nvPicPr>
        <p:blipFill>
          <a:blip r:embed="rId2"/>
          <a:stretch>
            <a:fillRect/>
          </a:stretch>
        </p:blipFill>
        <p:spPr>
          <a:xfrm>
            <a:off x="4810156" y="1901000"/>
            <a:ext cx="7381844" cy="4351338"/>
          </a:xfrm>
          <a:prstGeom prst="rect">
            <a:avLst/>
          </a:prstGeom>
        </p:spPr>
      </p:pic>
      <p:sp>
        <p:nvSpPr>
          <p:cNvPr id="3" name="TextBox 2"/>
          <p:cNvSpPr txBox="1"/>
          <p:nvPr/>
        </p:nvSpPr>
        <p:spPr>
          <a:xfrm>
            <a:off x="838200" y="2020824"/>
            <a:ext cx="4108704" cy="3416320"/>
          </a:xfrm>
          <a:prstGeom prst="rect">
            <a:avLst/>
          </a:prstGeom>
          <a:noFill/>
        </p:spPr>
        <p:txBody>
          <a:bodyPr wrap="square" rtlCol="0">
            <a:spAutoFit/>
          </a:bodyPr>
          <a:lstStyle/>
          <a:p>
            <a:r>
              <a:rPr lang="en-US" b="1" dirty="0" smtClean="0"/>
              <a:t>7. Perform data analytics</a:t>
            </a:r>
          </a:p>
          <a:p>
            <a:r>
              <a:rPr lang="en-US" dirty="0" smtClean="0">
                <a:effectLst/>
              </a:rPr>
              <a:t>Data scientists use Athena to gather insights through queries.</a:t>
            </a:r>
            <a:endParaRPr lang="en-US" dirty="0" smtClean="0"/>
          </a:p>
          <a:p>
            <a:endParaRPr lang="en-US" dirty="0" smtClean="0"/>
          </a:p>
          <a:p>
            <a:endParaRPr lang="en-US" dirty="0"/>
          </a:p>
          <a:p>
            <a:r>
              <a:rPr lang="en-US" b="1" dirty="0" smtClean="0"/>
              <a:t>8. Train model</a:t>
            </a:r>
          </a:p>
          <a:p>
            <a:r>
              <a:rPr lang="en-US" dirty="0" err="1" smtClean="0">
                <a:effectLst/>
              </a:rPr>
              <a:t>SageMaker</a:t>
            </a:r>
            <a:r>
              <a:rPr lang="en-US" dirty="0" smtClean="0">
                <a:effectLst/>
              </a:rPr>
              <a:t> AI reads the same dataset directly from Amazon S3. ML engineers can then train new versions of the recommendation model using the latest information.</a:t>
            </a:r>
            <a:endParaRPr lang="en-US" dirty="0" smtClean="0"/>
          </a:p>
          <a:p>
            <a:endParaRPr lang="en-US" dirty="0"/>
          </a:p>
        </p:txBody>
      </p:sp>
    </p:spTree>
    <p:extLst>
      <p:ext uri="{BB962C8B-B14F-4D97-AF65-F5344CB8AC3E}">
        <p14:creationId xmlns:p14="http://schemas.microsoft.com/office/powerpoint/2010/main" val="32815682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Recap</a:t>
            </a:r>
            <a:endParaRPr lang="en-US" dirty="0"/>
          </a:p>
        </p:txBody>
      </p:sp>
      <p:sp>
        <p:nvSpPr>
          <p:cNvPr id="3" name="Content Placeholder 2"/>
          <p:cNvSpPr>
            <a:spLocks noGrp="1"/>
          </p:cNvSpPr>
          <p:nvPr>
            <p:ph idx="1"/>
          </p:nvPr>
        </p:nvSpPr>
        <p:spPr/>
        <p:txBody>
          <a:bodyPr/>
          <a:lstStyle/>
          <a:p>
            <a:r>
              <a:rPr lang="en-US" dirty="0"/>
              <a:t>AI/ML and data analytics are two fields that use high-quality data to analyze past events and innovate for the future. </a:t>
            </a:r>
            <a:endParaRPr lang="en-US" dirty="0" smtClean="0"/>
          </a:p>
          <a:p>
            <a:r>
              <a:rPr lang="en-US" dirty="0" smtClean="0"/>
              <a:t>In </a:t>
            </a:r>
            <a:r>
              <a:rPr lang="en-US" dirty="0"/>
              <a:t>the previous lessons, you learned how AWS AI/ML solutions help to predict future trends and automate processes. </a:t>
            </a:r>
            <a:endParaRPr lang="en-US" dirty="0" smtClean="0"/>
          </a:p>
          <a:p>
            <a:r>
              <a:rPr lang="en-US" dirty="0" smtClean="0"/>
              <a:t>And </a:t>
            </a:r>
            <a:r>
              <a:rPr lang="en-US" dirty="0"/>
              <a:t>you learned how AWS solutions can be used to analyze historical trends and develop insights from data.</a:t>
            </a:r>
          </a:p>
        </p:txBody>
      </p:sp>
    </p:spTree>
    <p:extLst>
      <p:ext uri="{BB962C8B-B14F-4D97-AF65-F5344CB8AC3E}">
        <p14:creationId xmlns:p14="http://schemas.microsoft.com/office/powerpoint/2010/main" val="30462676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Resources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04970346"/>
              </p:ext>
            </p:extLst>
          </p:nvPr>
        </p:nvGraphicFramePr>
        <p:xfrm>
          <a:off x="930482" y="1386713"/>
          <a:ext cx="3586653" cy="5407277"/>
        </p:xfrm>
        <a:graphic>
          <a:graphicData uri="http://schemas.openxmlformats.org/drawingml/2006/table">
            <a:tbl>
              <a:tblPr/>
              <a:tblGrid>
                <a:gridCol w="1117397"/>
                <a:gridCol w="2469256"/>
              </a:tblGrid>
              <a:tr h="127983">
                <a:tc>
                  <a:txBody>
                    <a:bodyPr/>
                    <a:lstStyle/>
                    <a:p>
                      <a:pPr algn="l"/>
                      <a:r>
                        <a:rPr lang="en-US" sz="500" dirty="0">
                          <a:effectLst/>
                        </a:rPr>
                        <a:t>Resource link</a:t>
                      </a:r>
                    </a:p>
                  </a:txBody>
                  <a:tcPr marL="25748" marR="25748" marT="12874" marB="12874" anchor="ctr">
                    <a:lnL>
                      <a:noFill/>
                    </a:lnL>
                    <a:lnR>
                      <a:noFill/>
                    </a:lnR>
                    <a:lnT>
                      <a:noFill/>
                    </a:lnT>
                    <a:lnB>
                      <a:noFill/>
                    </a:lnB>
                  </a:tcPr>
                </a:tc>
                <a:tc>
                  <a:txBody>
                    <a:bodyPr/>
                    <a:lstStyle/>
                    <a:p>
                      <a:pPr algn="l"/>
                      <a:r>
                        <a:rPr lang="en-US" sz="500">
                          <a:effectLst/>
                        </a:rPr>
                        <a:t>Description</a:t>
                      </a:r>
                    </a:p>
                  </a:txBody>
                  <a:tcPr marL="25748" marR="25748" marT="12874" marB="12874" anchor="ctr">
                    <a:lnL>
                      <a:noFill/>
                    </a:lnL>
                    <a:lnR>
                      <a:noFill/>
                    </a:lnR>
                    <a:lnT>
                      <a:noFill/>
                    </a:lnT>
                    <a:lnB>
                      <a:noFill/>
                    </a:lnB>
                  </a:tcPr>
                </a:tc>
              </a:tr>
              <a:tr h="223970">
                <a:tc>
                  <a:txBody>
                    <a:bodyPr/>
                    <a:lstStyle/>
                    <a:p>
                      <a:pPr algn="l"/>
                      <a:r>
                        <a:rPr lang="en-US" sz="500" dirty="0">
                          <a:effectLst/>
                          <a:hlinkClick r:id="rId2"/>
                        </a:rPr>
                        <a:t>Amazon </a:t>
                      </a:r>
                      <a:r>
                        <a:rPr lang="en-US" sz="500" dirty="0" smtClean="0">
                          <a:effectLst/>
                          <a:hlinkClick r:id="rId2"/>
                        </a:rPr>
                        <a:t>Comprehend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solidFill>
                            <a:srgbClr val="000000"/>
                          </a:solidFill>
                          <a:effectLst/>
                        </a:rPr>
                        <a:t>Use natural language processing to extract key insights from documents.</a:t>
                      </a:r>
                      <a:endParaRPr lang="en-US" sz="500">
                        <a:effectLst/>
                      </a:endParaRP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3"/>
                        </a:rPr>
                        <a:t>Amazon </a:t>
                      </a:r>
                      <a:r>
                        <a:rPr lang="en-US" sz="500" dirty="0" smtClean="0">
                          <a:effectLst/>
                          <a:hlinkClick r:id="rId3"/>
                        </a:rPr>
                        <a:t>Polly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solidFill>
                            <a:srgbClr val="000000"/>
                          </a:solidFill>
                          <a:effectLst/>
                        </a:rPr>
                        <a:t>Convert text into lifelike speech.</a:t>
                      </a:r>
                      <a:endParaRPr lang="en-US" sz="500">
                        <a:effectLst/>
                      </a:endParaRP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4"/>
                        </a:rPr>
                        <a:t>Amazon </a:t>
                      </a:r>
                      <a:r>
                        <a:rPr lang="en-US" sz="500" dirty="0" smtClean="0">
                          <a:effectLst/>
                          <a:hlinkClick r:id="rId4"/>
                        </a:rPr>
                        <a:t>Transcribe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Convert speech into text.</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5"/>
                        </a:rPr>
                        <a:t>Amazon </a:t>
                      </a:r>
                      <a:r>
                        <a:rPr lang="en-US" sz="500" dirty="0" smtClean="0">
                          <a:effectLst/>
                          <a:hlinkClick r:id="rId5"/>
                        </a:rPr>
                        <a:t>Translate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Translate text into multiple languages.</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6"/>
                        </a:rPr>
                        <a:t>Amazon </a:t>
                      </a:r>
                      <a:r>
                        <a:rPr lang="en-US" sz="500" dirty="0" smtClean="0">
                          <a:effectLst/>
                          <a:hlinkClick r:id="rId6"/>
                        </a:rPr>
                        <a:t>Kendra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solidFill>
                            <a:srgbClr val="000000"/>
                          </a:solidFill>
                          <a:effectLst/>
                        </a:rPr>
                        <a:t>Use natural language processing to intelligently query enterprise content.</a:t>
                      </a:r>
                      <a:endParaRPr lang="en-US" sz="500">
                        <a:effectLst/>
                      </a:endParaRP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7"/>
                        </a:rPr>
                        <a:t>Amazon </a:t>
                      </a:r>
                      <a:r>
                        <a:rPr lang="en-US" sz="500" dirty="0" err="1" smtClean="0">
                          <a:effectLst/>
                          <a:hlinkClick r:id="rId7"/>
                        </a:rPr>
                        <a:t>Rekognition</a:t>
                      </a:r>
                      <a:r>
                        <a:rPr lang="en-US" sz="500" dirty="0" smtClean="0">
                          <a:effectLst/>
                          <a:hlinkClick r:id="rId7"/>
                        </a:rPr>
                        <a:t>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solidFill>
                            <a:srgbClr val="000000"/>
                          </a:solidFill>
                          <a:effectLst/>
                        </a:rPr>
                        <a:t>Identify objects and activities in images and videos.</a:t>
                      </a:r>
                      <a:endParaRPr lang="en-US" sz="500">
                        <a:effectLst/>
                      </a:endParaRP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8"/>
                        </a:rPr>
                        <a:t>Amazon </a:t>
                      </a:r>
                      <a:r>
                        <a:rPr lang="en-US" sz="500" dirty="0" err="1" smtClean="0">
                          <a:effectLst/>
                          <a:hlinkClick r:id="rId8"/>
                        </a:rPr>
                        <a:t>Textract</a:t>
                      </a:r>
                      <a:r>
                        <a:rPr lang="en-US" sz="500" dirty="0" smtClean="0">
                          <a:effectLst/>
                          <a:hlinkClick r:id="rId8"/>
                        </a:rPr>
                        <a:t>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solidFill>
                            <a:srgbClr val="000000"/>
                          </a:solidFill>
                          <a:effectLst/>
                        </a:rPr>
                        <a:t>Detect and extract typed and handwritten text in documents.</a:t>
                      </a:r>
                      <a:endParaRPr lang="en-US" sz="500">
                        <a:effectLst/>
                      </a:endParaRPr>
                    </a:p>
                  </a:txBody>
                  <a:tcPr marL="25748" marR="25748" marT="12874" marB="12874" anchor="ctr">
                    <a:lnL>
                      <a:noFill/>
                    </a:lnL>
                    <a:lnR>
                      <a:noFill/>
                    </a:lnR>
                    <a:lnT>
                      <a:noFill/>
                    </a:lnT>
                    <a:lnB>
                      <a:noFill/>
                    </a:lnB>
                    <a:solidFill>
                      <a:srgbClr val="FFFFFF"/>
                    </a:solidFill>
                  </a:tcPr>
                </a:tc>
              </a:tr>
              <a:tr h="127983">
                <a:tc>
                  <a:txBody>
                    <a:bodyPr/>
                    <a:lstStyle/>
                    <a:p>
                      <a:pPr algn="l"/>
                      <a:r>
                        <a:rPr lang="en-US" sz="500" dirty="0">
                          <a:effectLst/>
                          <a:hlinkClick r:id="rId9"/>
                        </a:rPr>
                        <a:t>Amazon </a:t>
                      </a:r>
                      <a:r>
                        <a:rPr lang="en-US" sz="500" dirty="0" smtClean="0">
                          <a:effectLst/>
                          <a:hlinkClick r:id="rId9"/>
                        </a:rPr>
                        <a:t>Lex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solidFill>
                            <a:srgbClr val="000000"/>
                          </a:solidFill>
                          <a:effectLst/>
                        </a:rPr>
                        <a:t>Add voice and text conversational interfaces to applications.</a:t>
                      </a:r>
                      <a:endParaRPr lang="en-US" sz="500">
                        <a:effectLst/>
                      </a:endParaRP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10"/>
                        </a:rPr>
                        <a:t>Amazon </a:t>
                      </a:r>
                      <a:r>
                        <a:rPr lang="en-US" sz="500" dirty="0" smtClean="0">
                          <a:effectLst/>
                          <a:hlinkClick r:id="rId10"/>
                        </a:rPr>
                        <a:t>Personalize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solidFill>
                            <a:srgbClr val="000000"/>
                          </a:solidFill>
                          <a:effectLst/>
                        </a:rPr>
                        <a:t>Add personalized customer recommendations to applications.</a:t>
                      </a:r>
                      <a:endParaRPr lang="en-US" sz="500">
                        <a:effectLst/>
                      </a:endParaRP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11"/>
                        </a:rPr>
                        <a:t>Amazon </a:t>
                      </a:r>
                      <a:r>
                        <a:rPr lang="en-US" sz="500" dirty="0" err="1">
                          <a:effectLst/>
                          <a:hlinkClick r:id="rId11"/>
                        </a:rPr>
                        <a:t>SageMaker</a:t>
                      </a:r>
                      <a:r>
                        <a:rPr lang="en-US" sz="500" dirty="0">
                          <a:effectLst/>
                          <a:hlinkClick r:id="rId11"/>
                        </a:rPr>
                        <a:t> </a:t>
                      </a:r>
                      <a:r>
                        <a:rPr lang="en-US" sz="500" dirty="0" smtClean="0">
                          <a:effectLst/>
                          <a:hlinkClick r:id="rId11"/>
                        </a:rPr>
                        <a:t>AI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Build, train, and deploy your own ML models without worrying about infrastructure.</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12"/>
                        </a:rPr>
                        <a:t>Amazon </a:t>
                      </a:r>
                      <a:r>
                        <a:rPr lang="en-US" sz="500" dirty="0" err="1">
                          <a:effectLst/>
                          <a:hlinkClick r:id="rId12"/>
                        </a:rPr>
                        <a:t>SageMaker</a:t>
                      </a:r>
                      <a:r>
                        <a:rPr lang="en-US" sz="500" dirty="0">
                          <a:effectLst/>
                          <a:hlinkClick r:id="rId12"/>
                        </a:rPr>
                        <a:t> </a:t>
                      </a:r>
                      <a:r>
                        <a:rPr lang="en-US" sz="500" dirty="0" smtClean="0">
                          <a:effectLst/>
                          <a:hlinkClick r:id="rId12"/>
                        </a:rPr>
                        <a:t>JumpStart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Deploy pre-trained ML solutions, like computer vision, NLP, and tabular data, with just a few clicks.</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13"/>
                        </a:rPr>
                        <a:t>Amazon </a:t>
                      </a:r>
                      <a:r>
                        <a:rPr lang="en-US" sz="500" dirty="0" smtClean="0">
                          <a:effectLst/>
                          <a:hlinkClick r:id="rId13"/>
                        </a:rPr>
                        <a:t>Bedrock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Fine-tune and seamlessly integrate large FMs from Amazon and leading AI startups into your AWS applications with a single API.</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14"/>
                        </a:rPr>
                        <a:t>Amazon Q </a:t>
                      </a:r>
                      <a:r>
                        <a:rPr lang="en-US" sz="500" dirty="0" smtClean="0">
                          <a:effectLst/>
                          <a:hlinkClick r:id="rId14"/>
                        </a:rPr>
                        <a:t>Business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Answer questions and solve problems using the data and expertise found in your company's information repositories.</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15"/>
                        </a:rPr>
                        <a:t>Amazon Q </a:t>
                      </a:r>
                      <a:r>
                        <a:rPr lang="en-US" sz="500" dirty="0" smtClean="0">
                          <a:effectLst/>
                          <a:hlinkClick r:id="rId15"/>
                        </a:rPr>
                        <a:t>Developer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Accelerate development with code recommendations.</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16"/>
                        </a:rPr>
                        <a:t>Amazon Kinesis Data </a:t>
                      </a:r>
                      <a:r>
                        <a:rPr lang="en-US" sz="500" dirty="0" smtClean="0">
                          <a:effectLst/>
                          <a:hlinkClick r:id="rId16"/>
                        </a:rPr>
                        <a:t>Streams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Ingest terabytes of streaming data in real time.</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17"/>
                        </a:rPr>
                        <a:t>Amazon Data </a:t>
                      </a:r>
                      <a:r>
                        <a:rPr lang="en-US" sz="500" dirty="0" smtClean="0">
                          <a:effectLst/>
                          <a:hlinkClick r:id="rId17"/>
                        </a:rPr>
                        <a:t>Firehose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Ingest and deliver data within seconds to multiple consumers, such as data lakes and warehouses.</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18"/>
                        </a:rPr>
                        <a:t>Amazon </a:t>
                      </a:r>
                      <a:r>
                        <a:rPr lang="en-US" sz="500" dirty="0" smtClean="0">
                          <a:effectLst/>
                          <a:hlinkClick r:id="rId18"/>
                        </a:rPr>
                        <a:t>S3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Store virtually limitless amounts of all types of data using this popular data lake choice.</a:t>
                      </a:r>
                    </a:p>
                  </a:txBody>
                  <a:tcPr marL="25748" marR="25748" marT="12874" marB="12874" anchor="ctr">
                    <a:lnL>
                      <a:noFill/>
                    </a:lnL>
                    <a:lnR>
                      <a:noFill/>
                    </a:lnR>
                    <a:lnT>
                      <a:noFill/>
                    </a:lnT>
                    <a:lnB>
                      <a:noFill/>
                    </a:lnB>
                    <a:solidFill>
                      <a:srgbClr val="FFFFFF"/>
                    </a:solidFill>
                  </a:tcPr>
                </a:tc>
              </a:tr>
              <a:tr h="319958">
                <a:tc>
                  <a:txBody>
                    <a:bodyPr/>
                    <a:lstStyle/>
                    <a:p>
                      <a:pPr algn="l"/>
                      <a:r>
                        <a:rPr lang="en-US" sz="500" dirty="0">
                          <a:effectLst/>
                          <a:hlinkClick r:id="rId19"/>
                        </a:rPr>
                        <a:t>Amazon </a:t>
                      </a:r>
                      <a:r>
                        <a:rPr lang="en-US" sz="500" dirty="0" smtClean="0">
                          <a:effectLst/>
                          <a:hlinkClick r:id="rId19"/>
                        </a:rPr>
                        <a:t>Redshift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Store petabytes of structured or semistructured data in this data warehouse service. Analyze large datasets stored in the warehouse using complex SQL queries.</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20"/>
                        </a:rPr>
                        <a:t>AWS Glue Data </a:t>
                      </a:r>
                      <a:r>
                        <a:rPr lang="en-US" sz="500" dirty="0" smtClean="0">
                          <a:effectLst/>
                          <a:hlinkClick r:id="rId20"/>
                        </a:rPr>
                        <a:t>Catalog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Provide metadata to various analytics services with this centralized repository.</a:t>
                      </a:r>
                    </a:p>
                  </a:txBody>
                  <a:tcPr marL="25748" marR="25748" marT="12874" marB="12874" anchor="ctr">
                    <a:lnL>
                      <a:noFill/>
                    </a:lnL>
                    <a:lnR>
                      <a:noFill/>
                    </a:lnR>
                    <a:lnT>
                      <a:noFill/>
                    </a:lnT>
                    <a:lnB>
                      <a:noFill/>
                    </a:lnB>
                    <a:solidFill>
                      <a:srgbClr val="FFFFFF"/>
                    </a:solidFill>
                  </a:tcPr>
                </a:tc>
              </a:tr>
              <a:tr h="127983">
                <a:tc>
                  <a:txBody>
                    <a:bodyPr/>
                    <a:lstStyle/>
                    <a:p>
                      <a:pPr algn="l"/>
                      <a:r>
                        <a:rPr lang="en-US" sz="500" dirty="0">
                          <a:effectLst/>
                          <a:hlinkClick r:id="rId21"/>
                        </a:rPr>
                        <a:t>AWS </a:t>
                      </a:r>
                      <a:r>
                        <a:rPr lang="en-US" sz="500" dirty="0" smtClean="0">
                          <a:effectLst/>
                          <a:hlinkClick r:id="rId21"/>
                        </a:rPr>
                        <a:t>Glue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Process data by using the AWS Glue Data Catalog as a reference.</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22"/>
                        </a:rPr>
                        <a:t>Amazon </a:t>
                      </a:r>
                      <a:r>
                        <a:rPr lang="en-US" sz="500" dirty="0" smtClean="0">
                          <a:effectLst/>
                          <a:hlinkClick r:id="rId22"/>
                        </a:rPr>
                        <a:t>EMR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Process big data workloads by using popular frameworks like Apache Spark.</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23"/>
                        </a:rPr>
                        <a:t>Amazon </a:t>
                      </a:r>
                      <a:r>
                        <a:rPr lang="en-US" sz="500" dirty="0" smtClean="0">
                          <a:effectLst/>
                          <a:hlinkClick r:id="rId23"/>
                        </a:rPr>
                        <a:t>Athena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Analyze various data sources hosted anywhere with a single SQL query.</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24"/>
                        </a:rPr>
                        <a:t>Amazon </a:t>
                      </a:r>
                      <a:r>
                        <a:rPr lang="en-US" sz="500" dirty="0" err="1" smtClean="0">
                          <a:effectLst/>
                          <a:hlinkClick r:id="rId24"/>
                        </a:rPr>
                        <a:t>QuickSight</a:t>
                      </a:r>
                      <a:r>
                        <a:rPr lang="en-US" sz="500" dirty="0" smtClean="0">
                          <a:effectLst/>
                          <a:hlinkClick r:id="rId24"/>
                        </a:rPr>
                        <a:t>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a:effectLst/>
                        </a:rPr>
                        <a:t>Visualize data by creating interactive dashboards with or without expertise.</a:t>
                      </a:r>
                    </a:p>
                  </a:txBody>
                  <a:tcPr marL="25748" marR="25748" marT="12874" marB="12874" anchor="ctr">
                    <a:lnL>
                      <a:noFill/>
                    </a:lnL>
                    <a:lnR>
                      <a:noFill/>
                    </a:lnR>
                    <a:lnT>
                      <a:noFill/>
                    </a:lnT>
                    <a:lnB>
                      <a:noFill/>
                    </a:lnB>
                    <a:solidFill>
                      <a:srgbClr val="FFFFFF"/>
                    </a:solidFill>
                  </a:tcPr>
                </a:tc>
              </a:tr>
              <a:tr h="223970">
                <a:tc>
                  <a:txBody>
                    <a:bodyPr/>
                    <a:lstStyle/>
                    <a:p>
                      <a:pPr algn="l"/>
                      <a:r>
                        <a:rPr lang="en-US" sz="500" dirty="0">
                          <a:effectLst/>
                          <a:hlinkClick r:id="rId25"/>
                        </a:rPr>
                        <a:t>Amazon OpenSearch </a:t>
                      </a:r>
                      <a:r>
                        <a:rPr lang="en-US" sz="500" dirty="0" smtClean="0">
                          <a:effectLst/>
                          <a:hlinkClick r:id="rId25"/>
                        </a:rPr>
                        <a:t>Service </a:t>
                      </a:r>
                      <a:endParaRPr lang="en-US" sz="500" dirty="0">
                        <a:effectLst/>
                      </a:endParaRPr>
                    </a:p>
                  </a:txBody>
                  <a:tcPr marL="25748" marR="25748" marT="12874" marB="12874" anchor="ctr">
                    <a:lnL>
                      <a:noFill/>
                    </a:lnL>
                    <a:lnR>
                      <a:noFill/>
                    </a:lnR>
                    <a:lnT>
                      <a:noFill/>
                    </a:lnT>
                    <a:lnB>
                      <a:noFill/>
                    </a:lnB>
                    <a:solidFill>
                      <a:srgbClr val="FFFFFF"/>
                    </a:solidFill>
                  </a:tcPr>
                </a:tc>
                <a:tc>
                  <a:txBody>
                    <a:bodyPr/>
                    <a:lstStyle/>
                    <a:p>
                      <a:pPr algn="l"/>
                      <a:r>
                        <a:rPr lang="en-US" sz="500" dirty="0">
                          <a:effectLst/>
                        </a:rPr>
                        <a:t>Visualize and monitor real-time data analytics with keyword or NLP searches.</a:t>
                      </a:r>
                    </a:p>
                  </a:txBody>
                  <a:tcPr marL="25748" marR="25748" marT="12874" marB="12874"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28116425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1430</TotalTime>
  <Words>2231</Words>
  <Application>Microsoft Office PowerPoint</Application>
  <PresentationFormat>Widescreen</PresentationFormat>
  <Paragraphs>378</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Calibri Light</vt:lpstr>
      <vt:lpstr>Office Theme</vt:lpstr>
      <vt:lpstr>Module 8 </vt:lpstr>
      <vt:lpstr>Outline</vt:lpstr>
      <vt:lpstr>Introduction to AI and Machine Learning</vt:lpstr>
      <vt:lpstr>Key concepts</vt:lpstr>
      <vt:lpstr>AI/ML on AWS</vt:lpstr>
      <vt:lpstr>In this lesson, you will learn:</vt:lpstr>
      <vt:lpstr>AWS AI/ML three tiers</vt:lpstr>
      <vt:lpstr>1. AWS AI Services (Pre-trained, Plug-and-Play)</vt:lpstr>
      <vt:lpstr>2. AWS ML Services (Build, Train, Deploy with SageMaker)</vt:lpstr>
      <vt:lpstr>3. AWS Frameworks &amp; Infrastructure (Custom, Deep ML/AI Workloads)</vt:lpstr>
      <vt:lpstr>In brief</vt:lpstr>
      <vt:lpstr>AWS AI/ML Solutions</vt:lpstr>
      <vt:lpstr>In this lesson, you will learn:</vt:lpstr>
      <vt:lpstr>Tier 1: Pre-built AWS AI services</vt:lpstr>
      <vt:lpstr>Language services</vt:lpstr>
      <vt:lpstr>Language services</vt:lpstr>
      <vt:lpstr>Computer vision and search services</vt:lpstr>
      <vt:lpstr>Computer vision and search services</vt:lpstr>
      <vt:lpstr>Conversational AI and personalization services</vt:lpstr>
      <vt:lpstr>Tier 2: ML services</vt:lpstr>
      <vt:lpstr>Key benefits of SageMaker AI</vt:lpstr>
      <vt:lpstr>Tier 3: ML frameworks and infrastructure</vt:lpstr>
      <vt:lpstr>Introduction to Generative AI on AWS</vt:lpstr>
      <vt:lpstr>In this lesson, you will learn:</vt:lpstr>
      <vt:lpstr>Deep learning</vt:lpstr>
      <vt:lpstr>Generative AI</vt:lpstr>
      <vt:lpstr>Generative AI on AWS</vt:lpstr>
      <vt:lpstr>AWS Generative AI Solutions</vt:lpstr>
      <vt:lpstr>In this lesson, you will learn:</vt:lpstr>
      <vt:lpstr>Amazon SageMaker JumpStart</vt:lpstr>
      <vt:lpstr>Common use cases for SageMaker JumpStart</vt:lpstr>
      <vt:lpstr>Amazon Bedrock</vt:lpstr>
      <vt:lpstr>Common use cases for Amazon Bedrock</vt:lpstr>
      <vt:lpstr>Amazon Q products</vt:lpstr>
      <vt:lpstr>Introduction to Data Analytics</vt:lpstr>
      <vt:lpstr>In this lesson, you will learn:</vt:lpstr>
      <vt:lpstr>Data pipelines for ETL processes</vt:lpstr>
      <vt:lpstr>Data analytics</vt:lpstr>
      <vt:lpstr>Data Pipelines on AWS</vt:lpstr>
      <vt:lpstr>In this lesson, you will learn:</vt:lpstr>
      <vt:lpstr>AWS data pipeline services</vt:lpstr>
      <vt:lpstr>Data ingestion services</vt:lpstr>
      <vt:lpstr>Data storage services</vt:lpstr>
      <vt:lpstr>Data storage services</vt:lpstr>
      <vt:lpstr>Data cataloging services</vt:lpstr>
      <vt:lpstr>Data processing services</vt:lpstr>
      <vt:lpstr>Data processing services</vt:lpstr>
      <vt:lpstr>Data analysis and visualization services</vt:lpstr>
      <vt:lpstr>Data analysis and visualization services</vt:lpstr>
      <vt:lpstr>Data analysis and visualization services</vt:lpstr>
      <vt:lpstr>Data Analytics and AI/ML</vt:lpstr>
      <vt:lpstr>In this lesson, you will learn:</vt:lpstr>
      <vt:lpstr>Data analytics and AI/ML architecture diagram</vt:lpstr>
      <vt:lpstr>Data analytics and AI/ML architecture diagram</vt:lpstr>
      <vt:lpstr>Data analytics and AI/ML architecture diagram</vt:lpstr>
      <vt:lpstr>Data analytics and AI/ML architecture diagram</vt:lpstr>
      <vt:lpstr>Recap</vt:lpstr>
      <vt:lpstr>Resources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 </dc:title>
  <dc:creator>Microsoft account</dc:creator>
  <cp:lastModifiedBy>Microsoft account</cp:lastModifiedBy>
  <cp:revision>101</cp:revision>
  <dcterms:created xsi:type="dcterms:W3CDTF">2025-08-24T21:04:21Z</dcterms:created>
  <dcterms:modified xsi:type="dcterms:W3CDTF">2025-08-25T21:05:11Z</dcterms:modified>
</cp:coreProperties>
</file>