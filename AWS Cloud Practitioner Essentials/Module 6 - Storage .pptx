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9" r:id="rId92"/>
    <p:sldId id="350" r:id="rId93"/>
    <p:sldId id="351" r:id="rId94"/>
    <p:sldId id="346" r:id="rId95"/>
    <p:sldId id="347" r:id="rId96"/>
    <p:sldId id="348" r:id="rId97"/>
    <p:sldId id="352" r:id="rId98"/>
    <p:sldId id="353" r:id="rId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8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5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3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7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9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2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7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7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6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BE267-4318-46FA-AAFE-58800FB4037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C9460-B21B-4D53-84B7-86060F7DD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hyperlink" Target="https://aws.amazon.com/s3/faqs/" TargetMode="External"/><Relationship Id="rId13" Type="http://schemas.openxmlformats.org/officeDocument/2006/relationships/hyperlink" Target="https://aws.amazon.com/efs/faq/" TargetMode="External"/><Relationship Id="rId18" Type="http://schemas.openxmlformats.org/officeDocument/2006/relationships/hyperlink" Target="https://aws.amazon.com/fsx/lustre/" TargetMode="External"/><Relationship Id="rId3" Type="http://schemas.openxmlformats.org/officeDocument/2006/relationships/hyperlink" Target="https://aws.amazon.com/ebs/" TargetMode="External"/><Relationship Id="rId21" Type="http://schemas.openxmlformats.org/officeDocument/2006/relationships/hyperlink" Target="https://aws.amazon.com/storagegateway/vtl/" TargetMode="External"/><Relationship Id="rId7" Type="http://schemas.openxmlformats.org/officeDocument/2006/relationships/hyperlink" Target="https://aws.amazon.com/s3/" TargetMode="External"/><Relationship Id="rId12" Type="http://schemas.openxmlformats.org/officeDocument/2006/relationships/hyperlink" Target="https://aws.amazon.com/efs/" TargetMode="External"/><Relationship Id="rId17" Type="http://schemas.openxmlformats.org/officeDocument/2006/relationships/hyperlink" Target="https://aws.amazon.com/fsx/openzfs/" TargetMode="External"/><Relationship Id="rId2" Type="http://schemas.openxmlformats.org/officeDocument/2006/relationships/hyperlink" Target="https://docs.aws.amazon.com/AWSEC2/latest/UserGuide/InstanceStorage.html" TargetMode="External"/><Relationship Id="rId16" Type="http://schemas.openxmlformats.org/officeDocument/2006/relationships/hyperlink" Target="https://aws.amazon.com/fsx/netapp-ontap/" TargetMode="External"/><Relationship Id="rId20" Type="http://schemas.openxmlformats.org/officeDocument/2006/relationships/hyperlink" Target="https://aws.amazon.com/storagegateway/file/s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ws.amazon.com/ebs/latest/userguide/snapshot-lifecycle.html" TargetMode="External"/><Relationship Id="rId11" Type="http://schemas.openxmlformats.org/officeDocument/2006/relationships/hyperlink" Target="https://docs.aws.amazon.com/AmazonS3/latest/userguide/creating-buckets-s3.html" TargetMode="External"/><Relationship Id="rId5" Type="http://schemas.openxmlformats.org/officeDocument/2006/relationships/hyperlink" Target="https://docs.aws.amazon.com/ebs/latest/userguide/ebs-snapshots.html" TargetMode="External"/><Relationship Id="rId15" Type="http://schemas.openxmlformats.org/officeDocument/2006/relationships/hyperlink" Target="https://aws.amazon.com/fsx/windows/" TargetMode="External"/><Relationship Id="rId10" Type="http://schemas.openxmlformats.org/officeDocument/2006/relationships/hyperlink" Target="https://docs.aws.amazon.com/AmazonS3/latest/userguide/Versioning.html" TargetMode="External"/><Relationship Id="rId19" Type="http://schemas.openxmlformats.org/officeDocument/2006/relationships/hyperlink" Target="https://aws.amazon.com/storagegateway" TargetMode="External"/><Relationship Id="rId4" Type="http://schemas.openxmlformats.org/officeDocument/2006/relationships/hyperlink" Target="https://aws.amazon.com/ebs/faqs/" TargetMode="External"/><Relationship Id="rId9" Type="http://schemas.openxmlformats.org/officeDocument/2006/relationships/hyperlink" Target="https://aws.amazon.com/s3/storage-classes/" TargetMode="External"/><Relationship Id="rId14" Type="http://schemas.openxmlformats.org/officeDocument/2006/relationships/hyperlink" Target="https://aws.amazon.com/fsx/" TargetMode="External"/><Relationship Id="rId22" Type="http://schemas.openxmlformats.org/officeDocument/2006/relationships/hyperlink" Target="https://aws.amazon.com/storagegateway/volu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Module 6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000" b="1" dirty="0" smtClean="0"/>
              <a:t>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85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MODULE 6 INTRODUCTION</a:t>
            </a:r>
          </a:p>
          <a:p>
            <a:pPr lvl="1"/>
            <a:r>
              <a:rPr lang="en-US" dirty="0" smtClean="0">
                <a:effectLst/>
              </a:rPr>
              <a:t>Introduction to Storage</a:t>
            </a:r>
          </a:p>
          <a:p>
            <a:r>
              <a:rPr lang="en-US" b="1" dirty="0" smtClean="0"/>
              <a:t>BLOCK STORAGE</a:t>
            </a:r>
          </a:p>
          <a:p>
            <a:pPr lvl="1"/>
            <a:r>
              <a:rPr lang="en-US" dirty="0" smtClean="0">
                <a:effectLst/>
              </a:rPr>
              <a:t>EC2 Instance Store and Amazon Elastic Block Store (Amazon EBS)</a:t>
            </a:r>
          </a:p>
          <a:p>
            <a:pPr lvl="1"/>
            <a:r>
              <a:rPr lang="en-US" dirty="0" smtClean="0">
                <a:effectLst/>
              </a:rPr>
              <a:t>Amazon Elastic Block Store (Amazon EBS) Data Lifecycle</a:t>
            </a:r>
          </a:p>
          <a:p>
            <a:r>
              <a:rPr lang="en-US" b="1" dirty="0" smtClean="0"/>
              <a:t>OBJECT STORAGE</a:t>
            </a:r>
          </a:p>
          <a:p>
            <a:pPr lvl="1"/>
            <a:r>
              <a:rPr lang="en-US" dirty="0" smtClean="0">
                <a:effectLst/>
              </a:rPr>
              <a:t>Amazon Simple Storage Service (Amazon S3)</a:t>
            </a:r>
          </a:p>
          <a:p>
            <a:pPr lvl="1"/>
            <a:r>
              <a:rPr lang="en-US" dirty="0" smtClean="0">
                <a:effectLst/>
              </a:rPr>
              <a:t>Amazon S3 Storage Classes and S3 Lifecycle</a:t>
            </a:r>
          </a:p>
          <a:p>
            <a:pPr lvl="1"/>
            <a:r>
              <a:rPr lang="en-US" dirty="0" smtClean="0">
                <a:effectLst/>
              </a:rPr>
              <a:t>Amazon S3 Demonstration</a:t>
            </a:r>
          </a:p>
          <a:p>
            <a:r>
              <a:rPr lang="en-US" b="1" dirty="0" smtClean="0"/>
              <a:t>FILE STORAGE</a:t>
            </a:r>
          </a:p>
          <a:p>
            <a:pPr lvl="1"/>
            <a:r>
              <a:rPr lang="en-US" dirty="0" smtClean="0">
                <a:effectLst/>
              </a:rPr>
              <a:t>Amazon Elastic File System (Amazon EFS)</a:t>
            </a:r>
          </a:p>
          <a:p>
            <a:pPr lvl="1"/>
            <a:r>
              <a:rPr lang="en-US" dirty="0" smtClean="0">
                <a:effectLst/>
              </a:rPr>
              <a:t>Amazon </a:t>
            </a:r>
            <a:r>
              <a:rPr lang="en-US" dirty="0" err="1" smtClean="0">
                <a:effectLst/>
              </a:rPr>
              <a:t>FSx</a:t>
            </a:r>
            <a:endParaRPr lang="en-US" dirty="0" smtClean="0">
              <a:effectLst/>
            </a:endParaRPr>
          </a:p>
          <a:p>
            <a:r>
              <a:rPr lang="en-US" b="1" dirty="0" smtClean="0"/>
              <a:t>ADDITIONAL STORAGE SOLUTIONS</a:t>
            </a:r>
          </a:p>
          <a:p>
            <a:pPr lvl="1"/>
            <a:r>
              <a:rPr lang="en-US" dirty="0" smtClean="0">
                <a:effectLst/>
              </a:rPr>
              <a:t>AWS Storage Gateway</a:t>
            </a:r>
          </a:p>
          <a:p>
            <a:pPr lvl="1"/>
            <a:r>
              <a:rPr lang="en-US" dirty="0" smtClean="0">
                <a:effectLst/>
              </a:rPr>
              <a:t>AWS Elastic Disaster Recovery</a:t>
            </a:r>
          </a:p>
          <a:p>
            <a:r>
              <a:rPr lang="en-US" b="1" dirty="0" smtClean="0"/>
              <a:t>CLOUD IN REAL LIFE</a:t>
            </a:r>
          </a:p>
          <a:p>
            <a:pPr lvl="1"/>
            <a:r>
              <a:rPr lang="en-US" dirty="0" smtClean="0">
                <a:effectLst/>
              </a:rPr>
              <a:t>Comparing Storage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5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960" y="2587117"/>
            <a:ext cx="5516880" cy="1325563"/>
          </a:xfrm>
        </p:spPr>
        <p:txBody>
          <a:bodyPr/>
          <a:lstStyle/>
          <a:p>
            <a:r>
              <a:rPr lang="en-US" b="1" dirty="0" smtClean="0"/>
              <a:t>Introduction to Storage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00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Describe and differentiate between </a:t>
            </a:r>
            <a:r>
              <a:rPr lang="en-US" b="1" dirty="0" smtClean="0">
                <a:effectLst/>
              </a:rPr>
              <a:t>block</a:t>
            </a:r>
            <a:r>
              <a:rPr lang="en-US" dirty="0" smtClean="0">
                <a:effectLst/>
              </a:rPr>
              <a:t>, </a:t>
            </a:r>
            <a:r>
              <a:rPr lang="en-US" b="1" dirty="0" smtClean="0">
                <a:effectLst/>
              </a:rPr>
              <a:t>object</a:t>
            </a:r>
            <a:r>
              <a:rPr lang="en-US" dirty="0" smtClean="0">
                <a:effectLst/>
              </a:rPr>
              <a:t>, and </a:t>
            </a:r>
            <a:r>
              <a:rPr lang="en-US" b="1" dirty="0" smtClean="0">
                <a:effectLst/>
              </a:rPr>
              <a:t>file</a:t>
            </a:r>
            <a:r>
              <a:rPr lang="en-US" dirty="0" smtClean="0">
                <a:effectLst/>
              </a:rPr>
              <a:t> storage.</a:t>
            </a:r>
          </a:p>
          <a:p>
            <a:r>
              <a:rPr lang="en-US" dirty="0" smtClean="0">
                <a:effectLst/>
              </a:rPr>
              <a:t>Identify the primary AWS services for block, object, and file storage.</a:t>
            </a:r>
          </a:p>
          <a:p>
            <a:r>
              <a:rPr lang="en-US" dirty="0" smtClean="0">
                <a:effectLst/>
              </a:rPr>
              <a:t>Identify how the AWS shared responsibility model applies to AWS storage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2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AWS cloud storage types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offers three distinct types of cloud storage to meet diverse requirements and application needs: </a:t>
            </a:r>
            <a:endParaRPr lang="en-US" dirty="0" smtClean="0"/>
          </a:p>
          <a:p>
            <a:pPr lvl="1"/>
            <a:r>
              <a:rPr lang="en-US" b="1" dirty="0"/>
              <a:t>B</a:t>
            </a:r>
            <a:r>
              <a:rPr lang="en-US" b="1" dirty="0" smtClean="0"/>
              <a:t>lock storage.</a:t>
            </a:r>
          </a:p>
          <a:p>
            <a:pPr lvl="1"/>
            <a:r>
              <a:rPr lang="en-US" b="1" dirty="0"/>
              <a:t>O</a:t>
            </a:r>
            <a:r>
              <a:rPr lang="en-US" b="1" dirty="0" smtClean="0"/>
              <a:t>bject storage.</a:t>
            </a:r>
          </a:p>
          <a:p>
            <a:pPr lvl="1"/>
            <a:r>
              <a:rPr lang="en-US" b="1" dirty="0"/>
              <a:t>F</a:t>
            </a:r>
            <a:r>
              <a:rPr lang="en-US" b="1" dirty="0" smtClean="0"/>
              <a:t>ile </a:t>
            </a:r>
            <a:r>
              <a:rPr lang="en-US" b="1" dirty="0"/>
              <a:t>storage.</a:t>
            </a:r>
          </a:p>
        </p:txBody>
      </p:sp>
    </p:spTree>
    <p:extLst>
      <p:ext uri="{BB962C8B-B14F-4D97-AF65-F5344CB8AC3E}">
        <p14:creationId xmlns:p14="http://schemas.microsoft.com/office/powerpoint/2010/main" val="4162365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Block storage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Block storage provides persistent, low-latency block-level storage volumes that attach to EC2 instances like physical hard drives. </a:t>
            </a:r>
          </a:p>
          <a:p>
            <a:r>
              <a:rPr lang="en-US" dirty="0" smtClean="0"/>
              <a:t>Block storage volumes can be encrypted, backed up via </a:t>
            </a:r>
            <a:r>
              <a:rPr lang="en-US" b="1" dirty="0" smtClean="0"/>
              <a:t>snapshots</a:t>
            </a:r>
            <a:r>
              <a:rPr lang="en-US" dirty="0" smtClean="0"/>
              <a:t>, and modified while in use without disrupting the instance. </a:t>
            </a:r>
          </a:p>
          <a:p>
            <a:r>
              <a:rPr lang="en-US" dirty="0" smtClean="0"/>
              <a:t>AWS offers two primary block storage services:</a:t>
            </a:r>
          </a:p>
          <a:p>
            <a:pPr lvl="1"/>
            <a:r>
              <a:rPr lang="en-US" b="1" i="1" dirty="0" smtClean="0"/>
              <a:t>Amazon EC2 instance store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 </a:t>
            </a:r>
            <a:r>
              <a:rPr lang="en-US" b="1" dirty="0" smtClean="0"/>
              <a:t>unmanaged non-persistent</a:t>
            </a:r>
            <a:r>
              <a:rPr lang="en-US" dirty="0" smtClean="0"/>
              <a:t>, </a:t>
            </a:r>
            <a:r>
              <a:rPr lang="en-US" b="1" dirty="0" smtClean="0"/>
              <a:t>high-performance</a:t>
            </a:r>
            <a:r>
              <a:rPr lang="en-US" dirty="0" smtClean="0"/>
              <a:t> block storage directly attached to EC2 instances for temporary data.</a:t>
            </a:r>
          </a:p>
          <a:p>
            <a:pPr lvl="1"/>
            <a:r>
              <a:rPr lang="en-US" b="1" i="1" dirty="0" smtClean="0"/>
              <a:t>Amazon Elastic Block Store </a:t>
            </a:r>
            <a:r>
              <a:rPr lang="en-US" i="1" dirty="0" smtClean="0"/>
              <a:t>(</a:t>
            </a:r>
            <a:r>
              <a:rPr lang="en-US" b="1" i="1" dirty="0" smtClean="0"/>
              <a:t>EBS</a:t>
            </a:r>
            <a:r>
              <a:rPr lang="en-US" i="1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b="1" dirty="0" smtClean="0"/>
              <a:t>managed</a:t>
            </a:r>
            <a:r>
              <a:rPr lang="en-US" dirty="0" smtClean="0"/>
              <a:t> service that provides persistent block storage volumes for EC2 instances, offering various types for different workloads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35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Object storage is a data storage architecture that manages data as objects in a flat address space. </a:t>
            </a:r>
          </a:p>
          <a:p>
            <a:r>
              <a:rPr lang="en-US" dirty="0" smtClean="0"/>
              <a:t>It offers unlimited scalability so you can store vast amounts of unstructured data without worrying about capacity constraints. </a:t>
            </a:r>
          </a:p>
          <a:p>
            <a:r>
              <a:rPr lang="en-US" dirty="0" smtClean="0"/>
              <a:t>Object storage provides enhanced metadata capabilities to provide more efficient data management, search, and analytics across massive datasets.</a:t>
            </a:r>
          </a:p>
          <a:p>
            <a:r>
              <a:rPr lang="en-US" dirty="0" smtClean="0"/>
              <a:t>The following is the primary AWS object storage service:</a:t>
            </a:r>
          </a:p>
          <a:p>
            <a:pPr lvl="1"/>
            <a:r>
              <a:rPr lang="en-US" b="1" i="1" dirty="0" smtClean="0"/>
              <a:t>Amazon Simple Storage Service (S3)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fully managed scalable object storage service for storing and retrieving any amount of data from anywhere.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87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</a:t>
            </a:r>
            <a:r>
              <a:rPr lang="en-US" b="1" dirty="0" smtClean="0"/>
              <a:t>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AWS file storage services provide shared file systems accessible over networks, so multiple users and applications can access the same data simultaneously. </a:t>
            </a:r>
          </a:p>
          <a:p>
            <a:r>
              <a:rPr lang="en-US" dirty="0" smtClean="0"/>
              <a:t>They offer scalability and flexibility so you can expand storage capacity as needs grow without managing physical infrastructure. </a:t>
            </a:r>
          </a:p>
          <a:p>
            <a:r>
              <a:rPr lang="en-US" dirty="0" smtClean="0"/>
              <a:t>AWS offers two primary file storage services:</a:t>
            </a:r>
          </a:p>
          <a:p>
            <a:pPr lvl="1"/>
            <a:r>
              <a:rPr lang="en-US" b="1" i="1" dirty="0" smtClean="0"/>
              <a:t>Amazon Elastic File System (EFS)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A fully managed, scalable NFS file system for use with AWS Cloud services and on-premises resources.</a:t>
            </a:r>
          </a:p>
          <a:p>
            <a:pPr lvl="1"/>
            <a:r>
              <a:rPr lang="en-US" b="1" i="1" dirty="0" smtClean="0"/>
              <a:t>Amazon </a:t>
            </a:r>
            <a:r>
              <a:rPr lang="en-US" b="1" i="1" dirty="0" err="1" smtClean="0"/>
              <a:t>FSx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A fully managed file storage services for popular file systems like Windows, </a:t>
            </a:r>
            <a:r>
              <a:rPr lang="en-US" dirty="0" err="1" smtClean="0"/>
              <a:t>Lustre</a:t>
            </a:r>
            <a:r>
              <a:rPr lang="en-US" dirty="0" smtClean="0"/>
              <a:t>, and NetApp ONTAP.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96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storage </a:t>
            </a:r>
            <a:r>
              <a:rPr lang="en-US" b="1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These services don't fit cleanly into the categories we've defined so far, but they're important AWS storage offerings that you should be familiar with.</a:t>
            </a:r>
          </a:p>
          <a:p>
            <a:pPr lvl="1"/>
            <a:r>
              <a:rPr lang="en-US" b="1" i="1" dirty="0" smtClean="0"/>
              <a:t>AWS Storage Gateway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fully managed, hybrid-cloud storage service that provides on-premises access to virtually unlimited cloud storage.</a:t>
            </a:r>
          </a:p>
          <a:p>
            <a:pPr lvl="1"/>
            <a:r>
              <a:rPr lang="en-US" b="1" i="1" dirty="0" smtClean="0"/>
              <a:t>AWS Elastic Disaster Recovery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A fully managed service that streamlines the recovery of your physical, virtual, and cloud-based servers into AWS.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04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shared responsibility </a:t>
            </a:r>
            <a:r>
              <a:rPr lang="en-US" b="1" dirty="0" smtClean="0"/>
              <a:t>for </a:t>
            </a:r>
            <a:r>
              <a:rPr lang="en-US" b="1" dirty="0"/>
              <a:t>storage </a:t>
            </a:r>
            <a:r>
              <a:rPr lang="en-US" b="1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657600">
            <a:normAutofit fontScale="92500" lnSpcReduction="20000"/>
          </a:bodyPr>
          <a:lstStyle/>
          <a:p>
            <a:r>
              <a:rPr lang="en-US" dirty="0" smtClean="0"/>
              <a:t>The AWS shared responsibility model groups services into three categories based on the ownership of administrative tasks. These categories are </a:t>
            </a:r>
            <a:r>
              <a:rPr lang="en-US" b="1" dirty="0" smtClean="0"/>
              <a:t>fully managed</a:t>
            </a:r>
            <a:r>
              <a:rPr lang="en-US" dirty="0" smtClean="0"/>
              <a:t>, </a:t>
            </a:r>
            <a:r>
              <a:rPr lang="en-US" b="1" dirty="0" smtClean="0"/>
              <a:t>managed</a:t>
            </a:r>
            <a:r>
              <a:rPr lang="en-US" dirty="0" smtClean="0"/>
              <a:t>, and </a:t>
            </a:r>
            <a:r>
              <a:rPr lang="en-US" b="1" dirty="0" smtClean="0"/>
              <a:t>unmanaged</a:t>
            </a:r>
            <a:r>
              <a:rPr lang="en-US" dirty="0" smtClean="0"/>
              <a:t>.</a:t>
            </a:r>
          </a:p>
          <a:p>
            <a:r>
              <a:rPr lang="en-US" b="1" dirty="0"/>
              <a:t>F</a:t>
            </a:r>
            <a:r>
              <a:rPr lang="en-US" b="1" dirty="0" smtClean="0"/>
              <a:t>ully managed services </a:t>
            </a:r>
          </a:p>
          <a:p>
            <a:pPr lvl="1" algn="l"/>
            <a:r>
              <a:rPr lang="en-US" dirty="0" smtClean="0">
                <a:effectLst/>
              </a:rPr>
              <a:t>For fully managed storage services, AWS is responsible for everything from the hardware and infrastructure up through the entire storage stack. </a:t>
            </a:r>
          </a:p>
          <a:p>
            <a:pPr lvl="1" algn="l"/>
            <a:r>
              <a:rPr lang="en-US" dirty="0" smtClean="0">
                <a:effectLst/>
              </a:rPr>
              <a:t>This includes data durability, availability, encryption at rest, and replication. </a:t>
            </a:r>
          </a:p>
          <a:p>
            <a:pPr lvl="1" algn="l"/>
            <a:r>
              <a:rPr lang="en-US" dirty="0" smtClean="0">
                <a:effectLst/>
              </a:rPr>
              <a:t>Customers are only responsible for data management, access controls, and proper service configuration.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02" y="3559556"/>
            <a:ext cx="4002983" cy="317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6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shared responsibility for storage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Managed services </a:t>
            </a:r>
          </a:p>
          <a:p>
            <a:pPr lvl="1"/>
            <a:r>
              <a:rPr lang="en-US" dirty="0" smtClean="0">
                <a:effectLst/>
              </a:rPr>
              <a:t>For managed storage services, AWS manages</a:t>
            </a:r>
          </a:p>
          <a:p>
            <a:pPr marL="457200" lvl="1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effectLst/>
              </a:rPr>
              <a:t>the underlying storage infrastructure, hardware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    redundancy, and volume replication.</a:t>
            </a:r>
          </a:p>
          <a:p>
            <a:pPr lvl="1"/>
            <a:r>
              <a:rPr lang="en-US" dirty="0" smtClean="0">
                <a:effectLst/>
              </a:rPr>
              <a:t> Customers are responsible for data backup</a:t>
            </a:r>
          </a:p>
          <a:p>
            <a:pPr marL="457200" lvl="1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effectLst/>
              </a:rPr>
              <a:t>strategies, encryption configuration, volume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    performance optimization, and capacity planning.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976" y="3364992"/>
            <a:ext cx="4271777" cy="34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9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shared responsibility for storage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657600"/>
          <a:lstStyle/>
          <a:p>
            <a:r>
              <a:rPr lang="en-US" b="1" dirty="0" smtClean="0"/>
              <a:t>Unmanaged</a:t>
            </a:r>
            <a:r>
              <a:rPr lang="en-US" dirty="0" smtClean="0"/>
              <a:t> </a:t>
            </a:r>
            <a:r>
              <a:rPr lang="en-US" b="1" dirty="0" smtClean="0"/>
              <a:t>services</a:t>
            </a:r>
          </a:p>
          <a:p>
            <a:pPr lvl="1"/>
            <a:r>
              <a:rPr lang="en-US" dirty="0" smtClean="0">
                <a:effectLst/>
              </a:rPr>
              <a:t>For unmanaged storage services, customers takes full responsibility for data management, backup/recovery, encryption, performance optimization, and durability. AWS only maintains the underlying physical hardware and network infrastructure.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049" y="3118104"/>
            <a:ext cx="4495951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6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896" y="2852293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EC2 Instance Store and Amazon </a:t>
            </a:r>
            <a:r>
              <a:rPr lang="ar-EG" b="1" dirty="0" smtClean="0"/>
              <a:t/>
            </a:r>
            <a:br>
              <a:rPr lang="ar-EG" b="1" dirty="0" smtClean="0"/>
            </a:br>
            <a:r>
              <a:rPr lang="en-US" b="1" dirty="0" smtClean="0"/>
              <a:t>Elastic Block Store (Amazon EBS)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491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</a:t>
            </a:r>
            <a:r>
              <a:rPr lang="ar-EG" b="1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</a:t>
            </a:r>
            <a:r>
              <a:rPr lang="en-US" b="1" dirty="0" smtClean="0"/>
              <a:t>Amazon EC2 instance store</a:t>
            </a:r>
            <a:r>
              <a:rPr lang="en-US" dirty="0" smtClean="0"/>
              <a:t>, including its benefits and use cases.</a:t>
            </a:r>
          </a:p>
          <a:p>
            <a:r>
              <a:rPr lang="en-US" dirty="0" smtClean="0"/>
              <a:t>Describe </a:t>
            </a:r>
            <a:r>
              <a:rPr lang="en-US" b="1" dirty="0" smtClean="0"/>
              <a:t>Amazon EBS</a:t>
            </a:r>
            <a:r>
              <a:rPr lang="en-US" dirty="0" smtClean="0"/>
              <a:t>, including its benefits and use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6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EC2 instance </a:t>
            </a:r>
            <a:r>
              <a:rPr lang="en-US" b="1" dirty="0" smtClean="0"/>
              <a:t>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Amazon EC2 instance store isn't a stand-alone AWS block storage service. </a:t>
            </a:r>
          </a:p>
          <a:p>
            <a:r>
              <a:rPr lang="en-US" dirty="0" smtClean="0"/>
              <a:t>Rather, it refers to the block-level storage that is physically attached to the EC2 instance host computer. </a:t>
            </a:r>
          </a:p>
          <a:p>
            <a:r>
              <a:rPr lang="en-US" dirty="0" smtClean="0"/>
              <a:t>Depending on the type of instance, EC2 instance store might come attached as the default storage. </a:t>
            </a:r>
          </a:p>
          <a:p>
            <a:r>
              <a:rPr lang="en-US" dirty="0" smtClean="0"/>
              <a:t>Since its data is lost when an instance is stopped or terminated, EC2 instance store is best for temporary memory-based storage needs like buffers, caches, and scratch data. </a:t>
            </a:r>
          </a:p>
          <a:p>
            <a:r>
              <a:rPr lang="en-US" dirty="0" smtClean="0"/>
              <a:t>It is not recommended for applications that require data retention.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123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EC2 instance </a:t>
            </a:r>
            <a:r>
              <a:rPr lang="en-US" b="1" dirty="0" smtClean="0"/>
              <a:t>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takeaway: no data persistence</a:t>
            </a:r>
            <a:endParaRPr lang="en-US" b="1" dirty="0" smtClean="0">
              <a:effectLst/>
            </a:endParaRPr>
          </a:p>
          <a:p>
            <a:pPr lvl="1"/>
            <a:r>
              <a:rPr lang="en-US" dirty="0" smtClean="0">
                <a:effectLst/>
              </a:rPr>
              <a:t>An Amazon EC2 instance store provides temporary block-level storage for an Amazon EC2 instance. </a:t>
            </a:r>
          </a:p>
          <a:p>
            <a:pPr lvl="1"/>
            <a:r>
              <a:rPr lang="en-US" dirty="0" smtClean="0">
                <a:effectLst/>
              </a:rPr>
              <a:t>This means that if you stop or terminate an Amazon EC2 instance, all the data written to the attached instance store is deleted.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4001294"/>
            <a:ext cx="7169658" cy="279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2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EC2 instance </a:t>
            </a:r>
            <a:r>
              <a:rPr lang="en-US" b="1" dirty="0" smtClean="0"/>
              <a:t>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Benefits</a:t>
            </a:r>
          </a:p>
          <a:p>
            <a:pPr lvl="1"/>
            <a:r>
              <a:rPr lang="en-US" b="1" dirty="0" smtClean="0"/>
              <a:t>Auto available storage </a:t>
            </a:r>
          </a:p>
          <a:p>
            <a:pPr lvl="2"/>
            <a:r>
              <a:rPr lang="en-US" dirty="0" smtClean="0">
                <a:effectLst/>
              </a:rPr>
              <a:t>Instance store volumes come automatically attached to many EC2 instance types, providing temporary block-level storage at no additional cost. </a:t>
            </a:r>
          </a:p>
          <a:p>
            <a:pPr lvl="2"/>
            <a:r>
              <a:rPr lang="en-US" dirty="0" smtClean="0">
                <a:effectLst/>
              </a:rPr>
              <a:t>It's physically connected to the host computer, offering high I/O performance for data that disappears when the instance stops.</a:t>
            </a:r>
            <a:endParaRPr lang="en-US" b="1" dirty="0" smtClean="0"/>
          </a:p>
          <a:p>
            <a:pPr lvl="1"/>
            <a:r>
              <a:rPr lang="en-US" b="1" dirty="0" smtClean="0"/>
              <a:t>Cost effective</a:t>
            </a:r>
          </a:p>
          <a:p>
            <a:pPr lvl="2"/>
            <a:r>
              <a:rPr lang="en-US" dirty="0" smtClean="0">
                <a:effectLst/>
              </a:rPr>
              <a:t>Because EC2 instance store is included in the EC2 instance price, you don't have to pay any additional fees for storage. </a:t>
            </a:r>
          </a:p>
          <a:p>
            <a:pPr lvl="2"/>
            <a:r>
              <a:rPr lang="en-US" dirty="0" smtClean="0">
                <a:effectLst/>
              </a:rPr>
              <a:t>It's ideal for temporary storage needs like buffers, caches, or scratch data, potentially reducing expenses for applications that don't require persistent storage.</a:t>
            </a:r>
            <a:endParaRPr lang="en-US" b="1" dirty="0" smtClean="0"/>
          </a:p>
          <a:p>
            <a:pPr lvl="1"/>
            <a:r>
              <a:rPr lang="en-US" b="1" dirty="0" smtClean="0"/>
              <a:t>High performance</a:t>
            </a:r>
          </a:p>
          <a:p>
            <a:pPr lvl="2"/>
            <a:r>
              <a:rPr lang="en-US" dirty="0" smtClean="0">
                <a:effectLst/>
              </a:rPr>
              <a:t>EC2 instance store offers </a:t>
            </a:r>
            <a:r>
              <a:rPr lang="en-US" b="1" dirty="0" smtClean="0">
                <a:effectLst/>
              </a:rPr>
              <a:t>extremely low-latency storage </a:t>
            </a:r>
            <a:r>
              <a:rPr lang="en-US" dirty="0" smtClean="0">
                <a:effectLst/>
              </a:rPr>
              <a:t>directly attached to the host server of your EC2 instance. </a:t>
            </a:r>
          </a:p>
          <a:p>
            <a:pPr lvl="2"/>
            <a:r>
              <a:rPr lang="en-US" dirty="0" smtClean="0">
                <a:effectLst/>
              </a:rPr>
              <a:t>This proximity means </a:t>
            </a:r>
            <a:r>
              <a:rPr lang="en-US" b="1" dirty="0" smtClean="0">
                <a:effectLst/>
              </a:rPr>
              <a:t>exceptionally high I/O performance</a:t>
            </a:r>
            <a:r>
              <a:rPr lang="en-US" dirty="0" smtClean="0">
                <a:effectLst/>
              </a:rPr>
              <a:t>, making it ideal for temporary storage of data requiring fast processing.</a:t>
            </a:r>
            <a:endParaRPr lang="en-US" b="1" dirty="0" smtClean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4374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Elastic Block Store (EBS)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Amazon EBS provides </a:t>
            </a:r>
            <a:r>
              <a:rPr lang="en-US" b="1" i="1" dirty="0" smtClean="0"/>
              <a:t>persistent</a:t>
            </a:r>
            <a:r>
              <a:rPr lang="en-US" i="1" dirty="0" smtClean="0"/>
              <a:t> block-level storage</a:t>
            </a:r>
            <a:r>
              <a:rPr lang="en-US" dirty="0" smtClean="0"/>
              <a:t> volumes for use with Amazon EC2 instances. </a:t>
            </a:r>
          </a:p>
          <a:p>
            <a:r>
              <a:rPr lang="en-US" dirty="0" smtClean="0"/>
              <a:t>EBS volumes act </a:t>
            </a:r>
            <a:r>
              <a:rPr lang="en-US" b="1" dirty="0" smtClean="0"/>
              <a:t>like external hard drives</a:t>
            </a:r>
            <a:r>
              <a:rPr lang="en-US" dirty="0" smtClean="0"/>
              <a:t>, offering consistent and low-latency performance for workloads like databases and file systems.</a:t>
            </a:r>
          </a:p>
          <a:p>
            <a:r>
              <a:rPr lang="en-US" dirty="0" smtClean="0"/>
              <a:t>EBS volumes can be conveniently backed up, resized, and attached to different EC2 instances. </a:t>
            </a:r>
          </a:p>
          <a:p>
            <a:r>
              <a:rPr lang="en-US" dirty="0" smtClean="0"/>
              <a:t>To create an EBS volume, you define the configuration for things like volume size and type. </a:t>
            </a:r>
          </a:p>
          <a:p>
            <a:r>
              <a:rPr lang="en-US" dirty="0" smtClean="0"/>
              <a:t>After the volume has been created, it can be attached to an Amazon EC2 instance. </a:t>
            </a:r>
          </a:p>
          <a:p>
            <a:r>
              <a:rPr lang="en-US" dirty="0" smtClean="0"/>
              <a:t>Because EBS volumes are for data that needs to persist, it’s important to back up the data. </a:t>
            </a:r>
          </a:p>
          <a:p>
            <a:r>
              <a:rPr lang="en-US" dirty="0" smtClean="0"/>
              <a:t>It's recommended that you take incremental backups of EBS volumes by creating Amazon EBS </a:t>
            </a:r>
            <a:r>
              <a:rPr lang="en-US" b="1" dirty="0" smtClean="0"/>
              <a:t>snapshots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232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Elastic Block Store (EBS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takeaway: data persistence</a:t>
            </a:r>
            <a:endParaRPr lang="en-US" b="1" dirty="0" smtClean="0"/>
          </a:p>
          <a:p>
            <a:pPr lvl="1"/>
            <a:r>
              <a:rPr lang="en-US" dirty="0" smtClean="0"/>
              <a:t>Amazon EBS provides block-level storage volumes that you can use with Amazon EC2 instances. </a:t>
            </a:r>
          </a:p>
          <a:p>
            <a:pPr lvl="1"/>
            <a:r>
              <a:rPr lang="en-US" dirty="0" smtClean="0"/>
              <a:t>If you stop or terminate an Amazon EC2 instance, all the data on the attached EBS volume remains available.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864483"/>
            <a:ext cx="78105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0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Elastic Block Store (EBS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 cases</a:t>
            </a:r>
            <a:endParaRPr lang="en-US" b="1" dirty="0" smtClean="0">
              <a:effectLst/>
            </a:endParaRPr>
          </a:p>
          <a:p>
            <a:pPr lvl="1"/>
            <a:r>
              <a:rPr lang="en-US" dirty="0" smtClean="0">
                <a:effectLst/>
              </a:rPr>
              <a:t>Some practical use cases of Amazon EBS include database hosting, backup storage for applications, and rapid deployment of development environments using volume snapshots.</a:t>
            </a:r>
          </a:p>
          <a:p>
            <a:r>
              <a:rPr lang="en-US" b="1" dirty="0"/>
              <a:t>Benefits </a:t>
            </a:r>
            <a:endParaRPr lang="en-US" b="1" dirty="0" smtClean="0">
              <a:effectLst/>
            </a:endParaRPr>
          </a:p>
          <a:p>
            <a:pPr lvl="1"/>
            <a:r>
              <a:rPr lang="en-US" dirty="0" smtClean="0">
                <a:effectLst/>
              </a:rPr>
              <a:t>EBS volumes support data </a:t>
            </a:r>
            <a:r>
              <a:rPr lang="en-US" b="1" dirty="0" smtClean="0">
                <a:effectLst/>
              </a:rPr>
              <a:t>portability</a:t>
            </a:r>
            <a:r>
              <a:rPr lang="en-US" dirty="0" smtClean="0">
                <a:effectLst/>
              </a:rPr>
              <a:t> through their ability to </a:t>
            </a:r>
            <a:r>
              <a:rPr lang="en-US" b="1" dirty="0" smtClean="0">
                <a:effectLst/>
              </a:rPr>
              <a:t>detach</a:t>
            </a:r>
            <a:r>
              <a:rPr lang="en-US" dirty="0" smtClean="0">
                <a:effectLst/>
              </a:rPr>
              <a:t> and </a:t>
            </a:r>
            <a:r>
              <a:rPr lang="en-US" b="1" dirty="0" smtClean="0">
                <a:effectLst/>
              </a:rPr>
              <a:t>reattach</a:t>
            </a:r>
            <a:r>
              <a:rPr lang="en-US" dirty="0" smtClean="0">
                <a:effectLst/>
              </a:rPr>
              <a:t> to instances as needed. </a:t>
            </a:r>
          </a:p>
          <a:p>
            <a:pPr lvl="1"/>
            <a:r>
              <a:rPr lang="en-US" dirty="0" smtClean="0">
                <a:effectLst/>
              </a:rPr>
              <a:t>There are many practical reasons you might choose to do this.</a:t>
            </a:r>
          </a:p>
          <a:p>
            <a:pPr lvl="1"/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9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Amazon Elastic Block Store (EBS)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Benefits (cont.)</a:t>
            </a:r>
          </a:p>
          <a:p>
            <a:pPr lvl="1"/>
            <a:r>
              <a:rPr lang="en-US" b="1" dirty="0" smtClean="0"/>
              <a:t>Data migration</a:t>
            </a:r>
          </a:p>
          <a:p>
            <a:pPr lvl="2"/>
            <a:r>
              <a:rPr lang="en-US" dirty="0" smtClean="0">
                <a:effectLst/>
              </a:rPr>
              <a:t>EBS volumes can be easily migrated between Availability Zones using </a:t>
            </a:r>
            <a:r>
              <a:rPr lang="en-US" b="1" dirty="0" smtClean="0">
                <a:effectLst/>
              </a:rPr>
              <a:t>snapshots</a:t>
            </a:r>
            <a:r>
              <a:rPr lang="en-US" dirty="0" smtClean="0">
                <a:effectLst/>
              </a:rPr>
              <a:t>. </a:t>
            </a:r>
          </a:p>
          <a:p>
            <a:pPr lvl="2"/>
            <a:r>
              <a:rPr lang="en-US" dirty="0" smtClean="0">
                <a:effectLst/>
              </a:rPr>
              <a:t>The snapshots provide a simple way to move data across regions or create copies.</a:t>
            </a:r>
            <a:endParaRPr lang="en-US" b="1" dirty="0" smtClean="0"/>
          </a:p>
          <a:p>
            <a:pPr lvl="1"/>
            <a:r>
              <a:rPr lang="en-US" b="1" dirty="0" smtClean="0"/>
              <a:t>Instance type changes</a:t>
            </a:r>
          </a:p>
          <a:p>
            <a:pPr lvl="2"/>
            <a:r>
              <a:rPr lang="en-US" dirty="0" smtClean="0">
                <a:effectLst/>
              </a:rPr>
              <a:t>Since EBS volumes remain independent of EC2 instances, it's not complicated to attach them to different instance types. </a:t>
            </a:r>
          </a:p>
          <a:p>
            <a:pPr lvl="2"/>
            <a:r>
              <a:rPr lang="en-US" dirty="0" smtClean="0">
                <a:effectLst/>
              </a:rPr>
              <a:t>This flexibility lets you upgrade or downgrade instances without losing data.</a:t>
            </a:r>
            <a:endParaRPr lang="en-US" b="1" dirty="0" smtClean="0"/>
          </a:p>
          <a:p>
            <a:pPr lvl="1"/>
            <a:r>
              <a:rPr lang="en-US" b="1" dirty="0" smtClean="0"/>
              <a:t>Disaster recovery</a:t>
            </a:r>
          </a:p>
          <a:p>
            <a:pPr lvl="2"/>
            <a:r>
              <a:rPr lang="en-US" dirty="0" smtClean="0">
                <a:effectLst/>
              </a:rPr>
              <a:t>EBS snapshots provide reliable backup solutions that can be restored in different regions during emergencies. </a:t>
            </a:r>
          </a:p>
          <a:p>
            <a:pPr lvl="2"/>
            <a:r>
              <a:rPr lang="en-US" dirty="0" smtClean="0">
                <a:effectLst/>
              </a:rPr>
              <a:t>Regular automated snapshots ensure your data remains protected and quickly recoverable.</a:t>
            </a:r>
            <a:endParaRPr lang="en-US" b="1" dirty="0" smtClean="0"/>
          </a:p>
          <a:p>
            <a:pPr lvl="1"/>
            <a:r>
              <a:rPr lang="en-US" b="1" dirty="0" smtClean="0"/>
              <a:t>Cost optimization</a:t>
            </a:r>
          </a:p>
          <a:p>
            <a:pPr lvl="2"/>
            <a:r>
              <a:rPr lang="en-US" dirty="0" smtClean="0">
                <a:effectLst/>
              </a:rPr>
              <a:t>EBS volumes can be modified to different types and sizes to match actual usage patterns. </a:t>
            </a:r>
          </a:p>
          <a:p>
            <a:pPr lvl="2"/>
            <a:r>
              <a:rPr lang="en-US" dirty="0" smtClean="0">
                <a:effectLst/>
              </a:rPr>
              <a:t>You can switch between storage types or adjust capacity without downtime.</a:t>
            </a:r>
            <a:endParaRPr lang="en-US" b="1" dirty="0" smtClean="0"/>
          </a:p>
          <a:p>
            <a:pPr lvl="1"/>
            <a:r>
              <a:rPr lang="en-US" b="1" dirty="0" smtClean="0"/>
              <a:t>Performance tuning</a:t>
            </a:r>
          </a:p>
          <a:p>
            <a:pPr lvl="2"/>
            <a:r>
              <a:rPr lang="en-US" dirty="0" smtClean="0">
                <a:effectLst/>
              </a:rPr>
              <a:t>Amazon EBS offers various volume types to match different workload requirements and IOPS needs. </a:t>
            </a:r>
          </a:p>
          <a:p>
            <a:pPr lvl="2"/>
            <a:r>
              <a:rPr lang="en-US" dirty="0" smtClean="0">
                <a:effectLst/>
              </a:rPr>
              <a:t>You can adjust volume performance characteristics on the fly to meet changing application demands.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4082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848" y="2669413"/>
            <a:ext cx="6367272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Amazon EBS Data Lifecycle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023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Amazon EBS </a:t>
            </a:r>
            <a:r>
              <a:rPr lang="en-US" b="1" dirty="0" smtClean="0"/>
              <a:t>snapshots</a:t>
            </a:r>
            <a:r>
              <a:rPr lang="en-US" dirty="0" smtClean="0"/>
              <a:t> and their use cases for data management.</a:t>
            </a:r>
          </a:p>
          <a:p>
            <a:r>
              <a:rPr lang="en-US" dirty="0" smtClean="0"/>
              <a:t>Describe the Amazon EBS data lifecycle and how it integrates with AWS services.</a:t>
            </a:r>
          </a:p>
          <a:p>
            <a:r>
              <a:rPr lang="en-US" dirty="0" smtClean="0"/>
              <a:t>Identify the customer responsibility in relation to EBS snapshots and Amazon Data Lifecycle Manager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665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Amazon EBS Data 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/>
              <a:t>Amazon EBS data lifecycle management involves creating, backing up, and deleting volumes and snapshots.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process optimizes storage costs and helps to ensure data protection.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lesson, you will learn the basics of implementing an effective Amazon EBS backup and snapshot strategy.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25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EBS 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EBS </a:t>
            </a:r>
            <a:r>
              <a:rPr lang="en-US" b="1" dirty="0" smtClean="0"/>
              <a:t>snapshots</a:t>
            </a:r>
            <a:r>
              <a:rPr lang="en-US" dirty="0" smtClean="0"/>
              <a:t> are point-in-time backups of EBS volume. </a:t>
            </a:r>
          </a:p>
          <a:p>
            <a:r>
              <a:rPr lang="en-US" dirty="0" smtClean="0"/>
              <a:t>They can be used for disaster recovery, data migration, volume resizing, and for creating consistent backups of production workloads. </a:t>
            </a:r>
          </a:p>
          <a:p>
            <a:r>
              <a:rPr lang="en-US" dirty="0" smtClean="0"/>
              <a:t>EBS snapshots are </a:t>
            </a:r>
            <a:r>
              <a:rPr lang="en-US" b="1" dirty="0" smtClean="0"/>
              <a:t>incremental</a:t>
            </a:r>
            <a:r>
              <a:rPr lang="en-US" dirty="0" smtClean="0"/>
              <a:t>, so they only save the blocks on the volume that have changed after your most recent snapshot.</a:t>
            </a:r>
          </a:p>
          <a:p>
            <a:r>
              <a:rPr lang="en-US" dirty="0" smtClean="0"/>
              <a:t>EBS snapshots can be used to create multiple new volumes, and new volumes created from a snapshot are an exact copy of the original volume at the time the snapshot was taken. </a:t>
            </a:r>
          </a:p>
          <a:p>
            <a:r>
              <a:rPr lang="en-US" dirty="0" smtClean="0"/>
              <a:t>Snapshots of EBS volumes are stored redundantly in multiple Availability Zones using Amazon S3. 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442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EBS </a:t>
            </a:r>
            <a:r>
              <a:rPr lang="en-US" b="1" dirty="0" smtClean="0"/>
              <a:t>snapshots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keeping with the AWS shared responsibility model, as the customer, you are responsible for scheduling and managing regular EBS snapshots as part of your backup strategy. </a:t>
            </a:r>
          </a:p>
          <a:p>
            <a:r>
              <a:rPr lang="en-US" dirty="0" smtClean="0"/>
              <a:t>This includes monitoring snapshot costs and deleting unnecessary snapshots to avoid excessive charges. </a:t>
            </a:r>
          </a:p>
          <a:p>
            <a:r>
              <a:rPr lang="en-US" dirty="0" smtClean="0"/>
              <a:t>You also need to make sure sensitive data within snapshots is </a:t>
            </a:r>
            <a:r>
              <a:rPr lang="en-US" b="1" dirty="0" smtClean="0"/>
              <a:t>encrypted</a:t>
            </a:r>
            <a:r>
              <a:rPr lang="en-US" dirty="0" smtClean="0"/>
              <a:t>, verify snapshot integrity, and test restoration procedures regularly.</a:t>
            </a:r>
          </a:p>
          <a:p>
            <a:r>
              <a:rPr lang="en-US" dirty="0" smtClean="0"/>
              <a:t>The following illustration shows how EBS snapshots are created from an EBS volume over time.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825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EBS </a:t>
            </a:r>
            <a:r>
              <a:rPr lang="en-US" b="1" dirty="0" smtClean="0"/>
              <a:t>snapshots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989219"/>
            <a:ext cx="10071860" cy="400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19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EBS </a:t>
            </a:r>
            <a:r>
              <a:rPr lang="en-US" b="1" dirty="0" smtClean="0"/>
              <a:t>snapshots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Initial snapshot</a:t>
            </a:r>
          </a:p>
          <a:p>
            <a:pPr lvl="1"/>
            <a:r>
              <a:rPr lang="en-US" dirty="0" smtClean="0">
                <a:effectLst/>
              </a:rPr>
              <a:t>When you create the first snapshot of an EBS volume, a full copy of all the data on the volume at that point in time is included.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This initial snapshot serves as the baseline and contains all the data blocks that were in use on the volume.</a:t>
            </a:r>
            <a:endParaRPr lang="en-US" dirty="0" smtClean="0"/>
          </a:p>
          <a:p>
            <a:r>
              <a:rPr lang="en-US" b="1" dirty="0" smtClean="0"/>
              <a:t>Subsequent incremental snapshots</a:t>
            </a:r>
          </a:p>
          <a:p>
            <a:pPr lvl="1"/>
            <a:r>
              <a:rPr lang="en-US" dirty="0" smtClean="0">
                <a:effectLst/>
              </a:rPr>
              <a:t>For all snapshots after the initial one, only the blocks that have changed since the last snapshot are captured and stored.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These are called </a:t>
            </a:r>
            <a:r>
              <a:rPr lang="en-US" b="1" i="1" dirty="0" smtClean="0">
                <a:effectLst/>
              </a:rPr>
              <a:t>incremental snapshots</a:t>
            </a:r>
            <a:r>
              <a:rPr lang="en-US" dirty="0" smtClean="0">
                <a:effectLst/>
              </a:rPr>
              <a:t>. They're much smaller and faster to create than full snapshots. 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Each incremental snapshot contains references to the previous snapshots, creating a </a:t>
            </a:r>
            <a:r>
              <a:rPr lang="en-US" b="1" dirty="0" smtClean="0">
                <a:effectLst/>
              </a:rPr>
              <a:t>chain</a:t>
            </a:r>
            <a:r>
              <a:rPr lang="en-US" dirty="0" smtClean="0">
                <a:effectLst/>
              </a:rPr>
              <a:t> that allows for point-in-time recovery.</a:t>
            </a:r>
          </a:p>
          <a:p>
            <a:r>
              <a:rPr lang="en-US" b="1" dirty="0" smtClean="0"/>
              <a:t>Snapshot consolidation and management</a:t>
            </a:r>
          </a:p>
          <a:p>
            <a:pPr lvl="1"/>
            <a:r>
              <a:rPr lang="en-US" dirty="0" smtClean="0">
                <a:effectLst/>
              </a:rPr>
              <a:t>Despite being incremental, each snapshot appears as a full point-in-time copy of your volume.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The relationship between multiple snapshots of the same volume are managed automatically.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When you delete a snapshot, only the data unique to that snapshot is removed. </a:t>
            </a:r>
          </a:p>
          <a:p>
            <a:pPr lvl="1"/>
            <a:r>
              <a:rPr lang="en-US" dirty="0" smtClean="0">
                <a:effectLst/>
              </a:rPr>
              <a:t>Data referenced by other snapshots is preserved.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71842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Data protection and recovery </a:t>
            </a:r>
          </a:p>
          <a:p>
            <a:pPr lvl="1"/>
            <a:r>
              <a:rPr lang="en-US" dirty="0" smtClean="0">
                <a:effectLst/>
              </a:rPr>
              <a:t>Snapshots enable fast data recovery from corruption, accidental deletion, or system failures using point-in-time backups.</a:t>
            </a:r>
            <a:endParaRPr lang="en-US" b="1" dirty="0" smtClean="0"/>
          </a:p>
          <a:p>
            <a:r>
              <a:rPr lang="en-US" b="1" dirty="0" smtClean="0"/>
              <a:t>Operational flexibility</a:t>
            </a:r>
          </a:p>
          <a:p>
            <a:pPr lvl="1"/>
            <a:r>
              <a:rPr lang="en-US" dirty="0" smtClean="0">
                <a:effectLst/>
              </a:rPr>
              <a:t>Snapshots enable operations like cross-Region data migration, volume resizing, volume cloning, and sharing data across AWS accounts.</a:t>
            </a:r>
            <a:endParaRPr lang="en-US" b="1" dirty="0" smtClean="0"/>
          </a:p>
          <a:p>
            <a:r>
              <a:rPr lang="en-US" b="1" dirty="0" smtClean="0"/>
              <a:t>Cost effective</a:t>
            </a:r>
          </a:p>
          <a:p>
            <a:pPr lvl="1"/>
            <a:r>
              <a:rPr lang="en-US" dirty="0" smtClean="0">
                <a:effectLst/>
              </a:rPr>
              <a:t>Snapshots use incremental backup technology, storing only changed blocks after the initial backup, reducing storage costs and backup time.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4120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Data Lifecycle </a:t>
            </a:r>
            <a:r>
              <a:rPr lang="en-US" b="1" dirty="0" smtClean="0"/>
              <a:t>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You can automate the creation, retention, and deletion of EBS snapshots using </a:t>
            </a:r>
            <a:r>
              <a:rPr lang="en-US" b="1" dirty="0" smtClean="0"/>
              <a:t>Amazon Data Lifecycle Manager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Amazon Data Lifecycle Manager can schedule snapshots during off-peak hours to minimize performance impact and automatically delete outdated backups to control storage costs. </a:t>
            </a:r>
          </a:p>
          <a:p>
            <a:r>
              <a:rPr lang="en-US" dirty="0" smtClean="0"/>
              <a:t>It's particularly valuable for large-scale deployments where manual snapshot management would be time-consuming and error-prone.</a:t>
            </a:r>
          </a:p>
        </p:txBody>
      </p:sp>
    </p:spTree>
    <p:extLst>
      <p:ext uri="{BB962C8B-B14F-4D97-AF65-F5344CB8AC3E}">
        <p14:creationId xmlns:p14="http://schemas.microsoft.com/office/powerpoint/2010/main" val="933568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Amazon Data Lifecycle Manager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effectLst/>
              </a:rPr>
              <a:t>By reducing manual effort and establishing consistent backup policies, Amazon Data Lifecycle Manager helps maintain compliance requirements by scheduling regular backups and enforcing retention rules.</a:t>
            </a:r>
          </a:p>
          <a:p>
            <a:pPr lvl="1"/>
            <a:r>
              <a:rPr lang="en-US" b="1" dirty="0" smtClean="0"/>
              <a:t>Create an EBS snapshots policy</a:t>
            </a:r>
          </a:p>
          <a:p>
            <a:pPr lvl="2"/>
            <a:r>
              <a:rPr lang="en-US" dirty="0" smtClean="0">
                <a:effectLst/>
              </a:rPr>
              <a:t>Create an EBS snapshots policy using the Amazon EC2 console, API calls, AWS Command Line Interface (AWS CLI), SDKs, or AWS </a:t>
            </a:r>
            <a:r>
              <a:rPr lang="en-US" dirty="0" err="1" smtClean="0">
                <a:effectLst/>
              </a:rPr>
              <a:t>CloudFormation</a:t>
            </a:r>
            <a:r>
              <a:rPr lang="en-US" dirty="0" smtClean="0">
                <a:effectLst/>
              </a:rPr>
              <a:t>.</a:t>
            </a:r>
          </a:p>
          <a:p>
            <a:pPr lvl="1"/>
            <a:r>
              <a:rPr lang="en-US" b="1" dirty="0" smtClean="0"/>
              <a:t>Select target resource type</a:t>
            </a:r>
          </a:p>
          <a:p>
            <a:pPr lvl="2"/>
            <a:r>
              <a:rPr lang="en-US" dirty="0" smtClean="0">
                <a:effectLst/>
              </a:rPr>
              <a:t>Choose either an EBS volume or an EC2 instance as the target for the snapshot.</a:t>
            </a:r>
          </a:p>
          <a:p>
            <a:pPr lvl="1"/>
            <a:r>
              <a:rPr lang="en-US" b="1" dirty="0" smtClean="0"/>
              <a:t>Exclude volumes</a:t>
            </a:r>
          </a:p>
          <a:p>
            <a:pPr lvl="2"/>
            <a:r>
              <a:rPr lang="en-US" dirty="0"/>
              <a:t>Narrow down the data to be included in the snapshot by choosing options to exclude either the root volume or data volumes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Set custom schedules</a:t>
            </a:r>
          </a:p>
          <a:p>
            <a:pPr lvl="2"/>
            <a:r>
              <a:rPr lang="en-US" dirty="0" smtClean="0">
                <a:effectLst/>
              </a:rPr>
              <a:t>Automate the creation, retention, and deletion of EBS snapshots by setting up custom schedules.</a:t>
            </a:r>
          </a:p>
          <a:p>
            <a:pPr lvl="1"/>
            <a:r>
              <a:rPr lang="en-US" b="1" dirty="0" smtClean="0"/>
              <a:t>Apply additional actions</a:t>
            </a:r>
          </a:p>
          <a:p>
            <a:pPr lvl="2"/>
            <a:r>
              <a:rPr lang="en-US" dirty="0" smtClean="0">
                <a:effectLst/>
              </a:rPr>
              <a:t>Before finalizing the policy, you can apply additional actions. </a:t>
            </a:r>
          </a:p>
          <a:p>
            <a:pPr lvl="2"/>
            <a:r>
              <a:rPr lang="en-US" dirty="0" smtClean="0">
                <a:effectLst/>
              </a:rPr>
              <a:t>These include configuring elements of the snapshots like tags, snapshot archiving, Amazon EBS fast snapshot restore, cross-Region copying, and cross-account sharing.</a:t>
            </a:r>
            <a:endParaRPr lang="en-US" dirty="0" smtClean="0"/>
          </a:p>
          <a:p>
            <a:pPr lvl="2"/>
            <a:endParaRPr lang="en-US" dirty="0" smtClean="0">
              <a:effectLst/>
            </a:endParaRPr>
          </a:p>
          <a:p>
            <a:pPr lvl="2"/>
            <a:endParaRPr lang="en-US" dirty="0" smtClean="0">
              <a:effectLst/>
            </a:endParaRPr>
          </a:p>
          <a:p>
            <a:pPr lvl="2"/>
            <a:endParaRPr lang="en-US" dirty="0" smtClean="0">
              <a:effectLst/>
            </a:endParaRPr>
          </a:p>
          <a:p>
            <a:pPr lvl="2"/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539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944" y="2523109"/>
            <a:ext cx="10515600" cy="1325563"/>
          </a:xfrm>
        </p:spPr>
        <p:txBody>
          <a:bodyPr/>
          <a:lstStyle/>
          <a:p>
            <a:r>
              <a:rPr lang="en-US" b="1" dirty="0" smtClean="0"/>
              <a:t>Amazon Simple Storage Service (Amazon S3)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1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Amazon S3, including its benefits and use cases.</a:t>
            </a:r>
          </a:p>
          <a:p>
            <a:r>
              <a:rPr lang="en-US" dirty="0" smtClean="0"/>
              <a:t>Identify the security management features of Amazon S3.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37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Simple Storage Service (S3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S3 is an object storage service that can store unlimited amounts of data in the AWS Cloud. </a:t>
            </a:r>
            <a:endParaRPr lang="en-US" dirty="0" smtClean="0"/>
          </a:p>
          <a:p>
            <a:r>
              <a:rPr lang="en-US" dirty="0" smtClean="0"/>
              <a:t>Object </a:t>
            </a:r>
            <a:r>
              <a:rPr lang="en-US" dirty="0"/>
              <a:t>storage is particularly well-suited for handling large amounts of unstructured data, such as documents, images, and videos. </a:t>
            </a:r>
            <a:endParaRPr lang="en-US" dirty="0" smtClean="0"/>
          </a:p>
          <a:p>
            <a:r>
              <a:rPr lang="en-US" dirty="0" smtClean="0"/>
              <a:t>In this lesson, you will explore some of the core functionality and practical use cases of Amazon S3.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31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Simple Storage Service (S3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Amazon S3 is a fully managed, highly-available object storage service for storing and retrieving any amount of data as objects. </a:t>
            </a:r>
          </a:p>
          <a:p>
            <a:r>
              <a:rPr lang="en-US" dirty="0" smtClean="0"/>
              <a:t>It offers 99.999999999 percent durability, meaning your data is highly protected against loss, and offers features like versioning, lifecycle management, and various storage classes to optimize costs.</a:t>
            </a:r>
          </a:p>
          <a:p>
            <a:r>
              <a:rPr lang="en-US" dirty="0" smtClean="0"/>
              <a:t>Amazon S3 stores files as objects in containers known as </a:t>
            </a:r>
            <a:r>
              <a:rPr lang="en-US" b="1" dirty="0" smtClean="0"/>
              <a:t>buckets</a:t>
            </a:r>
            <a:r>
              <a:rPr lang="en-US" dirty="0" smtClean="0"/>
              <a:t>, and each object can range in size from a few bytes to several terabytes. </a:t>
            </a:r>
          </a:p>
          <a:p>
            <a:r>
              <a:rPr lang="en-US" dirty="0" smtClean="0"/>
              <a:t>It integrates seamlessly with other AWS services and supports a wide range of use cases, from basic backups to complex data lakes.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449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Elements</a:t>
            </a:r>
            <a:r>
              <a:rPr lang="en-US" b="1" dirty="0"/>
              <a:t> </a:t>
            </a:r>
            <a:r>
              <a:rPr lang="en-US" b="1" dirty="0" smtClean="0"/>
              <a:t>of S3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b="1" dirty="0" smtClean="0"/>
              <a:t>S3 objects</a:t>
            </a:r>
          </a:p>
          <a:p>
            <a:pPr lvl="1"/>
            <a:r>
              <a:rPr lang="en-US" dirty="0" smtClean="0">
                <a:effectLst/>
              </a:rPr>
              <a:t>An object in Amazon S3 is the fundamental unit of data storage. </a:t>
            </a:r>
          </a:p>
          <a:p>
            <a:pPr lvl="1"/>
            <a:r>
              <a:rPr lang="en-US" dirty="0" smtClean="0">
                <a:effectLst/>
              </a:rPr>
              <a:t>When you upload a file to Amazon S3, it becomes an object and is stored durably across multiple facilities within your chosen Region.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Each object typically includes the </a:t>
            </a:r>
            <a:r>
              <a:rPr lang="en-US" b="1" i="1" dirty="0" smtClean="0">
                <a:effectLst/>
              </a:rPr>
              <a:t>data </a:t>
            </a:r>
            <a:r>
              <a:rPr lang="en-US" dirty="0" smtClean="0">
                <a:effectLst/>
              </a:rPr>
              <a:t>itself, </a:t>
            </a:r>
            <a:r>
              <a:rPr lang="en-US" b="1" i="1" dirty="0" smtClean="0">
                <a:effectLst/>
              </a:rPr>
              <a:t>metadata</a:t>
            </a:r>
            <a:r>
              <a:rPr lang="en-US" dirty="0" smtClean="0">
                <a:effectLst/>
              </a:rPr>
              <a:t>, and a </a:t>
            </a:r>
            <a:r>
              <a:rPr lang="en-US" b="1" dirty="0" smtClean="0">
                <a:effectLst/>
              </a:rPr>
              <a:t>unique identifier</a:t>
            </a:r>
            <a:r>
              <a:rPr lang="en-US" dirty="0" smtClean="0">
                <a:effectLst/>
              </a:rPr>
              <a:t>, or </a:t>
            </a:r>
            <a:r>
              <a:rPr lang="en-US" b="1" i="1" dirty="0" smtClean="0">
                <a:effectLst/>
              </a:rPr>
              <a:t>key</a:t>
            </a:r>
            <a:r>
              <a:rPr lang="en-US" dirty="0" smtClean="0">
                <a:effectLst/>
              </a:rPr>
              <a:t>. </a:t>
            </a:r>
          </a:p>
          <a:p>
            <a:pPr lvl="1"/>
            <a:r>
              <a:rPr lang="en-US" dirty="0" smtClean="0">
                <a:effectLst/>
              </a:rPr>
              <a:t>Objects can be of any file type, such as images, videos, documents, or application data, and can range in size from a few bytes to several terabytes.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Each Amazon S3 object is uniquely </a:t>
            </a:r>
            <a:r>
              <a:rPr lang="en-US" b="1" dirty="0" smtClean="0">
                <a:effectLst/>
              </a:rPr>
              <a:t>identified</a:t>
            </a:r>
            <a:r>
              <a:rPr lang="en-US" dirty="0" smtClean="0">
                <a:effectLst/>
              </a:rPr>
              <a:t> within a bucket by its </a:t>
            </a:r>
            <a:r>
              <a:rPr lang="en-US" b="1" dirty="0" smtClean="0">
                <a:effectLst/>
              </a:rPr>
              <a:t>key</a:t>
            </a:r>
            <a:r>
              <a:rPr lang="en-US" dirty="0" smtClean="0">
                <a:effectLst/>
              </a:rPr>
              <a:t>, which is essentially its file name. </a:t>
            </a:r>
          </a:p>
          <a:p>
            <a:pPr lvl="1"/>
            <a:r>
              <a:rPr lang="en-US" dirty="0" smtClean="0">
                <a:effectLst/>
              </a:rPr>
              <a:t>Objects also have properties like version ID, access control information, and user-defined metadata.</a:t>
            </a: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161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940" y="1571353"/>
            <a:ext cx="7954652" cy="3177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18888" y="4425696"/>
            <a:ext cx="1207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S3 object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4206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Elements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2. S3 buckets</a:t>
            </a:r>
          </a:p>
          <a:p>
            <a:pPr lvl="1"/>
            <a:r>
              <a:rPr lang="en-US" dirty="0" smtClean="0">
                <a:effectLst/>
              </a:rPr>
              <a:t>An S3 bucket is a </a:t>
            </a:r>
            <a:r>
              <a:rPr lang="en-US" b="1" dirty="0" smtClean="0">
                <a:effectLst/>
              </a:rPr>
              <a:t>container</a:t>
            </a:r>
            <a:r>
              <a:rPr lang="en-US" dirty="0" smtClean="0">
                <a:effectLst/>
              </a:rPr>
              <a:t> for storing objects in Amazon S3. </a:t>
            </a:r>
          </a:p>
          <a:p>
            <a:pPr lvl="1"/>
            <a:r>
              <a:rPr lang="en-US" dirty="0" smtClean="0">
                <a:effectLst/>
              </a:rPr>
              <a:t>Buckets have a </a:t>
            </a:r>
            <a:r>
              <a:rPr lang="en-US" b="1" dirty="0" smtClean="0">
                <a:effectLst/>
              </a:rPr>
              <a:t>globally</a:t>
            </a:r>
            <a:r>
              <a:rPr lang="en-US" dirty="0" smtClean="0">
                <a:effectLst/>
              </a:rPr>
              <a:t> unique name across all of AWS, which helps to identify and organize your stored data.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Buckets serve as the basic unit for access control and can hold a virtually unlimited number of objects. </a:t>
            </a:r>
          </a:p>
          <a:p>
            <a:pPr lvl="1"/>
            <a:r>
              <a:rPr lang="en-US" dirty="0" smtClean="0">
                <a:effectLst/>
              </a:rPr>
              <a:t>They play a crucial role in data management by making it possible to group related objects and </a:t>
            </a:r>
            <a:r>
              <a:rPr lang="en-US" b="1" dirty="0" smtClean="0">
                <a:effectLst/>
              </a:rPr>
              <a:t>apply policies at the bucket level</a:t>
            </a:r>
            <a:r>
              <a:rPr lang="en-US" dirty="0" smtClean="0">
                <a:effectLst/>
              </a:rPr>
              <a:t>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When creating a bucket, you specify its name and the Region where it will reside. </a:t>
            </a:r>
          </a:p>
          <a:p>
            <a:pPr lvl="1"/>
            <a:r>
              <a:rPr lang="en-US" dirty="0" smtClean="0">
                <a:effectLst/>
              </a:rPr>
              <a:t>Buckets can be configured with various settings, including versioning, logging, and access permissions.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07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S3 Benefits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Virtually unlimited storage</a:t>
            </a:r>
          </a:p>
          <a:p>
            <a:pPr lvl="1"/>
            <a:r>
              <a:rPr lang="en-US" dirty="0" smtClean="0">
                <a:effectLst/>
              </a:rPr>
              <a:t>Amazon S3 has no fixed storage limit, scaling automatically to accommodate any amount of data you need to store. </a:t>
            </a:r>
          </a:p>
          <a:p>
            <a:pPr lvl="1"/>
            <a:r>
              <a:rPr lang="en-US" dirty="0" smtClean="0">
                <a:effectLst/>
              </a:rPr>
              <a:t>Since you only pay for the storage you use, it's a cost-effective solution for growing data needs.</a:t>
            </a:r>
            <a:endParaRPr lang="en-US" b="1" dirty="0" smtClean="0"/>
          </a:p>
          <a:p>
            <a:r>
              <a:rPr lang="en-US" b="1" dirty="0" smtClean="0"/>
              <a:t>Object lifecycle management</a:t>
            </a:r>
          </a:p>
          <a:p>
            <a:pPr lvl="1"/>
            <a:r>
              <a:rPr lang="en-US" dirty="0" smtClean="0">
                <a:effectLst/>
              </a:rPr>
              <a:t>Amazon S3 lifecycle policies automatically move objects between storage classes based on your defined rules, optimizing costs over time. </a:t>
            </a:r>
          </a:p>
          <a:p>
            <a:pPr lvl="1"/>
            <a:r>
              <a:rPr lang="en-US" dirty="0" smtClean="0">
                <a:effectLst/>
              </a:rPr>
              <a:t>You can set up automatic transitions and expirations to manage data throughout its entire lifecycle.</a:t>
            </a:r>
            <a:endParaRPr lang="en-US" b="1" dirty="0" smtClean="0"/>
          </a:p>
          <a:p>
            <a:r>
              <a:rPr lang="en-US" b="1" dirty="0" smtClean="0"/>
              <a:t>Broad range of use cases</a:t>
            </a:r>
          </a:p>
          <a:p>
            <a:pPr lvl="1"/>
            <a:r>
              <a:rPr lang="en-US" dirty="0" smtClean="0">
                <a:effectLst/>
              </a:rPr>
              <a:t>Amazon S3 supports a wide range of use cases for both cloud-based applications and traditional on-premises workloads. </a:t>
            </a:r>
          </a:p>
          <a:p>
            <a:pPr lvl="1"/>
            <a:r>
              <a:rPr lang="en-US" dirty="0" smtClean="0">
                <a:effectLst/>
              </a:rPr>
              <a:t>Amazon S3 is commonly used for </a:t>
            </a:r>
            <a:r>
              <a:rPr lang="en-US" b="1" i="1" dirty="0" smtClean="0">
                <a:effectLst/>
              </a:rPr>
              <a:t>content distribution</a:t>
            </a:r>
            <a:r>
              <a:rPr lang="en-US" dirty="0" smtClean="0">
                <a:effectLst/>
              </a:rPr>
              <a:t>, </a:t>
            </a:r>
            <a:r>
              <a:rPr lang="en-US" b="1" i="1" dirty="0" smtClean="0">
                <a:effectLst/>
              </a:rPr>
              <a:t>hosting static websites</a:t>
            </a:r>
            <a:r>
              <a:rPr lang="en-US" dirty="0" smtClean="0">
                <a:effectLst/>
              </a:rPr>
              <a:t>, and delivering </a:t>
            </a:r>
            <a:r>
              <a:rPr lang="en-US" i="1" dirty="0" smtClean="0">
                <a:effectLst/>
              </a:rPr>
              <a:t>media files</a:t>
            </a:r>
            <a:r>
              <a:rPr lang="en-US" dirty="0" smtClean="0">
                <a:effectLst/>
              </a:rPr>
              <a:t>. </a:t>
            </a:r>
          </a:p>
          <a:p>
            <a:pPr lvl="1"/>
            <a:r>
              <a:rPr lang="en-US" dirty="0" smtClean="0">
                <a:effectLst/>
              </a:rPr>
              <a:t>It's also a popular choice for things like </a:t>
            </a:r>
            <a:r>
              <a:rPr lang="en-US" i="1" dirty="0" smtClean="0">
                <a:effectLst/>
              </a:rPr>
              <a:t>application data storage</a:t>
            </a:r>
            <a:r>
              <a:rPr lang="en-US" dirty="0" smtClean="0">
                <a:effectLst/>
              </a:rPr>
              <a:t>, </a:t>
            </a:r>
            <a:r>
              <a:rPr lang="en-US" i="1" dirty="0" smtClean="0">
                <a:effectLst/>
              </a:rPr>
              <a:t>archiving</a:t>
            </a:r>
            <a:r>
              <a:rPr lang="en-US" dirty="0" smtClean="0">
                <a:effectLst/>
              </a:rPr>
              <a:t>, </a:t>
            </a:r>
            <a:r>
              <a:rPr lang="en-US" i="1" dirty="0" smtClean="0">
                <a:effectLst/>
              </a:rPr>
              <a:t>data lakes</a:t>
            </a:r>
            <a:r>
              <a:rPr lang="en-US" dirty="0" smtClean="0">
                <a:effectLst/>
              </a:rPr>
              <a:t>, and compliance-driven </a:t>
            </a:r>
            <a:r>
              <a:rPr lang="en-US" i="1" dirty="0" smtClean="0">
                <a:effectLst/>
              </a:rPr>
              <a:t>data retention</a:t>
            </a:r>
            <a:r>
              <a:rPr lang="en-US" dirty="0" smtClean="0">
                <a:effectLst/>
              </a:rPr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2042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and privacy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Everything you store in Amazon S3 is </a:t>
            </a:r>
            <a:r>
              <a:rPr lang="en-US" i="1" dirty="0" smtClean="0">
                <a:effectLst/>
              </a:rPr>
              <a:t>private by default</a:t>
            </a:r>
            <a:r>
              <a:rPr lang="en-US" dirty="0" smtClean="0">
                <a:effectLst/>
              </a:rPr>
              <a:t>. </a:t>
            </a:r>
          </a:p>
          <a:p>
            <a:r>
              <a:rPr lang="en-US" dirty="0" smtClean="0">
                <a:effectLst/>
              </a:rPr>
              <a:t>You must explicitly grant permissions to access these resources. </a:t>
            </a:r>
          </a:p>
          <a:p>
            <a:r>
              <a:rPr lang="en-US" dirty="0" smtClean="0">
                <a:effectLst/>
              </a:rPr>
              <a:t>If you want your Amazon S3 data to be available to everyone on the internet, you can choose to make your buckets and objects public. </a:t>
            </a:r>
          </a:p>
          <a:p>
            <a:r>
              <a:rPr lang="en-US" dirty="0" smtClean="0">
                <a:effectLst/>
              </a:rPr>
              <a:t>To more granularly define who can do what with your Amazon S3 resources, Amazon S3 provides several security management features.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74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0"/>
            <a:ext cx="10515600" cy="1325563"/>
          </a:xfrm>
        </p:spPr>
        <p:txBody>
          <a:bodyPr/>
          <a:lstStyle/>
          <a:p>
            <a:r>
              <a:rPr lang="en-US" b="1" dirty="0" smtClean="0"/>
              <a:t>S3 security management 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12106656" cy="571499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BUCKET POLICIES</a:t>
            </a:r>
          </a:p>
          <a:p>
            <a:pPr lvl="1"/>
            <a:r>
              <a:rPr lang="en-US" dirty="0" smtClean="0">
                <a:effectLst/>
              </a:rPr>
              <a:t>Amazon S3 bucket policies are </a:t>
            </a:r>
            <a:r>
              <a:rPr lang="en-US" b="1" i="1" dirty="0" smtClean="0">
                <a:effectLst/>
              </a:rPr>
              <a:t>resource-based</a:t>
            </a:r>
            <a:r>
              <a:rPr lang="en-US" i="1" dirty="0" smtClean="0">
                <a:effectLst/>
              </a:rPr>
              <a:t> policies</a:t>
            </a:r>
            <a:r>
              <a:rPr lang="en-US" dirty="0" smtClean="0">
                <a:effectLst/>
              </a:rPr>
              <a:t> that can only be attached to S3 buckets. </a:t>
            </a:r>
          </a:p>
          <a:p>
            <a:pPr lvl="1"/>
            <a:r>
              <a:rPr lang="en-US" dirty="0" smtClean="0">
                <a:effectLst/>
              </a:rPr>
              <a:t>An S3 bucket policy specifies which actions are allowed or denied on the bucket, in addition to every object in that bucket.</a:t>
            </a:r>
            <a:endParaRPr lang="en-US" b="1" dirty="0" smtClean="0"/>
          </a:p>
          <a:p>
            <a:r>
              <a:rPr lang="en-US" b="1" dirty="0" smtClean="0"/>
              <a:t>IDENTITY-BASED POLICIES</a:t>
            </a:r>
          </a:p>
          <a:p>
            <a:pPr lvl="1"/>
            <a:r>
              <a:rPr lang="en-US" dirty="0" smtClean="0">
                <a:effectLst/>
              </a:rPr>
              <a:t>Permissions that control what actions users, groups, or roles can perform on S3 resources are configured using </a:t>
            </a:r>
            <a:r>
              <a:rPr lang="en-US" i="1" dirty="0" smtClean="0">
                <a:effectLst/>
              </a:rPr>
              <a:t>identity-based policies</a:t>
            </a:r>
            <a:r>
              <a:rPr lang="en-US" dirty="0" smtClean="0">
                <a:effectLst/>
              </a:rPr>
              <a:t>. </a:t>
            </a:r>
          </a:p>
          <a:p>
            <a:pPr lvl="1"/>
            <a:r>
              <a:rPr lang="en-US" dirty="0" smtClean="0">
                <a:effectLst/>
              </a:rPr>
              <a:t>These policies attach directly to identities rather than to the S3 resources themselves. </a:t>
            </a:r>
          </a:p>
          <a:p>
            <a:pPr lvl="1"/>
            <a:r>
              <a:rPr lang="en-US" dirty="0" smtClean="0">
                <a:effectLst/>
              </a:rPr>
              <a:t>You can use these policies to specify which S3 buckets and objects users can access and what actions they can perform.</a:t>
            </a:r>
            <a:endParaRPr lang="en-US" b="1" dirty="0" smtClean="0"/>
          </a:p>
          <a:p>
            <a:r>
              <a:rPr lang="en-US" b="1" dirty="0" smtClean="0"/>
              <a:t>ENCRYPTION</a:t>
            </a:r>
          </a:p>
          <a:p>
            <a:pPr lvl="1"/>
            <a:r>
              <a:rPr lang="en-US" dirty="0" smtClean="0">
                <a:effectLst/>
              </a:rPr>
              <a:t>Amazon S3 provides encryption capabilities to protect data both at rest and in transit. </a:t>
            </a:r>
          </a:p>
          <a:p>
            <a:pPr lvl="1"/>
            <a:r>
              <a:rPr lang="en-US" dirty="0" smtClean="0">
                <a:effectLst/>
              </a:rPr>
              <a:t>These encryption features help maintain data confidentiality and comply with various security standards and regulations. </a:t>
            </a:r>
          </a:p>
          <a:p>
            <a:pPr lvl="1"/>
            <a:r>
              <a:rPr lang="en-US" dirty="0" smtClean="0">
                <a:effectLst/>
              </a:rPr>
              <a:t>These capabilities are as follows:</a:t>
            </a:r>
            <a:endParaRPr lang="en-US" dirty="0" smtClean="0"/>
          </a:p>
          <a:p>
            <a:pPr lvl="2"/>
            <a:r>
              <a:rPr lang="en-US" i="1" dirty="0" smtClean="0">
                <a:effectLst/>
              </a:rPr>
              <a:t>Encryption at rest</a:t>
            </a:r>
            <a:r>
              <a:rPr lang="en-US" b="1" dirty="0" smtClean="0">
                <a:effectLst/>
              </a:rPr>
              <a:t> </a:t>
            </a:r>
            <a:r>
              <a:rPr lang="en-US" dirty="0" smtClean="0">
                <a:effectLst/>
              </a:rPr>
              <a:t>secures data stored in S3 buckets, preventing unauthorized access to stored objects.</a:t>
            </a:r>
            <a:endParaRPr lang="en-US" dirty="0" smtClean="0"/>
          </a:p>
          <a:p>
            <a:pPr lvl="2"/>
            <a:r>
              <a:rPr lang="en-US" i="1" dirty="0" smtClean="0">
                <a:effectLst/>
              </a:rPr>
              <a:t>Encryption in transit</a:t>
            </a:r>
            <a:r>
              <a:rPr lang="en-US" b="1" dirty="0" smtClean="0">
                <a:effectLst/>
              </a:rPr>
              <a:t> </a:t>
            </a:r>
            <a:r>
              <a:rPr lang="en-US" dirty="0" smtClean="0">
                <a:effectLst/>
              </a:rPr>
              <a:t>safeguards data traveling to and from Amazon S3, maintaining secure communication between clients and the service.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27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84" y="2577973"/>
            <a:ext cx="10515600" cy="1325563"/>
          </a:xfrm>
        </p:spPr>
        <p:txBody>
          <a:bodyPr/>
          <a:lstStyle/>
          <a:p>
            <a:r>
              <a:rPr lang="en-US" b="1" dirty="0" smtClean="0"/>
              <a:t>Amazon S3 Storage Classes and S3 Lifecycle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45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the different Amazon S3 storage classes and how they differ from each other.</a:t>
            </a:r>
          </a:p>
          <a:p>
            <a:r>
              <a:rPr lang="en-US" dirty="0" smtClean="0"/>
              <a:t>Describe Amazon S3 Lifecycle policies and how they relate to pricing.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125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S3 storage classes and use </a:t>
            </a:r>
            <a:r>
              <a:rPr lang="en-US" b="1" dirty="0" smtClean="0"/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Amazon S3 offers various storage classes to suit a variety of workloads with specific performance, access, resiliency, and cost requirements. </a:t>
            </a:r>
          </a:p>
          <a:p>
            <a:r>
              <a:rPr lang="en-US" dirty="0" smtClean="0"/>
              <a:t>They're also designed to address data residency requirements, unpredictable access patterns, archival storage needs, and offer the most cost-effective options for different access patterns.</a:t>
            </a:r>
          </a:p>
          <a:p>
            <a:r>
              <a:rPr lang="en-US" dirty="0" smtClean="0"/>
              <a:t>Let’s learn about each storage class and when it's practical to use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1254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/>
              <a:t>Amazon S3 storage classes and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9576"/>
            <a:ext cx="12192000" cy="567842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S3 Standard</a:t>
            </a:r>
          </a:p>
          <a:p>
            <a:pPr lvl="1"/>
            <a:r>
              <a:rPr lang="en-US" dirty="0" smtClean="0">
                <a:effectLst/>
              </a:rPr>
              <a:t>S3 Standard is considered general-purpose storage for cloud applications, dynamic websites, content distribution, mobile and gaming applications, and big data analytics. </a:t>
            </a:r>
          </a:p>
          <a:p>
            <a:pPr lvl="1"/>
            <a:r>
              <a:rPr lang="en-US" dirty="0" smtClean="0"/>
              <a:t>When you upload an object to Amazon S3 without specifying a storage class, the object is added to S3 Standard by default. </a:t>
            </a:r>
            <a:endParaRPr lang="en-US" b="1" dirty="0" smtClean="0"/>
          </a:p>
          <a:p>
            <a:r>
              <a:rPr lang="en-US" b="1" dirty="0" smtClean="0"/>
              <a:t>S3 Intelligent-</a:t>
            </a:r>
            <a:r>
              <a:rPr lang="en-US" b="1" dirty="0" err="1" smtClean="0"/>
              <a:t>Tiering</a:t>
            </a:r>
            <a:endParaRPr lang="en-US" b="1" dirty="0" smtClean="0"/>
          </a:p>
          <a:p>
            <a:pPr lvl="1"/>
            <a:r>
              <a:rPr lang="en-US" dirty="0" smtClean="0">
                <a:effectLst/>
              </a:rPr>
              <a:t>This tier is useful if your data has unknown or changing access patterns. </a:t>
            </a:r>
          </a:p>
          <a:p>
            <a:pPr lvl="1"/>
            <a:r>
              <a:rPr lang="en-US" dirty="0" smtClean="0">
                <a:effectLst/>
              </a:rPr>
              <a:t>S3 Intelligent-</a:t>
            </a:r>
            <a:r>
              <a:rPr lang="en-US" dirty="0" err="1" smtClean="0">
                <a:effectLst/>
              </a:rPr>
              <a:t>Tiering</a:t>
            </a:r>
            <a:r>
              <a:rPr lang="en-US" dirty="0" smtClean="0">
                <a:effectLst/>
              </a:rPr>
              <a:t> stores objects in three tiers: a </a:t>
            </a:r>
            <a:r>
              <a:rPr lang="en-US" b="1" dirty="0" smtClean="0">
                <a:effectLst/>
              </a:rPr>
              <a:t>frequent access </a:t>
            </a:r>
            <a:r>
              <a:rPr lang="en-US" dirty="0" smtClean="0">
                <a:effectLst/>
              </a:rPr>
              <a:t>tier, an </a:t>
            </a:r>
            <a:r>
              <a:rPr lang="en-US" b="1" dirty="0" smtClean="0">
                <a:effectLst/>
              </a:rPr>
              <a:t>infrequent access </a:t>
            </a:r>
            <a:r>
              <a:rPr lang="en-US" dirty="0" smtClean="0">
                <a:effectLst/>
              </a:rPr>
              <a:t>tier, and an </a:t>
            </a:r>
            <a:r>
              <a:rPr lang="en-US" b="1" dirty="0" smtClean="0">
                <a:effectLst/>
              </a:rPr>
              <a:t>archive instant access </a:t>
            </a:r>
            <a:r>
              <a:rPr lang="en-US" dirty="0" smtClean="0">
                <a:effectLst/>
              </a:rPr>
              <a:t>tier. </a:t>
            </a:r>
          </a:p>
          <a:p>
            <a:pPr lvl="1"/>
            <a:r>
              <a:rPr lang="en-US" dirty="0" smtClean="0">
                <a:effectLst/>
              </a:rPr>
              <a:t>Amazon S3 monitors access patterns of your data and automatically moves your data to the most cost-effective storage tier based on frequency of access.</a:t>
            </a:r>
            <a:endParaRPr lang="en-US" b="1" dirty="0" smtClean="0"/>
          </a:p>
          <a:p>
            <a:r>
              <a:rPr lang="en-US" b="1" dirty="0" smtClean="0"/>
              <a:t>S3 Standard Infrequent Access (Standard-IA)</a:t>
            </a:r>
          </a:p>
          <a:p>
            <a:pPr lvl="1"/>
            <a:r>
              <a:rPr lang="en-US" dirty="0" smtClean="0">
                <a:effectLst/>
              </a:rPr>
              <a:t>S3 Standard-Infrequent Access (S3 Standard-IA) is for data that is accessed less frequently but requires rapid access when needed. </a:t>
            </a:r>
          </a:p>
          <a:p>
            <a:pPr lvl="1"/>
            <a:r>
              <a:rPr lang="en-US" dirty="0" smtClean="0">
                <a:effectLst/>
              </a:rPr>
              <a:t>S3 Standard-IA offers the high durability, high throughput, and low latency of S3 Standard, with a low per-</a:t>
            </a:r>
            <a:r>
              <a:rPr lang="en-US" dirty="0" err="1" smtClean="0">
                <a:effectLst/>
              </a:rPr>
              <a:t>GiB</a:t>
            </a:r>
            <a:r>
              <a:rPr lang="en-US" dirty="0" smtClean="0">
                <a:effectLst/>
              </a:rPr>
              <a:t> storage price and per-</a:t>
            </a:r>
            <a:r>
              <a:rPr lang="en-US" dirty="0" err="1" smtClean="0">
                <a:effectLst/>
              </a:rPr>
              <a:t>GiB</a:t>
            </a:r>
            <a:r>
              <a:rPr lang="en-US" dirty="0" smtClean="0">
                <a:effectLst/>
              </a:rPr>
              <a:t> retrieval fee. </a:t>
            </a:r>
          </a:p>
          <a:p>
            <a:pPr lvl="1"/>
            <a:r>
              <a:rPr lang="en-US" dirty="0" smtClean="0">
                <a:effectLst/>
              </a:rPr>
              <a:t>This storage tier is ideal if you want to store long-term backups, disaster recovery files, and so on.</a:t>
            </a:r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pPr marL="457200" lvl="1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0382484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/>
              <a:t>Amazon S3 storage classes and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4"/>
            <a:ext cx="12192000" cy="553243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S3 One Zone Infrequent Access (One Zone-IA)</a:t>
            </a:r>
          </a:p>
          <a:p>
            <a:pPr lvl="1"/>
            <a:r>
              <a:rPr lang="en-US" dirty="0" smtClean="0">
                <a:effectLst/>
              </a:rPr>
              <a:t>S3 One Zone-Infrequent Access (S3 One Zone-IA) stores data in a single Availability Zone, reducing costs compared to S3 Standard-IA, which uses three zones. </a:t>
            </a:r>
          </a:p>
          <a:p>
            <a:pPr lvl="1"/>
            <a:r>
              <a:rPr lang="en-US" dirty="0" smtClean="0">
                <a:effectLst/>
              </a:rPr>
              <a:t>This storage class suits customers seeking affordable storage for infrequently accessed data without high availability needs. </a:t>
            </a:r>
          </a:p>
          <a:p>
            <a:pPr lvl="1"/>
            <a:r>
              <a:rPr lang="en-US" dirty="0" smtClean="0">
                <a:effectLst/>
              </a:rPr>
              <a:t>It's perfect for storing secondary backups or easily re-creatable data.</a:t>
            </a:r>
            <a:endParaRPr lang="en-US" b="1" dirty="0" smtClean="0"/>
          </a:p>
          <a:p>
            <a:r>
              <a:rPr lang="en-US" b="1" dirty="0" smtClean="0"/>
              <a:t>S3 Express One Zone</a:t>
            </a:r>
          </a:p>
          <a:p>
            <a:pPr lvl="1"/>
            <a:r>
              <a:rPr lang="en-US" dirty="0" smtClean="0">
                <a:effectLst/>
              </a:rPr>
              <a:t>S3 Express One Zone stores data in a single Availability Zone. </a:t>
            </a:r>
          </a:p>
          <a:p>
            <a:pPr lvl="1"/>
            <a:r>
              <a:rPr lang="en-US" dirty="0" smtClean="0">
                <a:effectLst/>
              </a:rPr>
              <a:t>It was purpose-built to deliver consistent single-digit millisecond data access for your most frequently accessed data and latency-sensitive applications. </a:t>
            </a:r>
          </a:p>
          <a:p>
            <a:pPr lvl="1"/>
            <a:r>
              <a:rPr lang="en-US" dirty="0" smtClean="0">
                <a:effectLst/>
              </a:rPr>
              <a:t>S3 Express One Zone delivers data access speed up to 10x faster and request costs up to 80% lower than S3 Standard.</a:t>
            </a:r>
            <a:endParaRPr lang="en-US" b="1" dirty="0" smtClean="0"/>
          </a:p>
          <a:p>
            <a:r>
              <a:rPr lang="en-US" b="1" dirty="0" smtClean="0"/>
              <a:t>S3 Glacier Instant Retrieval</a:t>
            </a:r>
          </a:p>
          <a:p>
            <a:pPr lvl="1"/>
            <a:r>
              <a:rPr lang="en-US" dirty="0" smtClean="0">
                <a:effectLst/>
              </a:rPr>
              <a:t>Use S3 Glacier Instant Retrieval for archiving data that is rarely accessed and requires millisecond retrieval. </a:t>
            </a:r>
          </a:p>
          <a:p>
            <a:pPr lvl="1"/>
            <a:r>
              <a:rPr lang="en-US" dirty="0" smtClean="0">
                <a:effectLst/>
              </a:rPr>
              <a:t>Data stored in this storage class offers a cost savings of up to 68 percent compared to the S3 Standard-IA storage class, with the same latency and throughput performance.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34427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/>
              <a:t>Amazon S3 storage classes and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7149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S3 Glacier Flexible Retrieval</a:t>
            </a:r>
          </a:p>
          <a:p>
            <a:pPr lvl="1"/>
            <a:r>
              <a:rPr lang="en-US" dirty="0" smtClean="0">
                <a:effectLst/>
              </a:rPr>
              <a:t>S3 Glacier Flexible Retrieval offers low-cost storage for archived data that is accessed 1–2 times per year. </a:t>
            </a:r>
          </a:p>
          <a:p>
            <a:pPr lvl="1"/>
            <a:r>
              <a:rPr lang="en-US" dirty="0" smtClean="0">
                <a:effectLst/>
              </a:rPr>
              <a:t>With S3 Glacier Flexible Retrieval, your data can be accessed in as little as 1–5 minutes using an expedited retrieval. </a:t>
            </a:r>
          </a:p>
          <a:p>
            <a:pPr lvl="1"/>
            <a:r>
              <a:rPr lang="en-US" dirty="0" smtClean="0">
                <a:effectLst/>
              </a:rPr>
              <a:t>You can also request bulk retrievals in up to 5–12 hours at no additional cost. </a:t>
            </a:r>
          </a:p>
          <a:p>
            <a:pPr lvl="1"/>
            <a:r>
              <a:rPr lang="en-US" dirty="0" smtClean="0">
                <a:effectLst/>
              </a:rPr>
              <a:t>It's an ideal solution for backup, disaster recovery, offsite data storage needs, and for when some data occasionally must be retrieved in minutes.</a:t>
            </a:r>
            <a:endParaRPr lang="en-US" b="1" dirty="0" smtClean="0"/>
          </a:p>
          <a:p>
            <a:r>
              <a:rPr lang="en-US" b="1" dirty="0" smtClean="0"/>
              <a:t>S3 Glacier Deep Archive</a:t>
            </a:r>
          </a:p>
          <a:p>
            <a:pPr lvl="1"/>
            <a:r>
              <a:rPr lang="en-US" dirty="0" smtClean="0">
                <a:effectLst/>
              </a:rPr>
              <a:t>S3 Glacier Deep Archive is the lowest-cost Amazon S3 storage class. </a:t>
            </a:r>
          </a:p>
          <a:p>
            <a:pPr lvl="1"/>
            <a:r>
              <a:rPr lang="en-US" dirty="0" smtClean="0">
                <a:effectLst/>
              </a:rPr>
              <a:t>It supports long-term retention and digital preservation for data that might be accessed once or twice per year. </a:t>
            </a:r>
          </a:p>
          <a:p>
            <a:pPr lvl="1"/>
            <a:r>
              <a:rPr lang="en-US" dirty="0" smtClean="0">
                <a:effectLst/>
              </a:rPr>
              <a:t>Data stored in the S3 Glacier Deep Archive storage class has a default retrieval time of 12 hours. </a:t>
            </a:r>
          </a:p>
          <a:p>
            <a:pPr lvl="1"/>
            <a:r>
              <a:rPr lang="en-US" dirty="0" smtClean="0">
                <a:effectLst/>
              </a:rPr>
              <a:t>It is designed for customers that retain data sets for 7–10 years or longer, to meet regulatory compliance requirements. </a:t>
            </a:r>
          </a:p>
          <a:p>
            <a:pPr lvl="1"/>
            <a:r>
              <a:rPr lang="en-US" dirty="0" smtClean="0">
                <a:effectLst/>
              </a:rPr>
              <a:t>Examples include those in highly regulated industries, such as financial services, healthcare, and public sectors.</a:t>
            </a:r>
            <a:endParaRPr lang="en-US" b="1" dirty="0" smtClean="0"/>
          </a:p>
          <a:p>
            <a:r>
              <a:rPr lang="en-US" b="1" dirty="0" smtClean="0"/>
              <a:t>S3 Outposts</a:t>
            </a:r>
          </a:p>
          <a:p>
            <a:pPr lvl="1"/>
            <a:r>
              <a:rPr lang="en-US" dirty="0" smtClean="0">
                <a:effectLst/>
              </a:rPr>
              <a:t>Amazon S3 Outposts delivers object storage to your on-premises AWS Outposts environment using Amazon S3 APIs and features, and serves workloads with local data residency requirements. </a:t>
            </a:r>
          </a:p>
          <a:p>
            <a:pPr lvl="1"/>
            <a:r>
              <a:rPr lang="en-US" dirty="0" smtClean="0">
                <a:effectLst/>
              </a:rPr>
              <a:t>It also helps maintain optimal performance when data must remain in close proximity to on-premises applications.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121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</a:t>
            </a:r>
            <a:r>
              <a:rPr lang="en-US" b="1" dirty="0" smtClean="0"/>
              <a:t>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effectLst/>
              </a:rPr>
              <a:t>To avoid manually managing your object storage tier configurations, you can use S3 Lifecycle configurations to automate the process. </a:t>
            </a:r>
          </a:p>
          <a:p>
            <a:r>
              <a:rPr lang="en-US" dirty="0" smtClean="0">
                <a:effectLst/>
              </a:rPr>
              <a:t>When you define a lifecycle configuration for an object or group of objects, you can choose to automate between two types of actions, as follows:</a:t>
            </a:r>
          </a:p>
          <a:p>
            <a:pPr lvl="1"/>
            <a:r>
              <a:rPr lang="en-US" b="1" i="1" dirty="0" smtClean="0">
                <a:effectLst/>
              </a:rPr>
              <a:t>Transition</a:t>
            </a:r>
            <a:r>
              <a:rPr lang="en-US" i="1" dirty="0" smtClean="0">
                <a:effectLst/>
              </a:rPr>
              <a:t> </a:t>
            </a:r>
            <a:r>
              <a:rPr lang="en-US" b="1" i="1" dirty="0" smtClean="0">
                <a:effectLst/>
              </a:rPr>
              <a:t>actions</a:t>
            </a:r>
            <a:r>
              <a:rPr lang="en-US" i="1" dirty="0" smtClean="0">
                <a:effectLst/>
              </a:rPr>
              <a:t>:</a:t>
            </a:r>
            <a:r>
              <a:rPr lang="en-US" dirty="0" smtClean="0">
                <a:effectLst/>
              </a:rPr>
              <a:t> define when objects should transition to another storage class.</a:t>
            </a:r>
          </a:p>
          <a:p>
            <a:pPr lvl="1"/>
            <a:r>
              <a:rPr lang="en-US" b="1" i="1" dirty="0" smtClean="0">
                <a:effectLst/>
              </a:rPr>
              <a:t>Expiration</a:t>
            </a:r>
            <a:r>
              <a:rPr lang="en-US" i="1" dirty="0" smtClean="0">
                <a:effectLst/>
              </a:rPr>
              <a:t> </a:t>
            </a:r>
            <a:r>
              <a:rPr lang="en-US" b="1" i="1" dirty="0" smtClean="0">
                <a:effectLst/>
              </a:rPr>
              <a:t>actions</a:t>
            </a:r>
            <a:r>
              <a:rPr lang="en-US" i="1" dirty="0" smtClean="0">
                <a:effectLst/>
              </a:rPr>
              <a:t>:</a:t>
            </a:r>
            <a:r>
              <a:rPr lang="en-US" dirty="0" smtClean="0">
                <a:effectLst/>
              </a:rPr>
              <a:t> define when objects expire and should be permanently deleted.</a:t>
            </a:r>
          </a:p>
          <a:p>
            <a:r>
              <a:rPr lang="en-US" dirty="0" smtClean="0">
                <a:effectLst/>
              </a:rPr>
              <a:t>For example, you might transition objects to S3 Standard-IA storage class 30 days after you create them. Or you might archive objects to the S3 Glacier Deep Archive storage class 1 year after creating them.</a:t>
            </a:r>
          </a:p>
        </p:txBody>
      </p:sp>
    </p:spTree>
    <p:extLst>
      <p:ext uri="{BB962C8B-B14F-4D97-AF65-F5344CB8AC3E}">
        <p14:creationId xmlns:p14="http://schemas.microsoft.com/office/powerpoint/2010/main" val="19437754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</a:t>
            </a:r>
            <a:r>
              <a:rPr lang="en-US" b="1" dirty="0" smtClean="0"/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following situations are candidates for the use of S3 lifecycle configuration rules:</a:t>
            </a:r>
          </a:p>
          <a:p>
            <a:r>
              <a:rPr lang="en-US" b="1" dirty="0" smtClean="0"/>
              <a:t>Periodic logs:</a:t>
            </a:r>
            <a:r>
              <a:rPr lang="en-US" dirty="0" smtClean="0"/>
              <a:t> If you upload periodic logs to a bucket, your application might need them for a week or a month. After that, you might want to delete them.</a:t>
            </a:r>
          </a:p>
          <a:p>
            <a:r>
              <a:rPr lang="en-US" b="1" dirty="0" smtClean="0"/>
              <a:t>Data that changes in access frequency:</a:t>
            </a:r>
            <a:r>
              <a:rPr lang="en-US" dirty="0" smtClean="0"/>
              <a:t> Some documents are frequently accessed for a limited period of time. After that, they are infrequently accessed. At some point, you might not need real-time access to them. However, your organization or regulations might require you to archive them for a specific period. After that, you can delete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171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/>
              <a:t>Use case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8992"/>
            <a:ext cx="11353800" cy="5779007"/>
          </a:xfrm>
        </p:spPr>
        <p:txBody>
          <a:bodyPr/>
          <a:lstStyle/>
          <a:p>
            <a:r>
              <a:rPr lang="en-US" b="1" dirty="0" smtClean="0"/>
              <a:t>After 30 days</a:t>
            </a:r>
          </a:p>
          <a:p>
            <a:pPr lvl="1"/>
            <a:r>
              <a:rPr lang="en-US" dirty="0" smtClean="0">
                <a:effectLst/>
              </a:rPr>
              <a:t>After 30 days without being accessed, the object is moved from the Amazon S3 Standard storage class to the Amazon S3 Standard-IA storage class.</a:t>
            </a:r>
            <a:endParaRPr lang="en-US" dirty="0" smtClean="0"/>
          </a:p>
          <a:p>
            <a:r>
              <a:rPr lang="en-US" b="1" dirty="0" smtClean="0"/>
              <a:t>After 60 days</a:t>
            </a:r>
          </a:p>
          <a:p>
            <a:pPr lvl="1"/>
            <a:r>
              <a:rPr lang="en-US" dirty="0" smtClean="0">
                <a:effectLst/>
              </a:rPr>
              <a:t>After the object has been in the S3 Standard-IA storage class for 60 days without being accessed, it's moved to the Amazon S3 Glacier Instant Retrieval storage class.</a:t>
            </a:r>
            <a:endParaRPr lang="en-US" dirty="0" smtClean="0"/>
          </a:p>
          <a:p>
            <a:r>
              <a:rPr lang="en-US" b="1" dirty="0" smtClean="0"/>
              <a:t>After 365 days</a:t>
            </a:r>
          </a:p>
          <a:p>
            <a:pPr lvl="1"/>
            <a:r>
              <a:rPr lang="en-US" dirty="0" smtClean="0">
                <a:effectLst/>
              </a:rPr>
              <a:t>Finally, after 365 days in the Amazon S3 Glacier Instant Retrieval storage class without being accessed,</a:t>
            </a:r>
          </a:p>
          <a:p>
            <a:pPr marL="457200" lvl="1" indent="0">
              <a:buNone/>
            </a:pPr>
            <a:r>
              <a:rPr lang="en-US" dirty="0" smtClean="0"/>
              <a:t>   </a:t>
            </a:r>
            <a:r>
              <a:rPr lang="en-US" dirty="0" smtClean="0">
                <a:effectLst/>
              </a:rPr>
              <a:t>the object is deleted.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4418345"/>
            <a:ext cx="6778752" cy="243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621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688" y="2788285"/>
            <a:ext cx="6769608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Amazon S3 Demonstration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124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Navigate in the AWS Management Console.</a:t>
            </a:r>
          </a:p>
          <a:p>
            <a:r>
              <a:rPr lang="en-US" dirty="0" smtClean="0">
                <a:effectLst/>
              </a:rPr>
              <a:t>Create and configure an Amazon S3 bucket.</a:t>
            </a:r>
          </a:p>
          <a:p>
            <a:r>
              <a:rPr lang="en-US" dirty="0" smtClean="0">
                <a:effectLst/>
              </a:rPr>
              <a:t>Upload individual files and complete folders to Amazon S3.</a:t>
            </a:r>
          </a:p>
          <a:p>
            <a:r>
              <a:rPr lang="en-US" dirty="0" smtClean="0">
                <a:effectLst/>
              </a:rPr>
              <a:t>Configure both system-defined and user-defined object metadata.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062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About the Demo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demonstration offers a hands-on exploration of the fundamental features of Amazon S3 through the AWS Management Console.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will be guided through the process of creating storage buckets, uploading files and folders, and configuring essential settings for both buckets and objects. </a:t>
            </a:r>
            <a:endParaRPr lang="en-US" dirty="0" smtClean="0"/>
          </a:p>
          <a:p>
            <a:r>
              <a:rPr lang="en-US" dirty="0" smtClean="0"/>
              <a:t>Whether </a:t>
            </a:r>
            <a:r>
              <a:rPr lang="en-US" dirty="0"/>
              <a:t>you're storing application data, website files, or backup archives, this demonstration will show you how to get started with the core functionality of Amazon S3.</a:t>
            </a:r>
          </a:p>
        </p:txBody>
      </p:sp>
    </p:spTree>
    <p:extLst>
      <p:ext uri="{BB962C8B-B14F-4D97-AF65-F5344CB8AC3E}">
        <p14:creationId xmlns:p14="http://schemas.microsoft.com/office/powerpoint/2010/main" val="18851396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Amazon S3 Basics – Demo Summary</a:t>
            </a:r>
            <a:endParaRPr lang="en-US" b="1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769920"/>
            <a:ext cx="10515600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Bucket</a:t>
            </a: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Buckets must have a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globally unique name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an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Region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default,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all public access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enabled for security.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Organizing Data</a:t>
            </a: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folders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the bucket for structure.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folders using: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files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(single/multiple files).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Drag &amp; drop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(folders + contents, preserving hierarchy).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 in S3 are called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Metadata</a:t>
            </a: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System-defined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size, creation date, storage class.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User-defined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custom tags/metadata for organization</a:t>
            </a:r>
            <a:r>
              <a:rPr lang="en-US" altLang="en-US" sz="2000">
                <a:latin typeface="Arial" panose="020B0604020202020204" pitchFamily="34" charset="0"/>
              </a:rPr>
              <a:t>.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1291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Amazon S3 Basics – Demo Summary</a:t>
            </a:r>
            <a:endParaRPr lang="en-US" b="1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11628" y="1763992"/>
            <a:ext cx="9280105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Bucket Configurations</a:t>
            </a: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Properties tab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versioning, encryption, intelligent-tiering, static website hosting, etc.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Permissions tab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control access with: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Public Access.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Bucket policies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(JSON-based rules).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CORS, object ownership.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tab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lifecycle rules, replication, and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Bucket Policy Example</a:t>
            </a: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grant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cross-account access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upload objects.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 (allow/deny)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 (who)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(e.g., s3:PutObject)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smtClean="0">
                <a:latin typeface="Arial" panose="020B0604020202020204" pitchFamily="34" charset="0"/>
              </a:rPr>
              <a:t>re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(what)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(ownership metadata).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smtClean="0">
                <a:latin typeface="Arial" panose="020B0604020202020204" pitchFamily="34" charset="0"/>
              </a:rPr>
              <a:t>6. </a:t>
            </a: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Object-Level Features</a:t>
            </a: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object URL, size, storage class.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Permissions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controlled via bucket policy.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Properties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encryption, checksums, tags, object lock.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Versions tab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view, restore, or delete older 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7567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2651125"/>
            <a:ext cx="9174480" cy="1325563"/>
          </a:xfrm>
        </p:spPr>
        <p:txBody>
          <a:bodyPr/>
          <a:lstStyle/>
          <a:p>
            <a:r>
              <a:rPr lang="sv-SE" b="1" dirty="0"/>
              <a:t>Amazon Elastic File System (Amazon EFS</a:t>
            </a:r>
            <a:r>
              <a:rPr lang="sv-SE" b="1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930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Amazon EFS, including its benefits and use cases.</a:t>
            </a:r>
          </a:p>
          <a:p>
            <a:r>
              <a:rPr lang="en-US" dirty="0"/>
              <a:t>Describe Amazon EFS storage classes and how they can impact pricing.</a:t>
            </a:r>
          </a:p>
          <a:p>
            <a:r>
              <a:rPr lang="en-US" dirty="0"/>
              <a:t>Describe the EFS lifecycle policies and how they interact with storage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951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/>
              <a:t>Amazon Elastic File System (EFS)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EFS is a fully managed, scalable file storage service for use with AWS cloud services and on-premises resources. </a:t>
            </a:r>
            <a:r>
              <a:rPr lang="en-US" dirty="0" smtClean="0"/>
              <a:t>I</a:t>
            </a:r>
          </a:p>
          <a:p>
            <a:r>
              <a:rPr lang="en-US" dirty="0" smtClean="0"/>
              <a:t>t </a:t>
            </a:r>
            <a:r>
              <a:rPr lang="en-US" dirty="0"/>
              <a:t>operates using the </a:t>
            </a:r>
            <a:r>
              <a:rPr lang="en-US" i="1" dirty="0"/>
              <a:t>Linux </a:t>
            </a:r>
            <a:r>
              <a:rPr lang="en-US" i="1" dirty="0" smtClean="0"/>
              <a:t>Network </a:t>
            </a:r>
            <a:r>
              <a:rPr lang="en-US" i="1" dirty="0"/>
              <a:t>File System (NFS) protocol</a:t>
            </a:r>
            <a:r>
              <a:rPr lang="en-US" dirty="0"/>
              <a:t>, and </a:t>
            </a:r>
            <a:r>
              <a:rPr lang="en-US" i="1" dirty="0"/>
              <a:t>automatically scales</a:t>
            </a:r>
            <a:r>
              <a:rPr lang="en-US" dirty="0"/>
              <a:t> to petabytes as you add or remove files without disrupting applications. </a:t>
            </a:r>
            <a:endParaRPr lang="en-US" dirty="0" smtClean="0"/>
          </a:p>
          <a:p>
            <a:r>
              <a:rPr lang="en-US" dirty="0" smtClean="0"/>
              <a:t>EFS </a:t>
            </a:r>
            <a:r>
              <a:rPr lang="en-US" dirty="0"/>
              <a:t>is designed to support a wide variety of workloads and can be accessed by </a:t>
            </a:r>
            <a:r>
              <a:rPr lang="en-US" i="1" dirty="0"/>
              <a:t>multiple EC2 instances simultaneously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4746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</a:t>
            </a:r>
            <a:r>
              <a:rPr lang="en-US" b="1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Multi-AZ redundancy </a:t>
            </a:r>
          </a:p>
          <a:p>
            <a:pPr lvl="1"/>
            <a:r>
              <a:rPr lang="en-US" dirty="0"/>
              <a:t>Amazon EFS automatically replicates data across multiple Availability Zones in a region for high availability.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built-in redundancy protects against AZ failures and provides continuous access to your file systems.</a:t>
            </a:r>
            <a:endParaRPr lang="en-US" b="1" dirty="0" smtClean="0"/>
          </a:p>
          <a:p>
            <a:r>
              <a:rPr lang="en-US" b="1" dirty="0" smtClean="0"/>
              <a:t>Shared access </a:t>
            </a:r>
          </a:p>
          <a:p>
            <a:pPr lvl="1"/>
            <a:r>
              <a:rPr lang="en-US" dirty="0"/>
              <a:t>Amazon EFS supports thousands of concurrent NFS connections, so multiple EC2 instances can access the same file system simultaneously.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shared access model makes EFS ideal for collaborative workloads and distributed applications.</a:t>
            </a:r>
            <a:endParaRPr lang="en-US" b="1" dirty="0" smtClean="0"/>
          </a:p>
          <a:p>
            <a:r>
              <a:rPr lang="en-US" b="1" dirty="0" smtClean="0"/>
              <a:t>Elastic storage</a:t>
            </a:r>
          </a:p>
          <a:p>
            <a:pPr lvl="1"/>
            <a:r>
              <a:rPr lang="en-US" dirty="0"/>
              <a:t>Amazon EFS automatically grows and shrinks as you add and remove files, with no need to provision or manage storage capacity. </a:t>
            </a:r>
            <a:endParaRPr lang="en-US" dirty="0" smtClean="0"/>
          </a:p>
          <a:p>
            <a:pPr lvl="1"/>
            <a:r>
              <a:rPr lang="en-US" dirty="0" smtClean="0"/>
              <a:t>And </a:t>
            </a:r>
            <a:r>
              <a:rPr lang="en-US" dirty="0"/>
              <a:t>since you only pay for the storage you use, it's cost-effective for varying workload demands.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02148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storage </a:t>
            </a:r>
            <a:r>
              <a:rPr lang="en-US" b="1" dirty="0" smtClean="0"/>
              <a:t>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Amazon EFS, you can create and configure file systems quickly without any minimum fee or setup cost.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pay only for the storage used and you can choose from a range of storage classes designed to fit your use </a:t>
            </a:r>
            <a:r>
              <a:rPr lang="en-US" dirty="0" smtClean="0"/>
              <a:t>case</a:t>
            </a:r>
            <a:r>
              <a:rPr lang="en-US" dirty="0"/>
              <a:t>:</a:t>
            </a:r>
            <a:endParaRPr lang="en-US" dirty="0" smtClean="0"/>
          </a:p>
          <a:p>
            <a:pPr lvl="1"/>
            <a:r>
              <a:rPr lang="en-US" b="1" dirty="0" smtClean="0"/>
              <a:t>Standard storage classes</a:t>
            </a:r>
          </a:p>
          <a:p>
            <a:pPr lvl="1"/>
            <a:r>
              <a:rPr lang="en-US" b="1" dirty="0" smtClean="0"/>
              <a:t>One zone </a:t>
            </a:r>
            <a:r>
              <a:rPr lang="en-US" b="1" dirty="0"/>
              <a:t>storage classes</a:t>
            </a:r>
          </a:p>
          <a:p>
            <a:pPr lvl="1"/>
            <a:r>
              <a:rPr lang="en-US" b="1" dirty="0" smtClean="0"/>
              <a:t>Archive </a:t>
            </a:r>
            <a:r>
              <a:rPr lang="en-US" b="1" dirty="0"/>
              <a:t>storage classes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3635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storage </a:t>
            </a:r>
            <a:r>
              <a:rPr lang="en-US" b="1" dirty="0" smtClean="0"/>
              <a:t>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Standard storage </a:t>
            </a:r>
            <a:r>
              <a:rPr lang="en-US" b="1" dirty="0" smtClean="0"/>
              <a:t>classes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EFS Standard </a:t>
            </a:r>
            <a:r>
              <a:rPr lang="en-US" dirty="0"/>
              <a:t>and </a:t>
            </a:r>
            <a:r>
              <a:rPr lang="en-US" i="1" dirty="0"/>
              <a:t>EFS Standard-Infrequent Access (Standard-IA)</a:t>
            </a:r>
            <a:r>
              <a:rPr lang="en-US" dirty="0"/>
              <a:t> storage classes offer Multi-AZ resilience and the highest levels of durability and availability. </a:t>
            </a:r>
            <a:endParaRPr lang="en-US" dirty="0" smtClean="0"/>
          </a:p>
          <a:p>
            <a:pPr lvl="1"/>
            <a:r>
              <a:rPr lang="en-US" dirty="0" smtClean="0"/>
              <a:t>They </a:t>
            </a:r>
            <a:r>
              <a:rPr lang="en-US" dirty="0"/>
              <a:t>have a higher cost associated with them due to higher availability and durability.</a:t>
            </a:r>
            <a:endParaRPr lang="en-US" b="1" dirty="0" smtClean="0"/>
          </a:p>
          <a:p>
            <a:r>
              <a:rPr lang="en-US" b="1" dirty="0"/>
              <a:t>One zone storage </a:t>
            </a:r>
            <a:r>
              <a:rPr lang="en-US" b="1" dirty="0" smtClean="0"/>
              <a:t>classes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EFS One Zone</a:t>
            </a:r>
            <a:r>
              <a:rPr lang="en-US" dirty="0"/>
              <a:t> and </a:t>
            </a:r>
            <a:r>
              <a:rPr lang="en-US" i="1" dirty="0"/>
              <a:t>EFS One Zone-Infrequent Access (EFS One Zone-IA)</a:t>
            </a:r>
            <a:r>
              <a:rPr lang="en-US" dirty="0"/>
              <a:t> provide additional savings by saving your data in a single Availability Zone. </a:t>
            </a:r>
            <a:endParaRPr lang="en-US" dirty="0" smtClean="0"/>
          </a:p>
          <a:p>
            <a:pPr lvl="1"/>
            <a:r>
              <a:rPr lang="en-US" dirty="0" smtClean="0"/>
              <a:t>By </a:t>
            </a:r>
            <a:r>
              <a:rPr lang="en-US" dirty="0"/>
              <a:t>using just one Availability Zone, you can reduce your storage costs when compared to the Standard EFS storage classes.</a:t>
            </a:r>
          </a:p>
          <a:p>
            <a:r>
              <a:rPr lang="en-US" b="1" dirty="0"/>
              <a:t>Archive storage </a:t>
            </a:r>
            <a:r>
              <a:rPr lang="en-US" b="1" dirty="0" smtClean="0"/>
              <a:t>classes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EFS Archive </a:t>
            </a:r>
            <a:r>
              <a:rPr lang="en-US" dirty="0"/>
              <a:t>storage class is cost-optimized for data that is accessed only a few times a year or less and that does not need the sub-millisecond latencies of EFS Standard. </a:t>
            </a:r>
            <a:endParaRPr lang="en-US" dirty="0" smtClean="0"/>
          </a:p>
          <a:p>
            <a:pPr lvl="1"/>
            <a:r>
              <a:rPr lang="en-US" dirty="0" smtClean="0"/>
              <a:t>EFS </a:t>
            </a:r>
            <a:r>
              <a:rPr lang="en-US" dirty="0"/>
              <a:t>Archive offers a storage price up to 50% lower compared to EFS Infrequent Access, providing a more cost-optimized experience for cold, rarely-accessed data.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069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data </a:t>
            </a:r>
            <a:r>
              <a:rPr lang="en-US" b="1" dirty="0" smtClean="0"/>
              <a:t>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</a:t>
            </a:r>
            <a:r>
              <a:rPr lang="en-US" dirty="0"/>
              <a:t>can further optimize Amazon EFS storage costs by automatically moving data between storage classes based on usage patterns.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create lifecycle policies that determine when and how files transition between different storage tiers.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automated policies help ensure your data resides in the most cost-effective storage class without manual intervention.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814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data 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Transition to IA</a:t>
            </a:r>
          </a:p>
          <a:p>
            <a:pPr lvl="1"/>
            <a:r>
              <a:rPr lang="en-US" dirty="0"/>
              <a:t>This policy instructs lifecycle management when to move files into the Infrequent Access storage, which is cost-optimized for data that is accessed only a few times each quarter. </a:t>
            </a:r>
            <a:endParaRPr lang="en-US" dirty="0" smtClean="0"/>
          </a:p>
          <a:p>
            <a:pPr lvl="1"/>
            <a:r>
              <a:rPr lang="en-US" dirty="0" smtClean="0"/>
              <a:t>By </a:t>
            </a:r>
            <a:r>
              <a:rPr lang="en-US" dirty="0"/>
              <a:t>default, files that are not accessed in Standard storage for 30 days are transitioned into IA.</a:t>
            </a:r>
          </a:p>
          <a:p>
            <a:r>
              <a:rPr lang="en-US" b="1" dirty="0"/>
              <a:t>Transition to Archive</a:t>
            </a:r>
          </a:p>
          <a:p>
            <a:pPr lvl="1"/>
            <a:r>
              <a:rPr lang="en-US" dirty="0"/>
              <a:t>This policy instructs lifecycle management when to move files into the Archive storage class, which is cost-optimized for data that is accessed only a few times each year or less. </a:t>
            </a:r>
            <a:endParaRPr lang="en-US" dirty="0" smtClean="0"/>
          </a:p>
          <a:p>
            <a:pPr lvl="1"/>
            <a:r>
              <a:rPr lang="en-US" dirty="0" smtClean="0"/>
              <a:t>By </a:t>
            </a:r>
            <a:r>
              <a:rPr lang="en-US" dirty="0"/>
              <a:t>default, files that are not accessed in Standard storage for 90 days are transitioned into Archive.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0001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data 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Transition to Standard</a:t>
            </a:r>
          </a:p>
          <a:p>
            <a:pPr lvl="1"/>
            <a:r>
              <a:rPr lang="en-US" dirty="0"/>
              <a:t>This policy instructs lifecycle management whether to transition files out of IA or Archive and back into Standard storage when the files are accessed in the IA or Archive storage. </a:t>
            </a:r>
            <a:endParaRPr lang="en-US" dirty="0" smtClean="0"/>
          </a:p>
          <a:p>
            <a:pPr lvl="1"/>
            <a:r>
              <a:rPr lang="en-US" b="1" dirty="0" smtClean="0"/>
              <a:t>By </a:t>
            </a:r>
            <a:r>
              <a:rPr lang="en-US" b="1" dirty="0"/>
              <a:t>default</a:t>
            </a:r>
            <a:r>
              <a:rPr lang="en-US" dirty="0"/>
              <a:t>, files are not moved back to Standard storage, and they remain in the IA or Archive storage class when they are accessed.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16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9224" y="2660269"/>
            <a:ext cx="2947416" cy="1325563"/>
          </a:xfrm>
        </p:spPr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 smtClean="0"/>
              <a:t>FSx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469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Amazon </a:t>
            </a:r>
            <a:r>
              <a:rPr lang="en-US" dirty="0" err="1"/>
              <a:t>FSx</a:t>
            </a:r>
            <a:r>
              <a:rPr lang="en-US" dirty="0"/>
              <a:t>, including its benefits and use cases.</a:t>
            </a:r>
          </a:p>
          <a:p>
            <a:r>
              <a:rPr lang="en-US" dirty="0"/>
              <a:t>Describe the available file system options for Amazon </a:t>
            </a:r>
            <a:r>
              <a:rPr lang="en-US" dirty="0" err="1"/>
              <a:t>FSx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947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makes it convenient and cost effective to launch, run, and scale feature-rich, high-performance file systems in the cloud.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supports a wide range of workloads with its reliability, security, scalability, and broad set of capabilities. </a:t>
            </a:r>
            <a:endParaRPr lang="en-US" dirty="0" smtClean="0"/>
          </a:p>
          <a:p>
            <a:r>
              <a:rPr lang="en-US" dirty="0" smtClean="0"/>
              <a:t>Compared </a:t>
            </a:r>
            <a:r>
              <a:rPr lang="en-US" dirty="0"/>
              <a:t>to Amazon EFS, which focuses on the Network File System (NFS) compatibility, Amazon </a:t>
            </a:r>
            <a:r>
              <a:rPr lang="en-US" dirty="0" err="1"/>
              <a:t>FSx</a:t>
            </a:r>
            <a:r>
              <a:rPr lang="en-US" dirty="0"/>
              <a:t> supports multiple filesystem protocols, including Windows File Server, </a:t>
            </a:r>
            <a:r>
              <a:rPr lang="en-US" dirty="0" err="1"/>
              <a:t>Lustre</a:t>
            </a:r>
            <a:r>
              <a:rPr lang="en-US" dirty="0"/>
              <a:t>, </a:t>
            </a:r>
            <a:r>
              <a:rPr lang="en-US" dirty="0" err="1"/>
              <a:t>OpenZFS</a:t>
            </a:r>
            <a:r>
              <a:rPr lang="en-US" dirty="0"/>
              <a:t>, and </a:t>
            </a:r>
            <a:r>
              <a:rPr lang="en-US" dirty="0" err="1"/>
              <a:t>NetAPP</a:t>
            </a:r>
            <a:r>
              <a:rPr lang="en-US" dirty="0"/>
              <a:t> ONTAP.</a:t>
            </a:r>
          </a:p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is built on the latest AWS compute, networking, and disk technologies to provide high performance and lower total cost of ownership (TCO).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a fully managed service, it handles hardware provisioning, patching, and backups.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899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r>
              <a:rPr lang="en-US" b="1" dirty="0"/>
              <a:t> </a:t>
            </a:r>
            <a:r>
              <a:rPr lang="en-US" b="1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File system integration </a:t>
            </a:r>
          </a:p>
          <a:p>
            <a:pPr lvl="1"/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supports industry-standard file system protocols, allowing convenient integration with your existing applications, workflows, and development tools.</a:t>
            </a:r>
            <a:endParaRPr lang="en-US" b="1" dirty="0" smtClean="0"/>
          </a:p>
          <a:p>
            <a:r>
              <a:rPr lang="en-US" b="1" dirty="0" smtClean="0"/>
              <a:t>Managed infrastructure</a:t>
            </a:r>
          </a:p>
          <a:p>
            <a:pPr lvl="1"/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reduces the complexity of managing infrastructure while delivering the features and capabilities of traditional file systems.</a:t>
            </a:r>
            <a:endParaRPr lang="en-US" b="1" dirty="0" smtClean="0"/>
          </a:p>
          <a:p>
            <a:r>
              <a:rPr lang="en-US" b="1" dirty="0" smtClean="0"/>
              <a:t>Scalable storage</a:t>
            </a:r>
          </a:p>
          <a:p>
            <a:pPr lvl="1"/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adjusts resources dynamically, eliminating the need for complex capacity planning and manual infrastructure management.</a:t>
            </a:r>
            <a:endParaRPr lang="en-US" b="1" dirty="0" smtClean="0"/>
          </a:p>
          <a:p>
            <a:r>
              <a:rPr lang="en-US" b="1" dirty="0" smtClean="0"/>
              <a:t>Cost effective</a:t>
            </a:r>
          </a:p>
          <a:p>
            <a:pPr lvl="1"/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has a pricing model and automated </a:t>
            </a:r>
            <a:r>
              <a:rPr lang="en-US" dirty="0" err="1"/>
              <a:t>tiering</a:t>
            </a:r>
            <a:r>
              <a:rPr lang="en-US" dirty="0"/>
              <a:t> options that optimize costs by charging only for used storage and moving infrequently accessed data to lower-cost tiers.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8403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184" y="3035173"/>
            <a:ext cx="5928360" cy="1325563"/>
          </a:xfrm>
        </p:spPr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r>
              <a:rPr lang="en-US" b="1" dirty="0"/>
              <a:t> file </a:t>
            </a:r>
            <a:r>
              <a:rPr lang="en-US" b="1" dirty="0" smtClean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997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r>
              <a:rPr lang="en-US" b="1" dirty="0"/>
              <a:t> for Windows File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for Windows File Server provides fully managed shared storage built on Windows Server.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delivers a wide range of data access, data management, and administrative capabilities.</a:t>
            </a:r>
          </a:p>
          <a:p>
            <a:r>
              <a:rPr lang="en-US" dirty="0"/>
              <a:t>Use cases include the following:</a:t>
            </a:r>
          </a:p>
          <a:p>
            <a:pPr lvl="1"/>
            <a:r>
              <a:rPr lang="en-US" dirty="0"/>
              <a:t>Migrate Windows file servers to AWS.</a:t>
            </a:r>
          </a:p>
          <a:p>
            <a:pPr lvl="1"/>
            <a:r>
              <a:rPr lang="en-US" dirty="0"/>
              <a:t>Accelerate hybrid workloads.</a:t>
            </a:r>
          </a:p>
          <a:p>
            <a:pPr lvl="1"/>
            <a:r>
              <a:rPr lang="en-US" dirty="0"/>
              <a:t>Reduce SQL Server deployment cost.</a:t>
            </a:r>
          </a:p>
          <a:p>
            <a:pPr lvl="1"/>
            <a:r>
              <a:rPr lang="en-US" dirty="0"/>
              <a:t>Streamline virtual desktops and streaming.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374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r>
              <a:rPr lang="en-US" b="1" dirty="0"/>
              <a:t> for NetApp ONTAP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for NetApp ONTAP provides fully managed shared storage in the AWS Cloud with the popular data access and management capabilities of ONTAP.</a:t>
            </a:r>
          </a:p>
          <a:p>
            <a:r>
              <a:rPr lang="en-US" dirty="0"/>
              <a:t>Use cases include the following:</a:t>
            </a:r>
          </a:p>
          <a:p>
            <a:pPr lvl="1"/>
            <a:r>
              <a:rPr lang="en-US" dirty="0"/>
              <a:t>Migrate workloads to AWS seamlessly.</a:t>
            </a:r>
          </a:p>
          <a:p>
            <a:pPr lvl="1"/>
            <a:r>
              <a:rPr lang="en-US" dirty="0"/>
              <a:t>Build modern applications.</a:t>
            </a:r>
          </a:p>
          <a:p>
            <a:pPr lvl="1"/>
            <a:r>
              <a:rPr lang="en-US" dirty="0"/>
              <a:t>Modernize your data management.</a:t>
            </a:r>
          </a:p>
          <a:p>
            <a:pPr lvl="1"/>
            <a:r>
              <a:rPr lang="en-US" dirty="0"/>
              <a:t>Streamline business continuity.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728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r>
              <a:rPr lang="en-US" b="1" dirty="0"/>
              <a:t> for </a:t>
            </a:r>
            <a:r>
              <a:rPr lang="en-US" b="1" dirty="0" err="1"/>
              <a:t>OpenZFS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for </a:t>
            </a:r>
            <a:r>
              <a:rPr lang="en-US" dirty="0" err="1"/>
              <a:t>OpenZFS</a:t>
            </a:r>
            <a:r>
              <a:rPr lang="en-US" dirty="0"/>
              <a:t> provides fully managed shared file storage built on the </a:t>
            </a:r>
            <a:r>
              <a:rPr lang="en-US" dirty="0" err="1"/>
              <a:t>OpenZFS</a:t>
            </a:r>
            <a:r>
              <a:rPr lang="en-US" dirty="0"/>
              <a:t> file system and accessible through the NFS protocol (v3, v4, v4.1, and v4.2).</a:t>
            </a:r>
          </a:p>
          <a:p>
            <a:r>
              <a:rPr lang="en-US" dirty="0"/>
              <a:t>Use cases include the following:</a:t>
            </a:r>
          </a:p>
          <a:p>
            <a:pPr lvl="1"/>
            <a:r>
              <a:rPr lang="en-US" dirty="0"/>
              <a:t>Migrate workloads to AWS seamlessly.</a:t>
            </a:r>
          </a:p>
          <a:p>
            <a:pPr lvl="1"/>
            <a:r>
              <a:rPr lang="en-US" dirty="0"/>
              <a:t>Deliver insights faster for data analytics workloads.</a:t>
            </a:r>
          </a:p>
          <a:p>
            <a:pPr lvl="1"/>
            <a:r>
              <a:rPr lang="en-US" dirty="0"/>
              <a:t>Accelerate content management.</a:t>
            </a:r>
          </a:p>
          <a:p>
            <a:pPr lvl="1"/>
            <a:r>
              <a:rPr lang="en-US" dirty="0"/>
              <a:t>Increase dev/test velocity.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1807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FSx</a:t>
            </a:r>
            <a:r>
              <a:rPr lang="en-US" b="1" dirty="0"/>
              <a:t> for </a:t>
            </a:r>
            <a:r>
              <a:rPr lang="en-US" b="1" dirty="0" err="1"/>
              <a:t>Lustre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for </a:t>
            </a:r>
            <a:r>
              <a:rPr lang="en-US" dirty="0" err="1"/>
              <a:t>Lustre</a:t>
            </a:r>
            <a:r>
              <a:rPr lang="en-US" dirty="0"/>
              <a:t> provides fully managed shared storage with the scalability and performance of the popular </a:t>
            </a:r>
            <a:r>
              <a:rPr lang="en-US" dirty="0" err="1"/>
              <a:t>Lustre</a:t>
            </a:r>
            <a:r>
              <a:rPr lang="en-US" dirty="0"/>
              <a:t> file system.</a:t>
            </a:r>
          </a:p>
          <a:p>
            <a:r>
              <a:rPr lang="en-US" dirty="0"/>
              <a:t>Use cases include the following:</a:t>
            </a:r>
          </a:p>
          <a:p>
            <a:pPr lvl="1"/>
            <a:r>
              <a:rPr lang="en-US" dirty="0"/>
              <a:t>Accelerate machine learning (ML).</a:t>
            </a:r>
          </a:p>
          <a:p>
            <a:pPr lvl="1"/>
            <a:r>
              <a:rPr lang="en-US" dirty="0"/>
              <a:t>Enable high performance computing (HPC).</a:t>
            </a:r>
          </a:p>
          <a:p>
            <a:pPr lvl="1"/>
            <a:r>
              <a:rPr lang="en-US" dirty="0"/>
              <a:t>Unlock big data analytics.</a:t>
            </a:r>
          </a:p>
          <a:p>
            <a:pPr lvl="1"/>
            <a:r>
              <a:rPr lang="en-US" dirty="0"/>
              <a:t>Increase media workload agility.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816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0192" y="2577973"/>
            <a:ext cx="5334000" cy="1325563"/>
          </a:xfrm>
        </p:spPr>
        <p:txBody>
          <a:bodyPr/>
          <a:lstStyle/>
          <a:p>
            <a:r>
              <a:rPr lang="en-US" b="1" dirty="0"/>
              <a:t>AWS Storage </a:t>
            </a:r>
            <a:r>
              <a:rPr lang="en-US" b="1" dirty="0" smtClean="0"/>
              <a:t>Gateway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664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AWS Storage Gateway, including its benefits and use cases.</a:t>
            </a:r>
          </a:p>
          <a:p>
            <a:r>
              <a:rPr lang="en-US" dirty="0"/>
              <a:t>Describe the three available gateway types in Storage Gateway.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94861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Storage </a:t>
            </a:r>
            <a:r>
              <a:rPr lang="en-US" b="1" dirty="0" smtClean="0"/>
              <a:t>Gateway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Gateway is a hybrid cloud storage service that makes it possible to seamlessly integrate on-premises environments with AWS Cloud storage.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use it to extend your local storage to the cloud while maintaining low-latency access to frequently used data.</a:t>
            </a:r>
          </a:p>
          <a:p>
            <a:r>
              <a:rPr lang="en-US" dirty="0"/>
              <a:t>You can use Storage Gateway to streamline storage management and reduce costs for practical hybrid cloud storage use cases.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include moving backups to the cloud, using on-premises file shares backed by cloud storage, and providing low-latency access to data in AWS for on-premises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461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Seamless integration</a:t>
            </a:r>
          </a:p>
          <a:p>
            <a:pPr lvl="1"/>
            <a:r>
              <a:rPr lang="en-US" dirty="0"/>
              <a:t>Storage Gateway enables smooth connectivity between on-premises applications and AWS Cloud storage, preserving existing workflows and minimizing disruption.</a:t>
            </a:r>
            <a:endParaRPr lang="en-US" b="1" dirty="0" smtClean="0"/>
          </a:p>
          <a:p>
            <a:r>
              <a:rPr lang="en-US" b="1" dirty="0" smtClean="0"/>
              <a:t>Improved data management </a:t>
            </a:r>
          </a:p>
          <a:p>
            <a:pPr lvl="1"/>
            <a:r>
              <a:rPr lang="en-US" dirty="0"/>
              <a:t>Storage Gateway provides centralized management of hybrid storage environments, enhancing accessibility, security, and compliance.</a:t>
            </a:r>
            <a:endParaRPr lang="en-US" b="1" dirty="0" smtClean="0"/>
          </a:p>
          <a:p>
            <a:r>
              <a:rPr lang="en-US" b="1" dirty="0" smtClean="0"/>
              <a:t>Local caching</a:t>
            </a:r>
          </a:p>
          <a:p>
            <a:pPr lvl="1"/>
            <a:r>
              <a:rPr lang="en-US" dirty="0"/>
              <a:t>Storage Gateway locally keeps frequently accessed data for quick access while managing less-used data in the cloud.</a:t>
            </a:r>
            <a:endParaRPr lang="en-US" b="1" dirty="0" smtClean="0"/>
          </a:p>
          <a:p>
            <a:r>
              <a:rPr lang="en-US" b="1" dirty="0" smtClean="0"/>
              <a:t>Cost optimization</a:t>
            </a:r>
          </a:p>
          <a:p>
            <a:pPr lvl="1"/>
            <a:r>
              <a:rPr lang="en-US" dirty="0"/>
              <a:t>Storage Gateway reduces on-premises storage costs by using cloud storage for data archiving, backup, and disaster recovery purposes.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418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352" y="2577973"/>
            <a:ext cx="3541776" cy="1325563"/>
          </a:xfrm>
        </p:spPr>
        <p:txBody>
          <a:bodyPr/>
          <a:lstStyle/>
          <a:p>
            <a:r>
              <a:rPr lang="en-US" b="1" dirty="0"/>
              <a:t>Gateway </a:t>
            </a:r>
            <a:r>
              <a:rPr lang="en-US" b="1" dirty="0" smtClean="0"/>
              <a:t>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471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S3 File </a:t>
            </a:r>
            <a:r>
              <a:rPr lang="en-US" b="1" dirty="0" smtClean="0"/>
              <a:t>Gateway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Amazon S3 File Gateway bridges your local environment with Amazon S3.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provides on-premises applications with access to virtually unlimited cloud storage through familiar file protocols. </a:t>
            </a:r>
            <a:endParaRPr lang="en-US" dirty="0" smtClean="0"/>
          </a:p>
          <a:p>
            <a:r>
              <a:rPr lang="en-US" dirty="0" smtClean="0"/>
              <a:t>S3 </a:t>
            </a:r>
            <a:r>
              <a:rPr lang="en-US" dirty="0"/>
              <a:t>File Gateway makes it possible to store and retrieve cloud objects using familiar file operations.</a:t>
            </a:r>
          </a:p>
          <a:p>
            <a:r>
              <a:rPr lang="en-US" dirty="0"/>
              <a:t>When you deploy an S3 File Gateway, it appears to your local systems as a </a:t>
            </a:r>
            <a:r>
              <a:rPr lang="en-US" b="1" dirty="0"/>
              <a:t>standard file server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Files </a:t>
            </a:r>
            <a:r>
              <a:rPr lang="en-US" dirty="0"/>
              <a:t>written to this server are automatically uploaded to Amazon S3 while maintaining local access to recently used data through intelligent caching.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your applications can continue working with files as they always have while the actual data is securely stored in the AWS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609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Volume </a:t>
            </a:r>
            <a:r>
              <a:rPr lang="en-US" b="1" dirty="0" smtClean="0"/>
              <a:t>Gateway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Volume Gateway, you create virtual storage volumes while maintaining local access to your data.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essentially functions as a bridge between your on-premises infrastructure and AWS Cloud storage by presenting your cloud data as </a:t>
            </a:r>
            <a:r>
              <a:rPr lang="en-US" b="1" dirty="0"/>
              <a:t>iSCSI volumes </a:t>
            </a:r>
            <a:r>
              <a:rPr lang="en-US" dirty="0"/>
              <a:t>that can be mounted by your existing applications.</a:t>
            </a:r>
          </a:p>
          <a:p>
            <a:r>
              <a:rPr lang="en-US" dirty="0"/>
              <a:t>Volume Gateway operates in two main configurations:</a:t>
            </a:r>
          </a:p>
          <a:p>
            <a:pPr lvl="1"/>
            <a:r>
              <a:rPr lang="en-US" b="1" i="1" dirty="0"/>
              <a:t>Cached volume mode </a:t>
            </a:r>
            <a:r>
              <a:rPr lang="en-US" dirty="0"/>
              <a:t>stores primary data in the cloud while frequently accessed data is cached locally for low-latency access.</a:t>
            </a:r>
          </a:p>
          <a:p>
            <a:pPr lvl="1"/>
            <a:r>
              <a:rPr lang="en-US" b="1" i="1" dirty="0"/>
              <a:t>Stored volume mode</a:t>
            </a:r>
            <a:r>
              <a:rPr lang="en-US" b="1" dirty="0"/>
              <a:t> </a:t>
            </a:r>
            <a:r>
              <a:rPr lang="en-US" dirty="0"/>
              <a:t>locally keeps your complete dataset while asynchronously backing it up to the cloud as EBS snapshots.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914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Tape </a:t>
            </a:r>
            <a:r>
              <a:rPr lang="en-US" b="1" dirty="0" smtClean="0"/>
              <a:t>Gateway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Tape Gateway makes it possible to replace physical tape infrastructure with virtual tape capabilities while benefitting from the durability and scalability of AWS Cloud storage. </a:t>
            </a:r>
            <a:endParaRPr lang="en-US" dirty="0" smtClean="0"/>
          </a:p>
          <a:p>
            <a:r>
              <a:rPr lang="en-US" dirty="0" smtClean="0"/>
              <a:t>Tape </a:t>
            </a:r>
            <a:r>
              <a:rPr lang="en-US" dirty="0"/>
              <a:t>Gateway provides an interface that works with existing tape backup software, making the transition from physical tapes to cloud storage seamless.</a:t>
            </a:r>
          </a:p>
          <a:p>
            <a:r>
              <a:rPr lang="en-US" dirty="0"/>
              <a:t>When you deploy a Tape Gateway, it presents itself to your backup applications as standard tape hardware. </a:t>
            </a:r>
            <a:endParaRPr lang="en-US" dirty="0" smtClean="0"/>
          </a:p>
          <a:p>
            <a:r>
              <a:rPr lang="en-US" dirty="0" smtClean="0"/>
              <a:t>Your </a:t>
            </a:r>
            <a:r>
              <a:rPr lang="en-US" dirty="0"/>
              <a:t>backup software writes data to these virtual tapes just as it would to physical tapes and stored in Amazon S3.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also configure Tape Gateway to automatically transition less frequently accessed data to a more cost-effective storage class for long-term retention.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351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8984" y="2605405"/>
            <a:ext cx="6961632" cy="1325563"/>
          </a:xfrm>
        </p:spPr>
        <p:txBody>
          <a:bodyPr/>
          <a:lstStyle/>
          <a:p>
            <a:r>
              <a:rPr lang="en-US" b="1" dirty="0"/>
              <a:t>AWS Elastic Disaster </a:t>
            </a:r>
            <a:r>
              <a:rPr lang="en-US" b="1" dirty="0" smtClean="0"/>
              <a:t>Recovery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329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Elastic Disaster Recovery, including its benefits and use cases</a:t>
            </a:r>
          </a:p>
        </p:txBody>
      </p:sp>
    </p:spTree>
    <p:extLst>
      <p:ext uri="{BB962C8B-B14F-4D97-AF65-F5344CB8AC3E}">
        <p14:creationId xmlns:p14="http://schemas.microsoft.com/office/powerpoint/2010/main" val="3138191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Elastic Disaster </a:t>
            </a:r>
            <a:r>
              <a:rPr lang="en-US" b="1" dirty="0" smtClean="0"/>
              <a:t>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Elastic Disaster Recovery replicates critical workloads to AWS with minimal downtime. </a:t>
            </a:r>
            <a:endParaRPr lang="en-US" dirty="0" smtClean="0"/>
          </a:p>
          <a:p>
            <a:r>
              <a:rPr lang="en-US" dirty="0" smtClean="0"/>
              <a:t>Your </a:t>
            </a:r>
            <a:r>
              <a:rPr lang="en-US" dirty="0"/>
              <a:t>servers' block-level data is continuously replicated to AWS, making it ideal for uses that require robust disaster recovery solutions.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supports both physical and virtual servers to enable rapid recovery during disruptions, which is particularly valuable for industries like healthcare where system availability is crucial.</a:t>
            </a:r>
          </a:p>
          <a:p>
            <a:r>
              <a:rPr lang="en-US" dirty="0"/>
              <a:t>You can use Elastic Disaster Recovery to reduce downtimes and data loss while eliminating the costs associated with maintaining secondary data centers.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also offers non-disruptive disaster recovery testing, meaning it's capable of quickly launching recovery instances when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252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Business resilience</a:t>
            </a:r>
          </a:p>
          <a:p>
            <a:pPr lvl="1"/>
            <a:r>
              <a:rPr lang="en-US" dirty="0"/>
              <a:t>Maintain business operations with continuous block-level data replication and the ability to recover workloads within minutes during disruptions.</a:t>
            </a:r>
            <a:endParaRPr lang="en-US" b="1" dirty="0" smtClean="0"/>
          </a:p>
          <a:p>
            <a:r>
              <a:rPr lang="en-US" b="1" dirty="0" smtClean="0"/>
              <a:t>Streamlined disaster recovery</a:t>
            </a:r>
          </a:p>
          <a:p>
            <a:pPr lvl="1"/>
            <a:r>
              <a:rPr lang="en-US" dirty="0"/>
              <a:t>Automate disaster recovery processes through an intuitive console, reducing complex manual configurations and minimizing the risk of human error.</a:t>
            </a:r>
            <a:endParaRPr lang="en-US" b="1" dirty="0" smtClean="0"/>
          </a:p>
          <a:p>
            <a:r>
              <a:rPr lang="en-US" b="1" dirty="0" smtClean="0"/>
              <a:t>Cost optimization</a:t>
            </a:r>
          </a:p>
          <a:p>
            <a:pPr lvl="1"/>
            <a:r>
              <a:rPr lang="en-US" dirty="0"/>
              <a:t>Eliminate expensive secondary data centers and pay only for what you use, with minimal upfront investment and no standby infrastructure costs.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6470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</a:t>
            </a:r>
            <a:r>
              <a:rPr lang="en-US" b="1" dirty="0" smtClean="0"/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Healthcare data protection</a:t>
            </a:r>
          </a:p>
          <a:p>
            <a:pPr lvl="1"/>
            <a:r>
              <a:rPr lang="en-US" dirty="0"/>
              <a:t>Hospital systems could use Elastic Disaster Recovery to maintain compliance while protecting patient records by replicating on-premises servers to AWS.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ensures that critical medical data remains accessible during system outages. </a:t>
            </a:r>
            <a:endParaRPr lang="en-US" dirty="0" smtClean="0"/>
          </a:p>
          <a:p>
            <a:pPr lvl="1"/>
            <a:r>
              <a:rPr lang="en-US" dirty="0" smtClean="0"/>
              <a:t>Regular </a:t>
            </a:r>
            <a:r>
              <a:rPr lang="en-US" dirty="0"/>
              <a:t>disaster recovery testing helps validate their recovery procedures and meet strict healthcare regulations.</a:t>
            </a:r>
          </a:p>
        </p:txBody>
      </p:sp>
    </p:spTree>
    <p:extLst>
      <p:ext uri="{BB962C8B-B14F-4D97-AF65-F5344CB8AC3E}">
        <p14:creationId xmlns:p14="http://schemas.microsoft.com/office/powerpoint/2010/main" val="34105649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Financial services continuity</a:t>
            </a:r>
          </a:p>
          <a:p>
            <a:pPr lvl="1"/>
            <a:r>
              <a:rPr lang="en-US" dirty="0"/>
              <a:t>A regional bank could implement Elastic Disaster Recovery to protect their core banking applications by continuously replicating their transaction processing systems.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facilitates quick recovery if their primary data center fails and helps maintain customer trust and regulatory compliance.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605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Manufacturing operations recovery</a:t>
            </a:r>
          </a:p>
          <a:p>
            <a:pPr lvl="1"/>
            <a:r>
              <a:rPr lang="en-US" dirty="0"/>
              <a:t>A global manufacturer could employ Elastic Disaster Recovery to protect their production planning systems. </a:t>
            </a:r>
            <a:endParaRPr lang="en-US" dirty="0" smtClean="0"/>
          </a:p>
          <a:p>
            <a:pPr lvl="1"/>
            <a:r>
              <a:rPr lang="en-US" dirty="0" smtClean="0"/>
              <a:t>By </a:t>
            </a:r>
            <a:r>
              <a:rPr lang="en-US" dirty="0"/>
              <a:t>replicating factory management servers to AWS, they can ensure minimal disruption to supply chain operations during disasters. </a:t>
            </a:r>
            <a:endParaRPr lang="en-US" dirty="0" smtClean="0"/>
          </a:p>
          <a:p>
            <a:pPr lvl="1"/>
            <a:r>
              <a:rPr lang="en-US" dirty="0" smtClean="0"/>
              <a:t>Regular </a:t>
            </a:r>
            <a:r>
              <a:rPr lang="en-US" dirty="0"/>
              <a:t>failover testing validates the recovery strategy.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857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8672" y="2513965"/>
            <a:ext cx="6531864" cy="1325563"/>
          </a:xfrm>
        </p:spPr>
        <p:txBody>
          <a:bodyPr/>
          <a:lstStyle/>
          <a:p>
            <a:r>
              <a:rPr lang="en-US" b="1" dirty="0"/>
              <a:t>Comparing Storage </a:t>
            </a:r>
            <a:r>
              <a:rPr lang="en-US" b="1" dirty="0" smtClean="0"/>
              <a:t>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033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how a company might use AWS storage services for different real-world scenarios.</a:t>
            </a:r>
          </a:p>
          <a:p>
            <a:endParaRPr lang="en-US" dirty="0" smtClean="0"/>
          </a:p>
          <a:p>
            <a:r>
              <a:rPr lang="en-US" dirty="0"/>
              <a:t>In this Cloud in Real </a:t>
            </a:r>
            <a:r>
              <a:rPr lang="en-US" dirty="0" smtClean="0"/>
              <a:t>Life Demo, </a:t>
            </a:r>
            <a:r>
              <a:rPr lang="en-US" dirty="0"/>
              <a:t>you will learn about three real-world scenarios involving Amazon S3, Amazon EBS, and Amazon EFS.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will explain how these services solve specific business challenges for different industries.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the end, you will understand the key differences between the different AWS storage services and their ideal use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343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Coffee Shop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Situation:</a:t>
            </a:r>
            <a:endParaRPr lang="en-US" dirty="0"/>
          </a:p>
          <a:p>
            <a:pPr lvl="1"/>
            <a:r>
              <a:rPr lang="en-US" dirty="0"/>
              <a:t>Small local shop wants to host a website with menus, photos, opening hours.</a:t>
            </a:r>
          </a:p>
          <a:p>
            <a:pPr lvl="1"/>
            <a:r>
              <a:rPr lang="en-US" dirty="0"/>
              <a:t>Expecting sudden traffic bursts (tourists, seasonal events).</a:t>
            </a:r>
          </a:p>
          <a:p>
            <a:pPr lvl="1"/>
            <a:r>
              <a:rPr lang="en-US" dirty="0"/>
              <a:t>No database needed, just static files (HTML, CSS, JS, images).</a:t>
            </a:r>
          </a:p>
          <a:p>
            <a:pPr lvl="1"/>
            <a:r>
              <a:rPr lang="en-US" dirty="0"/>
              <a:t>Budget is tight, so cost efficiency matters.</a:t>
            </a:r>
          </a:p>
          <a:p>
            <a:pPr lvl="1"/>
            <a:r>
              <a:rPr lang="en-US" dirty="0"/>
              <a:t>They don’t want to manage servers.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192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Fitness Center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Situation:</a:t>
            </a:r>
            <a:endParaRPr lang="en-US" dirty="0"/>
          </a:p>
          <a:p>
            <a:pPr lvl="1"/>
            <a:r>
              <a:rPr lang="en-US" dirty="0"/>
              <a:t>A growing fitness chain with an app storing </a:t>
            </a:r>
            <a:r>
              <a:rPr lang="en-US" b="1" dirty="0"/>
              <a:t>user progress, workout history, payments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Needs </a:t>
            </a:r>
            <a:r>
              <a:rPr lang="en-US" b="1" dirty="0"/>
              <a:t>fast and consistent read/write performance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Database should not lose data if a server fails.</a:t>
            </a:r>
          </a:p>
          <a:p>
            <a:pPr lvl="1"/>
            <a:r>
              <a:rPr lang="en-US" dirty="0"/>
              <a:t>Predictable workloads, but must handle thousands of members.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5064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Automotive Repair 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Situation:</a:t>
            </a:r>
            <a:endParaRPr lang="en-US" dirty="0"/>
          </a:p>
          <a:p>
            <a:pPr lvl="1"/>
            <a:r>
              <a:rPr lang="en-US" dirty="0"/>
              <a:t>Chain of auto repair shops worldwide.</a:t>
            </a:r>
          </a:p>
          <a:p>
            <a:pPr lvl="1"/>
            <a:r>
              <a:rPr lang="en-US" dirty="0"/>
              <a:t>Mechanics need to </a:t>
            </a:r>
            <a:r>
              <a:rPr lang="en-US" b="1" dirty="0"/>
              <a:t>upload, share, and view videos, manuals, and diagnostic data</a:t>
            </a:r>
            <a:r>
              <a:rPr lang="en-US" dirty="0"/>
              <a:t> in real-time.</a:t>
            </a:r>
          </a:p>
          <a:p>
            <a:pPr lvl="1"/>
            <a:r>
              <a:rPr lang="en-US" dirty="0"/>
              <a:t>Content is large (media-rich) and accessed by multiple employees at the same time.</a:t>
            </a:r>
          </a:p>
          <a:p>
            <a:pPr lvl="1"/>
            <a:r>
              <a:rPr lang="en-US" dirty="0"/>
              <a:t>Files are </a:t>
            </a:r>
            <a:r>
              <a:rPr lang="en-US" b="1" dirty="0"/>
              <a:t>updated collaboratively</a:t>
            </a:r>
            <a:r>
              <a:rPr lang="en-US" dirty="0"/>
              <a:t> (not just static like in S3).</a:t>
            </a:r>
          </a:p>
          <a:p>
            <a:pPr lvl="1"/>
            <a:r>
              <a:rPr lang="en-US" dirty="0"/>
              <a:t>They don’t want to run/maintain complex file servers.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6757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S3 (Object Storage)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Best for </a:t>
            </a:r>
            <a:r>
              <a:rPr lang="en-US" altLang="en-US" b="1" dirty="0">
                <a:latin typeface="Arial" panose="020B0604020202020204" pitchFamily="34" charset="0"/>
              </a:rPr>
              <a:t>static assets</a:t>
            </a:r>
            <a:r>
              <a:rPr lang="en-US" altLang="en-US" dirty="0">
                <a:latin typeface="Arial" panose="020B0604020202020204" pitchFamily="34" charset="0"/>
              </a:rPr>
              <a:t> like website files, media, and backups.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Automatically scales to handle any traffic.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Cost-effective — you pay only for what you use.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Perfect fit for the </a:t>
            </a:r>
            <a:r>
              <a:rPr lang="en-US" altLang="en-US" b="1" dirty="0">
                <a:latin typeface="Arial" panose="020B0604020202020204" pitchFamily="34" charset="0"/>
              </a:rPr>
              <a:t>coffee shop’s static website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8513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EBS (Block Storage)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Provides </a:t>
            </a:r>
            <a:r>
              <a:rPr lang="en-US" altLang="en-US" b="1" dirty="0">
                <a:latin typeface="Arial" panose="020B0604020202020204" pitchFamily="34" charset="0"/>
              </a:rPr>
              <a:t>low-latency, block-level storage</a:t>
            </a:r>
            <a:r>
              <a:rPr lang="en-US" altLang="en-US" dirty="0">
                <a:latin typeface="Arial" panose="020B0604020202020204" pitchFamily="34" charset="0"/>
              </a:rPr>
              <a:t> for EC2 instances.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Critical for </a:t>
            </a:r>
            <a:r>
              <a:rPr lang="en-US" altLang="en-US" b="1" dirty="0">
                <a:latin typeface="Arial" panose="020B0604020202020204" pitchFamily="34" charset="0"/>
              </a:rPr>
              <a:t>databases and transactional workloads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Performance can be optimized by choosing the right </a:t>
            </a:r>
            <a:r>
              <a:rPr lang="en-US" altLang="en-US" b="1" dirty="0">
                <a:latin typeface="Arial" panose="020B0604020202020204" pitchFamily="34" charset="0"/>
              </a:rPr>
              <a:t>volume type</a:t>
            </a:r>
            <a:r>
              <a:rPr lang="en-US" altLang="en-US" dirty="0">
                <a:latin typeface="Arial" panose="020B0604020202020204" pitchFamily="34" charset="0"/>
              </a:rPr>
              <a:t> (e.g., Provisioned IOPS SSD).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Perfect fit for the </a:t>
            </a:r>
            <a:r>
              <a:rPr lang="en-US" altLang="en-US" b="1" dirty="0">
                <a:latin typeface="Arial" panose="020B0604020202020204" pitchFamily="34" charset="0"/>
              </a:rPr>
              <a:t>fitness center’s database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761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EFS (Shared File Storage)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Managed </a:t>
            </a:r>
            <a:r>
              <a:rPr lang="en-US" altLang="en-US" b="1" dirty="0">
                <a:latin typeface="Arial" panose="020B0604020202020204" pitchFamily="34" charset="0"/>
              </a:rPr>
              <a:t>file system</a:t>
            </a:r>
            <a:r>
              <a:rPr lang="en-US" altLang="en-US" dirty="0">
                <a:latin typeface="Arial" panose="020B0604020202020204" pitchFamily="34" charset="0"/>
              </a:rPr>
              <a:t> that multiple EC2 instances can access simultaneously.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Automatically scales up or down to petabytes.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Ideal for </a:t>
            </a:r>
            <a:r>
              <a:rPr lang="en-US" altLang="en-US" b="1" dirty="0">
                <a:latin typeface="Arial" panose="020B0604020202020204" pitchFamily="34" charset="0"/>
              </a:rPr>
              <a:t>shared, collaborative workloads</a:t>
            </a:r>
            <a:r>
              <a:rPr lang="en-US" altLang="en-US" dirty="0">
                <a:latin typeface="Arial" panose="020B0604020202020204" pitchFamily="34" charset="0"/>
              </a:rPr>
              <a:t> with media and real-time access needs.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Perfect fit for the </a:t>
            </a:r>
            <a:r>
              <a:rPr lang="en-US" altLang="en-US" b="1" dirty="0">
                <a:latin typeface="Arial" panose="020B0604020202020204" pitchFamily="34" charset="0"/>
              </a:rPr>
              <a:t>automotive repair shops’ knowledge-sharing platform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301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this module, you learned about the diverse storage options available in AWS, starting with block storage services like Amazon EC2 Instance Store and Amazon EBS.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learned how Amazon EBS provides persistent block storage volumes for EC2 instances, while EC2 instance store offers temporary block-level storage.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learned how to use EBS snapshots and AWS Data Lifecycle Manager for automated backup management and data protection.</a:t>
            </a:r>
          </a:p>
          <a:p>
            <a:r>
              <a:rPr lang="en-US" dirty="0"/>
              <a:t>You then examined Amazon S3, a highly scalable object storage service that serves as a foundation for many cloud storage needs.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delved into file storage solutions, including Amazon Elastic File System (Amazon EFS) for Linux-based workloads and Amazon </a:t>
            </a:r>
            <a:r>
              <a:rPr lang="en-US" dirty="0" err="1"/>
              <a:t>FSx</a:t>
            </a:r>
            <a:r>
              <a:rPr lang="en-US" dirty="0"/>
              <a:t> for Windows, </a:t>
            </a:r>
            <a:r>
              <a:rPr lang="en-US" dirty="0" err="1"/>
              <a:t>Lustre</a:t>
            </a:r>
            <a:r>
              <a:rPr lang="en-US" dirty="0"/>
              <a:t>, </a:t>
            </a:r>
            <a:r>
              <a:rPr lang="en-US" dirty="0" err="1"/>
              <a:t>OpenZFS</a:t>
            </a:r>
            <a:r>
              <a:rPr lang="en-US" dirty="0"/>
              <a:t>, and </a:t>
            </a:r>
            <a:r>
              <a:rPr lang="en-US" dirty="0" err="1"/>
              <a:t>NetAPP</a:t>
            </a:r>
            <a:r>
              <a:rPr lang="en-US" dirty="0"/>
              <a:t> ONTAP file systems. </a:t>
            </a:r>
            <a:endParaRPr lang="en-US" dirty="0" smtClean="0"/>
          </a:p>
          <a:p>
            <a:r>
              <a:rPr lang="en-US" dirty="0" smtClean="0"/>
              <a:t>Finally</a:t>
            </a:r>
            <a:r>
              <a:rPr lang="en-US" dirty="0"/>
              <a:t>, you learned about AWS Storage Gateway, which bridges on-premises environments with AWS storage services to enable hybrid cloud storage architectures.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120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Resources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702815"/>
              </p:ext>
            </p:extLst>
          </p:nvPr>
        </p:nvGraphicFramePr>
        <p:xfrm>
          <a:off x="1008510" y="1448968"/>
          <a:ext cx="2850258" cy="5290160"/>
        </p:xfrm>
        <a:graphic>
          <a:graphicData uri="http://schemas.openxmlformats.org/drawingml/2006/table">
            <a:tbl>
              <a:tblPr/>
              <a:tblGrid>
                <a:gridCol w="1454586"/>
                <a:gridCol w="1395672"/>
              </a:tblGrid>
              <a:tr h="90831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</a:rPr>
                        <a:t>Resource link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Description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2"/>
                        </a:rPr>
                        <a:t>Amazon EC2 Instance Store User </a:t>
                      </a:r>
                      <a:r>
                        <a:rPr lang="en-US" sz="400" dirty="0" smtClean="0">
                          <a:effectLst/>
                          <a:hlinkClick r:id="rId2"/>
                        </a:rPr>
                        <a:t>Guide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solidFill>
                            <a:srgbClr val="0F141A"/>
                          </a:solidFill>
                          <a:effectLst/>
                        </a:rPr>
                        <a:t>A temporary storage option that is directly attached to the host computer of an EC2 instance, providing high-performance but non-persistent storage.</a:t>
                      </a:r>
                      <a:endParaRPr lang="en-US" sz="40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3"/>
                        </a:rPr>
                        <a:t>Amazon Elastic Block Store (Amazon EBS</a:t>
                      </a:r>
                      <a:r>
                        <a:rPr lang="en-US" sz="400" dirty="0" smtClean="0">
                          <a:effectLst/>
                          <a:hlinkClick r:id="rId3"/>
                        </a:rPr>
                        <a:t>)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solidFill>
                            <a:srgbClr val="0F141A"/>
                          </a:solidFill>
                          <a:effectLst/>
                        </a:rPr>
                        <a:t>A scalable block storage service that provides persistent, high-performance volumes you can attach to your EC2 instances for data storage and applications.</a:t>
                      </a:r>
                      <a:endParaRPr lang="en-US" sz="40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9412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4"/>
                        </a:rPr>
                        <a:t>Amazon Elastic Block Store (Amazon EBS) </a:t>
                      </a:r>
                      <a:r>
                        <a:rPr lang="en-US" sz="400" dirty="0" smtClean="0">
                          <a:effectLst/>
                          <a:hlinkClick r:id="rId4"/>
                        </a:rPr>
                        <a:t>FAQ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Frequently asked questions about Amazon EBS.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5"/>
                        </a:rPr>
                        <a:t>Amazon EBS Snapshots User </a:t>
                      </a:r>
                      <a:r>
                        <a:rPr lang="en-US" sz="400" dirty="0" smtClean="0">
                          <a:effectLst/>
                          <a:hlinkClick r:id="rId5"/>
                        </a:rPr>
                        <a:t>Guide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solidFill>
                            <a:srgbClr val="0F141A"/>
                          </a:solidFill>
                          <a:effectLst/>
                        </a:rPr>
                        <a:t>EBS Snapshots are point-in-time backups of your cloud storage volumes, making it possible to protect data and restore it when needed.</a:t>
                      </a:r>
                      <a:endParaRPr lang="en-US" sz="40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9412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6"/>
                        </a:rPr>
                        <a:t>Amazon Data Lifecycle Manager User </a:t>
                      </a:r>
                      <a:r>
                        <a:rPr lang="en-US" sz="400" dirty="0" smtClean="0">
                          <a:effectLst/>
                          <a:hlinkClick r:id="rId6"/>
                        </a:rPr>
                        <a:t>Guide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service that streamlines the creation, retention, and deletion of Amazon EBS snapshots.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7"/>
                        </a:rPr>
                        <a:t>Amazon Simple Storage Service (Amazon S3</a:t>
                      </a:r>
                      <a:r>
                        <a:rPr lang="en-US" sz="400" dirty="0" smtClean="0">
                          <a:effectLst/>
                          <a:hlinkClick r:id="rId7"/>
                        </a:rPr>
                        <a:t>)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scalable cloud storage service that can store and retrieve any amount of data from anywhere on the web.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9412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8"/>
                        </a:rPr>
                        <a:t>Amazon Simple Storage Service (Amazon S3) </a:t>
                      </a:r>
                      <a:r>
                        <a:rPr lang="en-US" sz="400" dirty="0" smtClean="0">
                          <a:effectLst/>
                          <a:hlinkClick r:id="rId8"/>
                        </a:rPr>
                        <a:t>FAQ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Frequently asked questions about Amazon S3.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9"/>
                        </a:rPr>
                        <a:t>Amazon S3 Storage </a:t>
                      </a:r>
                      <a:r>
                        <a:rPr lang="en-US" sz="400" dirty="0" smtClean="0">
                          <a:effectLst/>
                          <a:hlinkClick r:id="rId9"/>
                        </a:rPr>
                        <a:t>Classes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Amazon S3 offers various storage classes, from high-performance frequent access to cost-effective archival options, tailored to different data retrieval needs and budget constraints.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0"/>
                        </a:rPr>
                        <a:t>Amazon S3 Versioning User </a:t>
                      </a:r>
                      <a:r>
                        <a:rPr lang="en-US" sz="400" dirty="0" smtClean="0">
                          <a:effectLst/>
                          <a:hlinkClick r:id="rId10"/>
                        </a:rPr>
                        <a:t>Guide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Amazon S3 versioning keeps multiple variants of objects, offering recovery from unintended deletions or modifications by preserving every update to your files.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1"/>
                        </a:rPr>
                        <a:t>Amazon S3 Buckets User </a:t>
                      </a:r>
                      <a:r>
                        <a:rPr lang="en-US" sz="400" dirty="0" smtClean="0">
                          <a:effectLst/>
                          <a:hlinkClick r:id="rId11"/>
                        </a:rPr>
                        <a:t>Guide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S3 buckets are cloud storage containers that securely hold various types of data, allowing convenient access and management through the AWS online infrastructure.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2"/>
                        </a:rPr>
                        <a:t>Amazon Elastic File System (Amazon EFS</a:t>
                      </a:r>
                      <a:r>
                        <a:rPr lang="en-US" sz="400" dirty="0" smtClean="0">
                          <a:effectLst/>
                          <a:hlinkClick r:id="rId12"/>
                        </a:rPr>
                        <a:t>)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scalable, fully-managed file storage service that lets multiple AWS resources access shared data simultaneously without capacity planning.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9412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3"/>
                        </a:rPr>
                        <a:t>Amazon Elastic File System (Amazon EFS) </a:t>
                      </a:r>
                      <a:r>
                        <a:rPr lang="en-US" sz="400" dirty="0" smtClean="0">
                          <a:effectLst/>
                          <a:hlinkClick r:id="rId13"/>
                        </a:rPr>
                        <a:t>FAQ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Frequently asked questions about Amazon EFS.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4"/>
                        </a:rPr>
                        <a:t>Amazon </a:t>
                      </a:r>
                      <a:r>
                        <a:rPr lang="en-US" sz="400" dirty="0" err="1" smtClean="0">
                          <a:effectLst/>
                          <a:hlinkClick r:id="rId14"/>
                        </a:rPr>
                        <a:t>FSx</a:t>
                      </a:r>
                      <a:r>
                        <a:rPr lang="en-US" sz="400" dirty="0" smtClean="0">
                          <a:effectLst/>
                          <a:hlinkClick r:id="rId14"/>
                        </a:rPr>
                        <a:t>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fully managed file storage service that lets you launch and run file systems like Windows File Server, Lustre, NetApp ONTAP, and OpenZFS in the AWS cloud.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5"/>
                        </a:rPr>
                        <a:t>Amazon </a:t>
                      </a:r>
                      <a:r>
                        <a:rPr lang="en-US" sz="400" dirty="0" err="1">
                          <a:effectLst/>
                          <a:hlinkClick r:id="rId15"/>
                        </a:rPr>
                        <a:t>FSx</a:t>
                      </a:r>
                      <a:r>
                        <a:rPr lang="en-US" sz="400" dirty="0">
                          <a:effectLst/>
                          <a:hlinkClick r:id="rId15"/>
                        </a:rPr>
                        <a:t> for Windows File </a:t>
                      </a:r>
                      <a:r>
                        <a:rPr lang="en-US" sz="400" dirty="0" smtClean="0">
                          <a:effectLst/>
                          <a:hlinkClick r:id="rId15"/>
                        </a:rPr>
                        <a:t>Server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An Amazon FSx option providing reliable, high-performance file storage compatible with Windows applications in the AWS Cloud.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6"/>
                        </a:rPr>
                        <a:t>Amazon </a:t>
                      </a:r>
                      <a:r>
                        <a:rPr lang="en-US" sz="400" dirty="0" err="1">
                          <a:effectLst/>
                          <a:hlinkClick r:id="rId16"/>
                        </a:rPr>
                        <a:t>FSx</a:t>
                      </a:r>
                      <a:r>
                        <a:rPr lang="en-US" sz="400" dirty="0">
                          <a:effectLst/>
                          <a:hlinkClick r:id="rId16"/>
                        </a:rPr>
                        <a:t> for NetApp </a:t>
                      </a:r>
                      <a:r>
                        <a:rPr lang="en-US" sz="400" dirty="0" smtClean="0">
                          <a:effectLst/>
                          <a:hlinkClick r:id="rId16"/>
                        </a:rPr>
                        <a:t>ONTAP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An Amazon FSx option providing file storage with advanced data management capabilities and compatibility with both Windows and Linux workloads on AWS.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7"/>
                        </a:rPr>
                        <a:t>Amazon </a:t>
                      </a:r>
                      <a:r>
                        <a:rPr lang="en-US" sz="400" dirty="0" err="1">
                          <a:effectLst/>
                          <a:hlinkClick r:id="rId17"/>
                        </a:rPr>
                        <a:t>FSx</a:t>
                      </a:r>
                      <a:r>
                        <a:rPr lang="en-US" sz="400" dirty="0">
                          <a:effectLst/>
                          <a:hlinkClick r:id="rId17"/>
                        </a:rPr>
                        <a:t> for </a:t>
                      </a:r>
                      <a:r>
                        <a:rPr lang="en-US" sz="400" dirty="0" err="1" smtClean="0">
                          <a:effectLst/>
                          <a:hlinkClick r:id="rId17"/>
                        </a:rPr>
                        <a:t>OpenZFS</a:t>
                      </a:r>
                      <a:r>
                        <a:rPr lang="en-US" sz="400" dirty="0" smtClean="0">
                          <a:effectLst/>
                          <a:hlinkClick r:id="rId17"/>
                        </a:rPr>
                        <a:t>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solidFill>
                            <a:srgbClr val="0F141A"/>
                          </a:solidFill>
                          <a:effectLst/>
                        </a:rPr>
                        <a:t>An Amazon FSx option that provides high-performance, scalable storage using the popular open-source ZFS file system.</a:t>
                      </a:r>
                      <a:endParaRPr lang="en-US" sz="40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8"/>
                        </a:rPr>
                        <a:t>Amazon </a:t>
                      </a:r>
                      <a:r>
                        <a:rPr lang="en-US" sz="400" dirty="0" err="1">
                          <a:effectLst/>
                          <a:hlinkClick r:id="rId18"/>
                        </a:rPr>
                        <a:t>FSx</a:t>
                      </a:r>
                      <a:r>
                        <a:rPr lang="en-US" sz="400" dirty="0">
                          <a:effectLst/>
                          <a:hlinkClick r:id="rId18"/>
                        </a:rPr>
                        <a:t> for </a:t>
                      </a:r>
                      <a:r>
                        <a:rPr lang="en-US" sz="400" dirty="0" err="1" smtClean="0">
                          <a:effectLst/>
                          <a:hlinkClick r:id="rId18"/>
                        </a:rPr>
                        <a:t>Lustre</a:t>
                      </a:r>
                      <a:r>
                        <a:rPr lang="en-US" sz="400" dirty="0" smtClean="0">
                          <a:effectLst/>
                          <a:hlinkClick r:id="rId18"/>
                        </a:rPr>
                        <a:t>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An Amazon FSx option designed to accelerate workloads by providing fast data access for compute-intensive applications in AWS.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19"/>
                        </a:rPr>
                        <a:t>AWS Storage </a:t>
                      </a:r>
                      <a:r>
                        <a:rPr lang="en-US" sz="400" dirty="0" smtClean="0">
                          <a:effectLst/>
                          <a:hlinkClick r:id="rId19"/>
                        </a:rPr>
                        <a:t>Gateway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hybrid cloud storage service that provides seamless and secure integration between on-premises environment and AWS cloud storage services.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799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20"/>
                        </a:rPr>
                        <a:t>Amazon S3 File </a:t>
                      </a:r>
                      <a:r>
                        <a:rPr lang="en-US" sz="400" dirty="0" smtClean="0">
                          <a:effectLst/>
                          <a:hlinkClick r:id="rId20"/>
                        </a:rPr>
                        <a:t>Gateway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Storage Gateway configuration that provides local file access to S3 objects while caching frequently accessed data locally for faster retrieval.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21"/>
                        </a:rPr>
                        <a:t>Tape </a:t>
                      </a:r>
                      <a:r>
                        <a:rPr lang="en-US" sz="400" dirty="0" smtClean="0">
                          <a:effectLst/>
                          <a:hlinkClick r:id="rId21"/>
                        </a:rPr>
                        <a:t>Gateway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>
                          <a:effectLst/>
                        </a:rPr>
                        <a:t>A Storage Gateway configuration used for backing up data to Amazon S3 while maintaining compatibility with existing tape-based backup applications.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6573"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  <a:hlinkClick r:id="rId22"/>
                        </a:rPr>
                        <a:t>Volume </a:t>
                      </a:r>
                      <a:r>
                        <a:rPr lang="en-US" sz="400" dirty="0" smtClean="0">
                          <a:effectLst/>
                          <a:hlinkClick r:id="rId22"/>
                        </a:rPr>
                        <a:t>Gateway </a:t>
                      </a:r>
                      <a:endParaRPr lang="en-US" sz="400" dirty="0">
                        <a:effectLst/>
                      </a:endParaRP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" dirty="0">
                          <a:effectLst/>
                        </a:rPr>
                        <a:t>A Storage Gateway configuration that provides iSCSI block storage volumes to on-premises applications, offering both cached and stored modes.</a:t>
                      </a:r>
                    </a:p>
                  </a:txBody>
                  <a:tcPr marL="19779" marR="19779" marT="9889" marB="9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19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14128</TotalTime>
  <Words>6008</Words>
  <Application>Microsoft Office PowerPoint</Application>
  <PresentationFormat>Widescreen</PresentationFormat>
  <Paragraphs>620</Paragraphs>
  <Slides>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3" baseType="lpstr">
      <vt:lpstr>Arial</vt:lpstr>
      <vt:lpstr>Calibri</vt:lpstr>
      <vt:lpstr>Calibri Light</vt:lpstr>
      <vt:lpstr>Times New Roman</vt:lpstr>
      <vt:lpstr>Office Theme</vt:lpstr>
      <vt:lpstr>Module 6</vt:lpstr>
      <vt:lpstr>Outline</vt:lpstr>
      <vt:lpstr>Introduction to Storage</vt:lpstr>
      <vt:lpstr>In this lesson, you will learn:</vt:lpstr>
      <vt:lpstr>AWS cloud storage types</vt:lpstr>
      <vt:lpstr>Block storage</vt:lpstr>
      <vt:lpstr>Object storage</vt:lpstr>
      <vt:lpstr>File storage</vt:lpstr>
      <vt:lpstr>Additional storage services</vt:lpstr>
      <vt:lpstr>AWS shared responsibility for storage services</vt:lpstr>
      <vt:lpstr>AWS shared responsibility for storage services</vt:lpstr>
      <vt:lpstr>AWS shared responsibility for storage services</vt:lpstr>
      <vt:lpstr>EC2 Instance Store and Amazon  Elastic Block Store (Amazon EBS)</vt:lpstr>
      <vt:lpstr>In this lesson, you will learn:</vt:lpstr>
      <vt:lpstr>Amazon EC2 instance store</vt:lpstr>
      <vt:lpstr>Amazon EC2 instance store</vt:lpstr>
      <vt:lpstr>Amazon EC2 instance store</vt:lpstr>
      <vt:lpstr>Amazon Elastic Block Store (EBS)</vt:lpstr>
      <vt:lpstr>Amazon Elastic Block Store (EBS)</vt:lpstr>
      <vt:lpstr>Amazon Elastic Block Store (EBS)</vt:lpstr>
      <vt:lpstr>Amazon Elastic Block Store (EBS)</vt:lpstr>
      <vt:lpstr>Amazon EBS Data Lifecycle</vt:lpstr>
      <vt:lpstr>In this lesson, you will learn:</vt:lpstr>
      <vt:lpstr>Amazon EBS Data Lifecycle</vt:lpstr>
      <vt:lpstr>EBS Snapshots</vt:lpstr>
      <vt:lpstr>Working with EBS snapshots</vt:lpstr>
      <vt:lpstr>Working with EBS snapshots</vt:lpstr>
      <vt:lpstr>Working with EBS snapshots</vt:lpstr>
      <vt:lpstr>Benefits</vt:lpstr>
      <vt:lpstr>Amazon Data Lifecycle Manager</vt:lpstr>
      <vt:lpstr>Amazon Data Lifecycle Manager Workflow</vt:lpstr>
      <vt:lpstr>Amazon Simple Storage Service (Amazon S3)</vt:lpstr>
      <vt:lpstr>In this lesson, you will learn:</vt:lpstr>
      <vt:lpstr>Amazon Simple Storage Service (S3)</vt:lpstr>
      <vt:lpstr>Amazon Simple Storage Service (S3)</vt:lpstr>
      <vt:lpstr>Elements of S3</vt:lpstr>
      <vt:lpstr>PowerPoint Presentation</vt:lpstr>
      <vt:lpstr>Elements </vt:lpstr>
      <vt:lpstr>S3 Benefits</vt:lpstr>
      <vt:lpstr>Security and privacy management</vt:lpstr>
      <vt:lpstr>S3 security management features</vt:lpstr>
      <vt:lpstr>Amazon S3 Storage Classes and S3 Lifecycle</vt:lpstr>
      <vt:lpstr>In this lesson, you will learn:</vt:lpstr>
      <vt:lpstr>Amazon S3 storage classes and use cases</vt:lpstr>
      <vt:lpstr>Amazon S3 storage classes and use cases</vt:lpstr>
      <vt:lpstr>Amazon S3 storage classes and use cases</vt:lpstr>
      <vt:lpstr>Amazon S3 storage classes and use cases</vt:lpstr>
      <vt:lpstr>S3 Lifecycle</vt:lpstr>
      <vt:lpstr>Use cases</vt:lpstr>
      <vt:lpstr>Use case Example</vt:lpstr>
      <vt:lpstr>Amazon S3 Demonstration</vt:lpstr>
      <vt:lpstr>In this lesson, you will learn:</vt:lpstr>
      <vt:lpstr>About the Demo</vt:lpstr>
      <vt:lpstr>Amazon S3 Basics – Demo Summary</vt:lpstr>
      <vt:lpstr>Amazon S3 Basics – Demo Summary</vt:lpstr>
      <vt:lpstr>Amazon Elastic File System (Amazon EFS)</vt:lpstr>
      <vt:lpstr>In this lesson, you will learn:</vt:lpstr>
      <vt:lpstr>Amazon Elastic File System (EFS)</vt:lpstr>
      <vt:lpstr>Amazon EFS benefits</vt:lpstr>
      <vt:lpstr>Amazon EFS storage classes</vt:lpstr>
      <vt:lpstr>Amazon EFS storage classes</vt:lpstr>
      <vt:lpstr>Amazon EFS data lifecycle</vt:lpstr>
      <vt:lpstr>Amazon EFS data lifecycle</vt:lpstr>
      <vt:lpstr>Amazon EFS data lifecycle</vt:lpstr>
      <vt:lpstr>Amazon FSx</vt:lpstr>
      <vt:lpstr>In this lesson, you will learn:</vt:lpstr>
      <vt:lpstr>Amazon FSx</vt:lpstr>
      <vt:lpstr>Amazon FSx benefits</vt:lpstr>
      <vt:lpstr>Amazon FSx file systems</vt:lpstr>
      <vt:lpstr>Amazon FSx for Windows File Server</vt:lpstr>
      <vt:lpstr>Amazon FSx for NetApp ONTAP</vt:lpstr>
      <vt:lpstr>Amazon FSx for OpenZFS</vt:lpstr>
      <vt:lpstr>Amazon FSx for Lustre</vt:lpstr>
      <vt:lpstr>AWS Storage Gateway</vt:lpstr>
      <vt:lpstr>In this lesson, you will learn:</vt:lpstr>
      <vt:lpstr>AWS Storage Gateway</vt:lpstr>
      <vt:lpstr>Benefits</vt:lpstr>
      <vt:lpstr>Gateway types</vt:lpstr>
      <vt:lpstr>Amazon S3 File Gateway</vt:lpstr>
      <vt:lpstr>Volume Gateway</vt:lpstr>
      <vt:lpstr>Tape Gateway</vt:lpstr>
      <vt:lpstr>AWS Elastic Disaster Recovery</vt:lpstr>
      <vt:lpstr>In this lesson, you will learn:</vt:lpstr>
      <vt:lpstr>AWS Elastic Disaster Recovery</vt:lpstr>
      <vt:lpstr>Benefits</vt:lpstr>
      <vt:lpstr>Use cases</vt:lpstr>
      <vt:lpstr>Use cases</vt:lpstr>
      <vt:lpstr>Use cases</vt:lpstr>
      <vt:lpstr>Comparing Storage Services</vt:lpstr>
      <vt:lpstr>In this lesson, you will learn:</vt:lpstr>
      <vt:lpstr>The Coffee Shop Website</vt:lpstr>
      <vt:lpstr>The Fitness Center Database</vt:lpstr>
      <vt:lpstr>The Automotive Repair Shops</vt:lpstr>
      <vt:lpstr>Amazon S3 (Object Storage)</vt:lpstr>
      <vt:lpstr>Amazon EBS (Block Storage)</vt:lpstr>
      <vt:lpstr>Amazon EFS (Shared File Storage)</vt:lpstr>
      <vt:lpstr>Recap</vt:lpstr>
      <vt:lpstr>Resources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</dc:title>
  <dc:creator>Microsoft account</dc:creator>
  <cp:lastModifiedBy>Microsoft account</cp:lastModifiedBy>
  <cp:revision>151</cp:revision>
  <dcterms:created xsi:type="dcterms:W3CDTF">2025-08-14T20:19:42Z</dcterms:created>
  <dcterms:modified xsi:type="dcterms:W3CDTF">2025-09-01T08:16:40Z</dcterms:modified>
</cp:coreProperties>
</file>