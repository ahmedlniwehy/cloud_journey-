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68" r:id="rId14"/>
    <p:sldId id="269" r:id="rId15"/>
    <p:sldId id="270" r:id="rId16"/>
    <p:sldId id="276" r:id="rId17"/>
    <p:sldId id="274" r:id="rId18"/>
    <p:sldId id="275" r:id="rId19"/>
    <p:sldId id="277" r:id="rId20"/>
    <p:sldId id="278" r:id="rId21"/>
    <p:sldId id="279" r:id="rId22"/>
    <p:sldId id="280" r:id="rId23"/>
    <p:sldId id="281" r:id="rId24"/>
    <p:sldId id="282" r:id="rId25"/>
    <p:sldId id="283" r:id="rId26"/>
    <p:sldId id="271" r:id="rId27"/>
    <p:sldId id="272" r:id="rId28"/>
    <p:sldId id="27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60"/>
  </p:normalViewPr>
  <p:slideViewPr>
    <p:cSldViewPr snapToGrid="0">
      <p:cViewPr varScale="1">
        <p:scale>
          <a:sx n="84" d="100"/>
          <a:sy n="84" d="100"/>
        </p:scale>
        <p:origin x="6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5C79E1-D22D-419B-9EBA-021342AA02F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226225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79E1-D22D-419B-9EBA-021342AA02F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1012543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5C79E1-D22D-419B-9EBA-021342AA02F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2298972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5C79E1-D22D-419B-9EBA-021342AA02FD}"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350653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5C79E1-D22D-419B-9EBA-021342AA02FD}"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4283654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5C79E1-D22D-419B-9EBA-021342AA02FD}"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308349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5C79E1-D22D-419B-9EBA-021342AA02FD}"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1866454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C79E1-D22D-419B-9EBA-021342AA02FD}"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2532332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C79E1-D22D-419B-9EBA-021342AA02FD}"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2383572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79E1-D22D-419B-9EBA-021342AA02F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1507784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79E1-D22D-419B-9EBA-021342AA02F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D1F56-1E3A-4D9A-BBF5-B7A8C0550FC4}" type="slidenum">
              <a:rPr lang="en-US" smtClean="0"/>
              <a:t>‹#›</a:t>
            </a:fld>
            <a:endParaRPr lang="en-US"/>
          </a:p>
        </p:txBody>
      </p:sp>
    </p:spTree>
    <p:extLst>
      <p:ext uri="{BB962C8B-B14F-4D97-AF65-F5344CB8AC3E}">
        <p14:creationId xmlns:p14="http://schemas.microsoft.com/office/powerpoint/2010/main" val="1310445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5C79E1-D22D-419B-9EBA-021342AA02FD}" type="datetimeFigureOut">
              <a:rPr lang="en-US" smtClean="0"/>
              <a:t>8/26/2025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4D1F56-1E3A-4D9A-BBF5-B7A8C0550FC4}" type="slidenum">
              <a:rPr lang="en-US" smtClean="0"/>
              <a:t>‹#›</a:t>
            </a:fld>
            <a:endParaRPr lang="en-US"/>
          </a:p>
        </p:txBody>
      </p:sp>
    </p:spTree>
    <p:extLst>
      <p:ext uri="{BB962C8B-B14F-4D97-AF65-F5344CB8AC3E}">
        <p14:creationId xmlns:p14="http://schemas.microsoft.com/office/powerpoint/2010/main" val="2297986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aws.amazon.com/edge/?nc2=type_a" TargetMode="External"/><Relationship Id="rId2" Type="http://schemas.openxmlformats.org/officeDocument/2006/relationships/hyperlink" Target="https://aws.amazon.com/about-aws/global-infrastructure/" TargetMode="External"/><Relationship Id="rId1" Type="http://schemas.openxmlformats.org/officeDocument/2006/relationships/slideLayout" Target="../slideLayouts/slideLayout2.xml"/><Relationship Id="rId4" Type="http://schemas.openxmlformats.org/officeDocument/2006/relationships/hyperlink" Target="https://aws.amazon.com/cloudform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Module 4</a:t>
            </a:r>
            <a:endParaRPr lang="en-US" b="1" dirty="0"/>
          </a:p>
        </p:txBody>
      </p:sp>
      <p:sp>
        <p:nvSpPr>
          <p:cNvPr id="3" name="Subtitle 2"/>
          <p:cNvSpPr>
            <a:spLocks noGrp="1"/>
          </p:cNvSpPr>
          <p:nvPr>
            <p:ph type="subTitle" idx="1"/>
          </p:nvPr>
        </p:nvSpPr>
        <p:spPr/>
        <p:txBody>
          <a:bodyPr/>
          <a:lstStyle/>
          <a:p>
            <a:r>
              <a:rPr lang="en-US" b="1" dirty="0" smtClean="0"/>
              <a:t>Going Global</a:t>
            </a:r>
            <a:endParaRPr lang="en-US" b="1" dirty="0"/>
          </a:p>
        </p:txBody>
      </p:sp>
    </p:spTree>
    <p:extLst>
      <p:ext uri="{BB962C8B-B14F-4D97-AF65-F5344CB8AC3E}">
        <p14:creationId xmlns:p14="http://schemas.microsoft.com/office/powerpoint/2010/main" val="1907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Outline</a:t>
            </a:r>
            <a:endParaRPr lang="en-US" b="1" dirty="0"/>
          </a:p>
        </p:txBody>
      </p:sp>
      <p:sp>
        <p:nvSpPr>
          <p:cNvPr id="3" name="Content Placeholder 2"/>
          <p:cNvSpPr>
            <a:spLocks noGrp="1"/>
          </p:cNvSpPr>
          <p:nvPr>
            <p:ph idx="1"/>
          </p:nvPr>
        </p:nvSpPr>
        <p:spPr/>
        <p:txBody>
          <a:bodyPr/>
          <a:lstStyle/>
          <a:p>
            <a:pPr marL="0" indent="0">
              <a:buNone/>
            </a:pPr>
            <a:r>
              <a:rPr lang="en-US" b="1" dirty="0" smtClean="0"/>
              <a:t>1. MODULE 4 INTRODUCTION</a:t>
            </a:r>
          </a:p>
          <a:p>
            <a:pPr lvl="1"/>
            <a:r>
              <a:rPr lang="en-US" dirty="0" smtClean="0">
                <a:effectLst/>
              </a:rPr>
              <a:t>Introduction to Going Global</a:t>
            </a:r>
          </a:p>
          <a:p>
            <a:pPr marL="0" indent="0">
              <a:buNone/>
            </a:pPr>
            <a:r>
              <a:rPr lang="en-US" b="1" dirty="0" smtClean="0"/>
              <a:t>2. AWS GLOBAL INFRASTRUCTURE</a:t>
            </a:r>
          </a:p>
          <a:p>
            <a:pPr lvl="1"/>
            <a:r>
              <a:rPr lang="en-US" dirty="0" smtClean="0">
                <a:effectLst/>
              </a:rPr>
              <a:t>Choosing AWS Regions</a:t>
            </a:r>
          </a:p>
          <a:p>
            <a:pPr lvl="1"/>
            <a:r>
              <a:rPr lang="en-US" dirty="0" smtClean="0">
                <a:effectLst/>
              </a:rPr>
              <a:t>Diving Deeper into AWS Global Infrastructure</a:t>
            </a:r>
          </a:p>
          <a:p>
            <a:pPr lvl="1"/>
            <a:r>
              <a:rPr lang="en-US" dirty="0" smtClean="0">
                <a:effectLst/>
              </a:rPr>
              <a:t>Infrastructure and Automation</a:t>
            </a:r>
          </a:p>
          <a:p>
            <a:pPr marL="0" indent="0">
              <a:buNone/>
            </a:pPr>
            <a:endParaRPr lang="en-US" dirty="0"/>
          </a:p>
        </p:txBody>
      </p:sp>
    </p:spTree>
    <p:extLst>
      <p:ext uri="{BB962C8B-B14F-4D97-AF65-F5344CB8AC3E}">
        <p14:creationId xmlns:p14="http://schemas.microsoft.com/office/powerpoint/2010/main" val="2256031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550152" cy="1325563"/>
          </a:xfrm>
        </p:spPr>
        <p:txBody>
          <a:bodyPr/>
          <a:lstStyle/>
          <a:p>
            <a:r>
              <a:rPr lang="en-US" b="1" dirty="0" smtClean="0"/>
              <a:t>Introduction to Going Global</a:t>
            </a:r>
            <a:endParaRPr lang="en-US" dirty="0"/>
          </a:p>
        </p:txBody>
      </p:sp>
      <p:sp>
        <p:nvSpPr>
          <p:cNvPr id="3" name="Content Placeholder 2"/>
          <p:cNvSpPr>
            <a:spLocks noGrp="1"/>
          </p:cNvSpPr>
          <p:nvPr>
            <p:ph idx="1"/>
          </p:nvPr>
        </p:nvSpPr>
        <p:spPr/>
        <p:txBody>
          <a:bodyPr>
            <a:normAutofit lnSpcReduction="10000"/>
          </a:bodyPr>
          <a:lstStyle/>
          <a:p>
            <a:r>
              <a:rPr lang="en-US" dirty="0"/>
              <a:t>You've been introduced to some foundational elements of the AWS Global Infrastructure, such as AWS Regions and Availability Zones (AZs</a:t>
            </a:r>
            <a:r>
              <a:rPr lang="en-US" dirty="0" smtClean="0"/>
              <a:t>).</a:t>
            </a:r>
          </a:p>
          <a:p>
            <a:r>
              <a:rPr lang="en-US" dirty="0" smtClean="0"/>
              <a:t>In </a:t>
            </a:r>
            <a:r>
              <a:rPr lang="en-US" dirty="0"/>
              <a:t>the following lessons, you will learn even more about AWS infrastructure</a:t>
            </a:r>
            <a:r>
              <a:rPr lang="en-US" dirty="0" smtClean="0"/>
              <a:t>.</a:t>
            </a:r>
          </a:p>
          <a:p>
            <a:r>
              <a:rPr lang="en-US" dirty="0" smtClean="0"/>
              <a:t>Concepts </a:t>
            </a:r>
            <a:r>
              <a:rPr lang="en-US" dirty="0"/>
              <a:t>covered in these lessons include how to choose a Region, the value of edge locations, and how to use services such as AWS </a:t>
            </a:r>
            <a:r>
              <a:rPr lang="en-US" b="1" dirty="0" err="1"/>
              <a:t>CloudFormation</a:t>
            </a:r>
            <a:r>
              <a:rPr lang="en-US" dirty="0"/>
              <a:t> to streamline and automate deployment</a:t>
            </a:r>
            <a:r>
              <a:rPr lang="en-US" dirty="0" smtClean="0"/>
              <a:t>.</a:t>
            </a:r>
          </a:p>
          <a:p>
            <a:r>
              <a:rPr lang="en-US" dirty="0" smtClean="0"/>
              <a:t>In </a:t>
            </a:r>
            <a:r>
              <a:rPr lang="en-US" dirty="0"/>
              <a:t>addition to achieving high availability, these components of the AWS Global Infrastructure can help your business achieve benefits like elasticity and agility.</a:t>
            </a:r>
          </a:p>
        </p:txBody>
      </p:sp>
    </p:spTree>
    <p:extLst>
      <p:ext uri="{BB962C8B-B14F-4D97-AF65-F5344CB8AC3E}">
        <p14:creationId xmlns:p14="http://schemas.microsoft.com/office/powerpoint/2010/main" val="1856485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Review basic components of the AWS Global Infrastructure.</a:t>
            </a:r>
          </a:p>
          <a:p>
            <a:endParaRPr lang="en-US" dirty="0"/>
          </a:p>
        </p:txBody>
      </p:sp>
    </p:spTree>
    <p:extLst>
      <p:ext uri="{BB962C8B-B14F-4D97-AF65-F5344CB8AC3E}">
        <p14:creationId xmlns:p14="http://schemas.microsoft.com/office/powerpoint/2010/main" val="2889241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Selecting AWS Regions</a:t>
            </a:r>
            <a:endParaRPr lang="en-US" b="1" dirty="0"/>
          </a:p>
        </p:txBody>
      </p:sp>
      <p:sp>
        <p:nvSpPr>
          <p:cNvPr id="3" name="Content Placeholder 2"/>
          <p:cNvSpPr>
            <a:spLocks noGrp="1"/>
          </p:cNvSpPr>
          <p:nvPr>
            <p:ph idx="1"/>
          </p:nvPr>
        </p:nvSpPr>
        <p:spPr/>
        <p:txBody>
          <a:bodyPr/>
          <a:lstStyle/>
          <a:p>
            <a:r>
              <a:rPr lang="en-US" dirty="0" smtClean="0"/>
              <a:t>When choosing a Region or set of Regions for your workloads, consider:</a:t>
            </a:r>
          </a:p>
          <a:p>
            <a:pPr lvl="1"/>
            <a:r>
              <a:rPr lang="en-US" b="1" dirty="0" smtClean="0"/>
              <a:t>Proximity to end users</a:t>
            </a:r>
            <a:r>
              <a:rPr lang="en-US" dirty="0" smtClean="0"/>
              <a:t> – reduces latency.</a:t>
            </a:r>
          </a:p>
          <a:p>
            <a:pPr lvl="1"/>
            <a:r>
              <a:rPr lang="en-US" b="1" dirty="0" smtClean="0"/>
              <a:t>Compliance requirements</a:t>
            </a:r>
            <a:r>
              <a:rPr lang="en-US" dirty="0" smtClean="0"/>
              <a:t> – meet local data residency laws.</a:t>
            </a:r>
          </a:p>
          <a:p>
            <a:pPr lvl="1"/>
            <a:r>
              <a:rPr lang="en-US" b="1" dirty="0" smtClean="0"/>
              <a:t>Service availability</a:t>
            </a:r>
            <a:r>
              <a:rPr lang="en-US" dirty="0" smtClean="0"/>
              <a:t> – some AWS services are Region-specific.</a:t>
            </a:r>
          </a:p>
          <a:p>
            <a:pPr lvl="1"/>
            <a:r>
              <a:rPr lang="en-US" b="1" dirty="0" smtClean="0"/>
              <a:t>Cost factors</a:t>
            </a:r>
            <a:r>
              <a:rPr lang="en-US" dirty="0" smtClean="0"/>
              <a:t> – pricing varies by Region.</a:t>
            </a:r>
          </a:p>
          <a:p>
            <a:pPr lvl="1"/>
            <a:r>
              <a:rPr lang="en-US" b="1" dirty="0" smtClean="0"/>
              <a:t>Disaster recovery &amp; redundancy</a:t>
            </a:r>
            <a:r>
              <a:rPr lang="en-US" dirty="0" smtClean="0"/>
              <a:t> – deploy across multiple Regions for resilience.</a:t>
            </a:r>
          </a:p>
          <a:p>
            <a:endParaRPr lang="en-US" dirty="0"/>
          </a:p>
        </p:txBody>
      </p:sp>
    </p:spTree>
    <p:extLst>
      <p:ext uri="{BB962C8B-B14F-4D97-AF65-F5344CB8AC3E}">
        <p14:creationId xmlns:p14="http://schemas.microsoft.com/office/powerpoint/2010/main" val="1859440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Edge Locations</a:t>
            </a:r>
            <a:endParaRPr lang="en-US" b="1" dirty="0"/>
          </a:p>
        </p:txBody>
      </p:sp>
      <p:sp>
        <p:nvSpPr>
          <p:cNvPr id="3" name="Content Placeholder 2"/>
          <p:cNvSpPr>
            <a:spLocks noGrp="1"/>
          </p:cNvSpPr>
          <p:nvPr>
            <p:ph idx="1"/>
          </p:nvPr>
        </p:nvSpPr>
        <p:spPr/>
        <p:txBody>
          <a:bodyPr/>
          <a:lstStyle/>
          <a:p>
            <a:r>
              <a:rPr kumimoji="0" lang="en-US" altLang="en-US" b="0" i="0" u="none" strike="noStrike" cap="none" normalizeH="0" baseline="0" dirty="0" smtClean="0">
                <a:ln>
                  <a:noFill/>
                </a:ln>
                <a:solidFill>
                  <a:schemeClr val="tx1"/>
                </a:solidFill>
                <a:effectLst/>
                <a:latin typeface="Arial" panose="020B0604020202020204" pitchFamily="34" charset="0"/>
              </a:rPr>
              <a:t>Provide localized delivery of frequently accessed content.</a:t>
            </a:r>
          </a:p>
          <a:p>
            <a:r>
              <a:rPr kumimoji="0" lang="en-US" altLang="en-US" b="0" i="0" u="none" strike="noStrike" cap="none" normalizeH="0" baseline="0" dirty="0" smtClean="0">
                <a:ln>
                  <a:noFill/>
                </a:ln>
                <a:solidFill>
                  <a:schemeClr val="tx1"/>
                </a:solidFill>
                <a:effectLst/>
                <a:latin typeface="Arial" panose="020B0604020202020204" pitchFamily="34" charset="0"/>
              </a:rPr>
              <a:t>Reduce latency by caching static resources (e.g., images, videos).</a:t>
            </a:r>
          </a:p>
          <a:p>
            <a:r>
              <a:rPr kumimoji="0" lang="en-US" altLang="en-US" b="0" i="0" u="none" strike="noStrike" cap="none" normalizeH="0" baseline="0" dirty="0" smtClean="0">
                <a:ln>
                  <a:noFill/>
                </a:ln>
                <a:solidFill>
                  <a:schemeClr val="tx1"/>
                </a:solidFill>
                <a:effectLst/>
                <a:latin typeface="Arial" panose="020B0604020202020204" pitchFamily="34" charset="0"/>
              </a:rPr>
              <a:t>Support AWS services like </a:t>
            </a:r>
            <a:r>
              <a:rPr kumimoji="0" lang="en-US" altLang="en-US" b="1" i="0" u="none" strike="noStrike" cap="none" normalizeH="0" baseline="0" dirty="0" smtClean="0">
                <a:ln>
                  <a:noFill/>
                </a:ln>
                <a:solidFill>
                  <a:schemeClr val="tx1"/>
                </a:solidFill>
                <a:effectLst/>
                <a:latin typeface="Arial" panose="020B0604020202020204" pitchFamily="34" charset="0"/>
              </a:rPr>
              <a:t>Amazon </a:t>
            </a:r>
            <a:r>
              <a:rPr kumimoji="0" lang="en-US" altLang="en-US" b="1" i="0" u="none" strike="noStrike" cap="none" normalizeH="0" baseline="0" dirty="0" err="1" smtClean="0">
                <a:ln>
                  <a:noFill/>
                </a:ln>
                <a:solidFill>
                  <a:schemeClr val="tx1"/>
                </a:solidFill>
                <a:effectLst/>
                <a:latin typeface="Arial" panose="020B0604020202020204" pitchFamily="34" charset="0"/>
              </a:rPr>
              <a:t>CloudFront</a:t>
            </a:r>
            <a:r>
              <a:rPr kumimoji="0" lang="en-US" altLang="en-US" b="0" i="0" u="none" strike="noStrike" cap="none" normalizeH="0" baseline="0" dirty="0" smtClean="0">
                <a:ln>
                  <a:noFill/>
                </a:ln>
                <a:solidFill>
                  <a:schemeClr val="tx1"/>
                </a:solidFill>
                <a:effectLst/>
                <a:latin typeface="Arial" panose="020B0604020202020204" pitchFamily="34" charset="0"/>
              </a:rPr>
              <a:t> for content delivery and </a:t>
            </a:r>
            <a:r>
              <a:rPr kumimoji="0" lang="en-US" altLang="en-US" b="1" i="0" u="none" strike="noStrike" cap="none" normalizeH="0" baseline="0" dirty="0" smtClean="0">
                <a:ln>
                  <a:noFill/>
                </a:ln>
                <a:solidFill>
                  <a:schemeClr val="tx1"/>
                </a:solidFill>
                <a:effectLst/>
                <a:latin typeface="Arial" panose="020B0604020202020204" pitchFamily="34" charset="0"/>
              </a:rPr>
              <a:t>Route 53</a:t>
            </a:r>
            <a:r>
              <a:rPr kumimoji="0" lang="en-US" altLang="en-US" b="0" i="0" u="none" strike="noStrike" cap="none" normalizeH="0" baseline="0" dirty="0" smtClean="0">
                <a:ln>
                  <a:noFill/>
                </a:ln>
                <a:solidFill>
                  <a:schemeClr val="tx1"/>
                </a:solidFill>
                <a:effectLst/>
                <a:latin typeface="Arial" panose="020B0604020202020204" pitchFamily="34" charset="0"/>
              </a:rPr>
              <a:t> for DNS resolution.</a:t>
            </a:r>
          </a:p>
          <a:p>
            <a:endParaRPr lang="en-US" dirty="0"/>
          </a:p>
        </p:txBody>
      </p:sp>
    </p:spTree>
    <p:extLst>
      <p:ext uri="{BB962C8B-B14F-4D97-AF65-F5344CB8AC3E}">
        <p14:creationId xmlns:p14="http://schemas.microsoft.com/office/powerpoint/2010/main" val="1428248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Infrastructure as Code (</a:t>
            </a:r>
            <a:r>
              <a:rPr lang="en-US" b="1" dirty="0" err="1" smtClean="0"/>
              <a:t>IaC</a:t>
            </a:r>
            <a:r>
              <a:rPr lang="en-US" b="1" dirty="0" smtClean="0"/>
              <a:t>) with AWS </a:t>
            </a:r>
            <a:r>
              <a:rPr lang="en-US" b="1" dirty="0" err="1" smtClean="0"/>
              <a:t>CloudFormation</a:t>
            </a:r>
            <a:endParaRPr lang="en-US" b="1" dirty="0"/>
          </a:p>
        </p:txBody>
      </p:sp>
      <p:sp>
        <p:nvSpPr>
          <p:cNvPr id="3" name="Content Placeholder 2"/>
          <p:cNvSpPr>
            <a:spLocks noGrp="1"/>
          </p:cNvSpPr>
          <p:nvPr>
            <p:ph idx="1"/>
          </p:nvPr>
        </p:nvSpPr>
        <p:spPr/>
        <p:txBody>
          <a:bodyPr/>
          <a:lstStyle/>
          <a:p>
            <a:r>
              <a:rPr kumimoji="0" lang="en-US" altLang="en-US" b="0" i="0" u="none" strike="noStrike" cap="none" normalizeH="0" baseline="0" dirty="0" smtClean="0">
                <a:ln>
                  <a:noFill/>
                </a:ln>
                <a:solidFill>
                  <a:schemeClr val="tx1"/>
                </a:solidFill>
                <a:effectLst/>
                <a:latin typeface="Arial" panose="020B0604020202020204" pitchFamily="34" charset="0"/>
              </a:rPr>
              <a:t>Automates the deployment and management of AWS resources.</a:t>
            </a:r>
          </a:p>
          <a:p>
            <a:r>
              <a:rPr kumimoji="0" lang="en-US" altLang="en-US" b="0" i="0" u="none" strike="noStrike" cap="none" normalizeH="0" baseline="0" dirty="0" smtClean="0">
                <a:ln>
                  <a:noFill/>
                </a:ln>
                <a:solidFill>
                  <a:schemeClr val="tx1"/>
                </a:solidFill>
                <a:effectLst/>
                <a:latin typeface="Arial" panose="020B0604020202020204" pitchFamily="34" charset="0"/>
              </a:rPr>
              <a:t>Ensures </a:t>
            </a:r>
            <a:r>
              <a:rPr kumimoji="0" lang="en-US" altLang="en-US" b="1" i="0" u="none" strike="noStrike" cap="none" normalizeH="0" baseline="0" dirty="0" smtClean="0">
                <a:ln>
                  <a:noFill/>
                </a:ln>
                <a:solidFill>
                  <a:schemeClr val="tx1"/>
                </a:solidFill>
                <a:effectLst/>
                <a:latin typeface="Arial" panose="020B0604020202020204" pitchFamily="34" charset="0"/>
              </a:rPr>
              <a:t>consistent and repeatable</a:t>
            </a:r>
            <a:r>
              <a:rPr kumimoji="0" lang="en-US" altLang="en-US" b="0" i="0" u="none" strike="noStrike" cap="none" normalizeH="0" baseline="0" dirty="0" smtClean="0">
                <a:ln>
                  <a:noFill/>
                </a:ln>
                <a:solidFill>
                  <a:schemeClr val="tx1"/>
                </a:solidFill>
                <a:effectLst/>
                <a:latin typeface="Arial" panose="020B0604020202020204" pitchFamily="34" charset="0"/>
              </a:rPr>
              <a:t> configurations across environments.</a:t>
            </a:r>
          </a:p>
          <a:p>
            <a:r>
              <a:rPr kumimoji="0" lang="en-US" altLang="en-US" b="0" i="0" u="none" strike="noStrike" cap="none" normalizeH="0" baseline="0" dirty="0" smtClean="0">
                <a:ln>
                  <a:noFill/>
                </a:ln>
                <a:solidFill>
                  <a:schemeClr val="tx1"/>
                </a:solidFill>
                <a:effectLst/>
                <a:latin typeface="Arial" panose="020B0604020202020204" pitchFamily="34" charset="0"/>
              </a:rPr>
              <a:t>Enables version control and infrastructure change tracking.</a:t>
            </a:r>
          </a:p>
          <a:p>
            <a:r>
              <a:rPr kumimoji="0" lang="en-US" altLang="en-US" b="0" i="0" u="none" strike="noStrike" cap="none" normalizeH="0" baseline="0" dirty="0" smtClean="0">
                <a:ln>
                  <a:noFill/>
                </a:ln>
                <a:solidFill>
                  <a:schemeClr val="tx1"/>
                </a:solidFill>
                <a:effectLst/>
                <a:latin typeface="Arial" panose="020B0604020202020204" pitchFamily="34" charset="0"/>
              </a:rPr>
              <a:t>Supports scalable, reliable global deployments.</a:t>
            </a:r>
          </a:p>
          <a:p>
            <a:endParaRPr lang="en-US" dirty="0"/>
          </a:p>
        </p:txBody>
      </p:sp>
      <p:sp>
        <p:nvSpPr>
          <p:cNvPr id="5" name="Rectangle 2"/>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8628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Infrastructure as Code (</a:t>
            </a:r>
            <a:r>
              <a:rPr lang="en-US" b="1" dirty="0" err="1" smtClean="0"/>
              <a:t>IaC</a:t>
            </a:r>
            <a:r>
              <a:rPr lang="en-US" b="1" dirty="0" smtClean="0"/>
              <a:t>)</a:t>
            </a:r>
            <a:endParaRPr lang="en-US" b="1" dirty="0"/>
          </a:p>
        </p:txBody>
      </p:sp>
      <p:sp>
        <p:nvSpPr>
          <p:cNvPr id="3" name="Content Placeholder 2"/>
          <p:cNvSpPr>
            <a:spLocks noGrp="1"/>
          </p:cNvSpPr>
          <p:nvPr>
            <p:ph idx="1"/>
          </p:nvPr>
        </p:nvSpPr>
        <p:spPr/>
        <p:txBody>
          <a:bodyPr/>
          <a:lstStyle/>
          <a:p>
            <a:r>
              <a:rPr lang="en-US" dirty="0" smtClean="0"/>
              <a:t>Infrastructure as Code is the practice of managing and provisioning IT infrastructure (servers, networks, databases, etc.) through machine-readable configuration files instead of manual setup.</a:t>
            </a:r>
          </a:p>
          <a:p>
            <a:r>
              <a:rPr lang="en-US" b="1" dirty="0" smtClean="0"/>
              <a:t>Benefits</a:t>
            </a:r>
            <a:r>
              <a:rPr lang="en-US" dirty="0" smtClean="0"/>
              <a:t>:</a:t>
            </a:r>
          </a:p>
          <a:p>
            <a:pPr lvl="1"/>
            <a:r>
              <a:rPr lang="en-US" b="1" dirty="0" smtClean="0"/>
              <a:t>Consistency</a:t>
            </a:r>
            <a:r>
              <a:rPr lang="en-US" dirty="0" smtClean="0"/>
              <a:t> – avoids configuration drift.</a:t>
            </a:r>
          </a:p>
          <a:p>
            <a:pPr lvl="1"/>
            <a:r>
              <a:rPr lang="en-US" b="1" dirty="0" smtClean="0"/>
              <a:t>Repeatability</a:t>
            </a:r>
            <a:r>
              <a:rPr lang="en-US" dirty="0" smtClean="0"/>
              <a:t> – deploy the same environment multiple times.</a:t>
            </a:r>
          </a:p>
          <a:p>
            <a:pPr lvl="1"/>
            <a:r>
              <a:rPr lang="en-US" b="1" dirty="0" smtClean="0"/>
              <a:t>Automation</a:t>
            </a:r>
            <a:r>
              <a:rPr lang="en-US" dirty="0" smtClean="0"/>
              <a:t> – speeds up deployment and reduces errors.</a:t>
            </a:r>
          </a:p>
          <a:p>
            <a:pPr lvl="1"/>
            <a:r>
              <a:rPr lang="en-US" b="1" dirty="0" smtClean="0"/>
              <a:t>Version control</a:t>
            </a:r>
            <a:r>
              <a:rPr lang="en-US" dirty="0" smtClean="0"/>
              <a:t> – store infrastructure definitions alongside application code.</a:t>
            </a:r>
          </a:p>
          <a:p>
            <a:endParaRPr lang="en-US" dirty="0"/>
          </a:p>
        </p:txBody>
      </p:sp>
    </p:spTree>
    <p:extLst>
      <p:ext uri="{BB962C8B-B14F-4D97-AF65-F5344CB8AC3E}">
        <p14:creationId xmlns:p14="http://schemas.microsoft.com/office/powerpoint/2010/main" val="887178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a:t>
            </a:r>
            <a:r>
              <a:rPr lang="en-US" b="1" dirty="0" err="1" smtClean="0"/>
              <a:t>CloudFormation</a:t>
            </a:r>
            <a:endParaRPr lang="en-US" dirty="0"/>
          </a:p>
        </p:txBody>
      </p:sp>
      <p:sp>
        <p:nvSpPr>
          <p:cNvPr id="3" name="Content Placeholder 2"/>
          <p:cNvSpPr>
            <a:spLocks noGrp="1"/>
          </p:cNvSpPr>
          <p:nvPr>
            <p:ph idx="1"/>
          </p:nvPr>
        </p:nvSpPr>
        <p:spPr/>
        <p:txBody>
          <a:bodyPr/>
          <a:lstStyle/>
          <a:p>
            <a:r>
              <a:rPr lang="en-US" dirty="0" err="1" smtClean="0"/>
              <a:t>CloudFormation</a:t>
            </a:r>
            <a:r>
              <a:rPr lang="en-US" dirty="0" smtClean="0"/>
              <a:t> is Amazon’s </a:t>
            </a:r>
            <a:r>
              <a:rPr lang="en-US" dirty="0" err="1" smtClean="0"/>
              <a:t>IaC</a:t>
            </a:r>
            <a:r>
              <a:rPr lang="en-US" dirty="0" smtClean="0"/>
              <a:t> service that lets you define and provision AWS infrastructure using JSON or YAML templates.</a:t>
            </a:r>
          </a:p>
          <a:p>
            <a:r>
              <a:rPr lang="en-US" b="1" dirty="0" smtClean="0"/>
              <a:t>Key Features</a:t>
            </a:r>
            <a:r>
              <a:rPr lang="en-US" dirty="0" smtClean="0"/>
              <a:t>:</a:t>
            </a:r>
          </a:p>
          <a:p>
            <a:pPr lvl="1"/>
            <a:r>
              <a:rPr lang="en-US" b="1" dirty="0" smtClean="0"/>
              <a:t>Template-based deployment</a:t>
            </a:r>
            <a:r>
              <a:rPr lang="en-US" dirty="0" smtClean="0"/>
              <a:t> – describe resources (like EC2, S3, VPC) in a file.</a:t>
            </a:r>
          </a:p>
          <a:p>
            <a:pPr lvl="1"/>
            <a:r>
              <a:rPr lang="en-US" b="1" dirty="0" smtClean="0"/>
              <a:t>Automatic provisioning</a:t>
            </a:r>
            <a:r>
              <a:rPr lang="en-US" dirty="0" smtClean="0"/>
              <a:t> – AWS creates, updates, and deletes resources for you.</a:t>
            </a:r>
          </a:p>
          <a:p>
            <a:pPr lvl="1"/>
            <a:r>
              <a:rPr lang="en-US" b="1" dirty="0" smtClean="0"/>
              <a:t>Stack management</a:t>
            </a:r>
            <a:r>
              <a:rPr lang="en-US" dirty="0" smtClean="0"/>
              <a:t> – group resources into “stacks” that can be managed as a unit.</a:t>
            </a:r>
          </a:p>
          <a:p>
            <a:pPr lvl="1"/>
            <a:r>
              <a:rPr lang="en-US" b="1" dirty="0" smtClean="0"/>
              <a:t>Integration</a:t>
            </a:r>
            <a:r>
              <a:rPr lang="en-US" dirty="0" smtClean="0"/>
              <a:t> – works with most AWS services.</a:t>
            </a:r>
          </a:p>
          <a:p>
            <a:endParaRPr lang="en-US" dirty="0"/>
          </a:p>
        </p:txBody>
      </p:sp>
    </p:spTree>
    <p:extLst>
      <p:ext uri="{BB962C8B-B14F-4D97-AF65-F5344CB8AC3E}">
        <p14:creationId xmlns:p14="http://schemas.microsoft.com/office/powerpoint/2010/main" val="266727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Short</a:t>
            </a:r>
            <a:endParaRPr lang="en-US" b="1" dirty="0"/>
          </a:p>
        </p:txBody>
      </p:sp>
      <p:sp>
        <p:nvSpPr>
          <p:cNvPr id="3" name="Content Placeholder 2"/>
          <p:cNvSpPr>
            <a:spLocks noGrp="1"/>
          </p:cNvSpPr>
          <p:nvPr>
            <p:ph idx="1"/>
          </p:nvPr>
        </p:nvSpPr>
        <p:spPr/>
        <p:txBody>
          <a:bodyPr/>
          <a:lstStyle/>
          <a:p>
            <a:r>
              <a:rPr kumimoji="0" lang="en-US" altLang="en-US" b="1" i="0" u="none" strike="noStrike" cap="none" normalizeH="0" baseline="0" dirty="0" err="1" smtClean="0">
                <a:ln>
                  <a:noFill/>
                </a:ln>
                <a:solidFill>
                  <a:schemeClr val="tx1"/>
                </a:solidFill>
                <a:effectLst/>
                <a:latin typeface="Arial" panose="020B0604020202020204" pitchFamily="34" charset="0"/>
              </a:rPr>
              <a:t>IaC</a:t>
            </a:r>
            <a:r>
              <a:rPr kumimoji="0" lang="en-US" altLang="en-US" b="0" i="0" u="none" strike="noStrike" cap="none" normalizeH="0" baseline="0" dirty="0" smtClean="0">
                <a:ln>
                  <a:noFill/>
                </a:ln>
                <a:solidFill>
                  <a:schemeClr val="tx1"/>
                </a:solidFill>
                <a:effectLst/>
                <a:latin typeface="Arial" panose="020B0604020202020204" pitchFamily="34" charset="0"/>
              </a:rPr>
              <a:t> is the </a:t>
            </a:r>
            <a:r>
              <a:rPr kumimoji="0" lang="en-US" altLang="en-US" b="0" i="1" u="none" strike="noStrike" cap="none" normalizeH="0" baseline="0" dirty="0" smtClean="0">
                <a:ln>
                  <a:noFill/>
                </a:ln>
                <a:solidFill>
                  <a:schemeClr val="tx1"/>
                </a:solidFill>
                <a:effectLst/>
                <a:latin typeface="Arial" panose="020B0604020202020204" pitchFamily="34" charset="0"/>
              </a:rPr>
              <a:t>concept</a:t>
            </a:r>
            <a:r>
              <a:rPr kumimoji="0" lang="en-US" altLang="en-US" b="0" i="0" u="none" strike="noStrike" cap="none" normalizeH="0" baseline="0" dirty="0" smtClean="0">
                <a:ln>
                  <a:noFill/>
                </a:ln>
                <a:solidFill>
                  <a:schemeClr val="tx1"/>
                </a:solidFill>
                <a:effectLst/>
                <a:latin typeface="Arial" panose="020B0604020202020204" pitchFamily="34" charset="0"/>
              </a:rPr>
              <a:t> of defining infrastructure through code.</a:t>
            </a:r>
          </a:p>
          <a:p>
            <a:r>
              <a:rPr kumimoji="0" lang="en-US" altLang="en-US" b="1" i="0" u="none" strike="noStrike" cap="none" normalizeH="0" baseline="0" dirty="0" err="1" smtClean="0">
                <a:ln>
                  <a:noFill/>
                </a:ln>
                <a:solidFill>
                  <a:schemeClr val="tx1"/>
                </a:solidFill>
                <a:effectLst/>
                <a:latin typeface="Arial" panose="020B0604020202020204" pitchFamily="34" charset="0"/>
              </a:rPr>
              <a:t>CloudFormation</a:t>
            </a:r>
            <a:r>
              <a:rPr kumimoji="0" lang="en-US" altLang="en-US" b="0" i="0" u="none" strike="noStrike" cap="none" normalizeH="0" baseline="0" dirty="0" smtClean="0">
                <a:ln>
                  <a:noFill/>
                </a:ln>
                <a:solidFill>
                  <a:schemeClr val="tx1"/>
                </a:solidFill>
                <a:effectLst/>
                <a:latin typeface="Arial" panose="020B0604020202020204" pitchFamily="34" charset="0"/>
              </a:rPr>
              <a:t> is AWS’s </a:t>
            </a:r>
            <a:r>
              <a:rPr kumimoji="0" lang="en-US" altLang="en-US" b="0" i="1" u="none" strike="noStrike" cap="none" normalizeH="0" baseline="0" dirty="0" smtClean="0">
                <a:ln>
                  <a:noFill/>
                </a:ln>
                <a:solidFill>
                  <a:schemeClr val="tx1"/>
                </a:solidFill>
                <a:effectLst/>
                <a:latin typeface="Arial" panose="020B0604020202020204" pitchFamily="34" charset="0"/>
              </a:rPr>
              <a:t>implementation</a:t>
            </a:r>
            <a:r>
              <a:rPr kumimoji="0" lang="en-US" altLang="en-US" b="0" i="0" u="none" strike="noStrike" cap="none" normalizeH="0" baseline="0" dirty="0" smtClean="0">
                <a:ln>
                  <a:noFill/>
                </a:ln>
                <a:solidFill>
                  <a:schemeClr val="tx1"/>
                </a:solidFill>
                <a:effectLst/>
                <a:latin typeface="Arial" panose="020B0604020202020204" pitchFamily="34" charset="0"/>
              </a:rPr>
              <a:t> of </a:t>
            </a:r>
            <a:r>
              <a:rPr kumimoji="0" lang="en-US" altLang="en-US" b="0" i="0" u="none" strike="noStrike" cap="none" normalizeH="0" baseline="0" dirty="0" err="1" smtClean="0">
                <a:ln>
                  <a:noFill/>
                </a:ln>
                <a:solidFill>
                  <a:schemeClr val="tx1"/>
                </a:solidFill>
                <a:effectLst/>
                <a:latin typeface="Arial" panose="020B0604020202020204" pitchFamily="34" charset="0"/>
              </a:rPr>
              <a:t>IaC</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indent="0">
              <a:buNone/>
            </a:pPr>
            <a:endParaRPr lang="en-US" dirty="0"/>
          </a:p>
        </p:txBody>
      </p:sp>
      <p:pic>
        <p:nvPicPr>
          <p:cNvPr id="3077" name="Picture 5" descr="https://sdmntpreastus.oaiusercontent.com/files/00000000-7328-61f9-89db-17270d50f41e/raw?se=2025-08-09T16%3A55%3A31Z&amp;sp=r&amp;sv=2024-08-04&amp;sr=b&amp;scid=75df5881-35dd-5791-82ef-043b3add9902&amp;skoid=02b7f7b5-29f8-416a-aeb6-99464748559d&amp;sktid=a48cca56-e6da-484e-a814-9c849652bcb3&amp;skt=2025-08-08T18%3A00%3A37Z&amp;ske=2025-08-09T18%3A00%3A37Z&amp;sks=b&amp;skv=2024-08-04&amp;sig=OTFVBFqi46PAfsgMUYIG47cZOKYeRY6xn81/fLFq7Go%3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1819" y="3032199"/>
            <a:ext cx="5617028" cy="3744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571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1944" y="2751709"/>
            <a:ext cx="5324856" cy="1325563"/>
          </a:xfrm>
        </p:spPr>
        <p:txBody>
          <a:bodyPr/>
          <a:lstStyle/>
          <a:p>
            <a:r>
              <a:rPr lang="en-US" b="1" dirty="0" smtClean="0"/>
              <a:t>Choosing AWS Regions</a:t>
            </a:r>
            <a:endParaRPr lang="en-US" dirty="0"/>
          </a:p>
        </p:txBody>
      </p:sp>
    </p:spTree>
    <p:extLst>
      <p:ext uri="{BB962C8B-B14F-4D97-AF65-F5344CB8AC3E}">
        <p14:creationId xmlns:p14="http://schemas.microsoft.com/office/powerpoint/2010/main" val="2256849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Describe how to choose a Region.</a:t>
            </a:r>
          </a:p>
          <a:p>
            <a:endParaRPr lang="en-US" dirty="0"/>
          </a:p>
        </p:txBody>
      </p:sp>
    </p:spTree>
    <p:extLst>
      <p:ext uri="{BB962C8B-B14F-4D97-AF65-F5344CB8AC3E}">
        <p14:creationId xmlns:p14="http://schemas.microsoft.com/office/powerpoint/2010/main" val="3083942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Choosing an AWS Region</a:t>
            </a:r>
            <a:endParaRPr lang="en-US" b="1" dirty="0"/>
          </a:p>
        </p:txBody>
      </p:sp>
      <p:sp>
        <p:nvSpPr>
          <p:cNvPr id="3" name="Content Placeholder 2"/>
          <p:cNvSpPr>
            <a:spLocks noGrp="1"/>
          </p:cNvSpPr>
          <p:nvPr>
            <p:ph idx="1"/>
          </p:nvPr>
        </p:nvSpPr>
        <p:spPr>
          <a:xfrm>
            <a:off x="0" y="1825624"/>
            <a:ext cx="12192000" cy="5032375"/>
          </a:xfrm>
        </p:spPr>
        <p:txBody>
          <a:bodyPr>
            <a:normAutofit/>
          </a:bodyPr>
          <a:lstStyle/>
          <a:p>
            <a:r>
              <a:rPr lang="en-US" dirty="0" smtClean="0"/>
              <a:t>When choosing a Region, evaluate:</a:t>
            </a:r>
          </a:p>
          <a:p>
            <a:pPr marL="457200" lvl="1" indent="0" eaLnBrk="0" fontAlgn="base" hangingPunct="0">
              <a:lnSpc>
                <a:spcPct val="100000"/>
              </a:lnSpc>
              <a:spcBef>
                <a:spcPct val="0"/>
              </a:spcBef>
              <a:spcAft>
                <a:spcPct val="0"/>
              </a:spcAft>
              <a:buFontTx/>
              <a:buChar char="•"/>
            </a:pPr>
            <a:r>
              <a:rPr kumimoji="0" lang="en-US" altLang="en-US" sz="1800" b="1" i="0" u="none" strike="noStrike" cap="none" normalizeH="0" baseline="0" dirty="0" smtClean="0">
                <a:ln>
                  <a:noFill/>
                </a:ln>
                <a:solidFill>
                  <a:schemeClr val="tx1"/>
                </a:solidFill>
                <a:effectLst/>
              </a:rPr>
              <a:t> Compliance</a:t>
            </a:r>
            <a:endParaRPr kumimoji="0" lang="en-US" altLang="en-US" sz="1800" b="0" i="0" u="none" strike="noStrike" cap="none" normalizeH="0" baseline="0" dirty="0" smtClean="0">
              <a:ln>
                <a:noFill/>
              </a:ln>
              <a:solidFill>
                <a:schemeClr val="tx1"/>
              </a:solidFill>
              <a:effectLst/>
            </a:endParaRP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Ensure your Region choice aligns with local data governance and regulatory requirements.</a:t>
            </a: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Example: Financial data in Frankfurt must remain in Germany; data stored in China must remain within Chinese borders.</a:t>
            </a:r>
          </a:p>
          <a:p>
            <a:pPr marL="914400" lvl="2" indent="0" eaLnBrk="0" fontAlgn="base" hangingPunct="0">
              <a:lnSpc>
                <a:spcPct val="100000"/>
              </a:lnSpc>
              <a:spcBef>
                <a:spcPct val="0"/>
              </a:spcBef>
              <a:spcAft>
                <a:spcPct val="0"/>
              </a:spcAft>
              <a:buFontTx/>
              <a:buChar char="•"/>
            </a:pPr>
            <a:r>
              <a:rPr lang="en-US" sz="1800" dirty="0" smtClean="0"/>
              <a:t> For example, the General Data Protection Regulation (</a:t>
            </a:r>
            <a:r>
              <a:rPr lang="en-US" sz="1800" b="1" dirty="0" smtClean="0"/>
              <a:t>GDPR</a:t>
            </a:r>
            <a:r>
              <a:rPr lang="en-US" sz="1800" dirty="0" smtClean="0"/>
              <a:t>) is designed to protect the personal data and privacy of individuals within the European Union (EU).</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FontTx/>
              <a:buChar char="•"/>
            </a:pPr>
            <a:endParaRPr kumimoji="0" lang="en-US" altLang="en-US" sz="1800" b="1"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1" i="0" u="none" strike="noStrike" cap="none" normalizeH="0" baseline="0" dirty="0" smtClean="0">
                <a:ln>
                  <a:noFill/>
                </a:ln>
                <a:solidFill>
                  <a:schemeClr val="tx1"/>
                </a:solidFill>
                <a:effectLst/>
              </a:rPr>
              <a:t> Proximity to Customers</a:t>
            </a:r>
            <a:endParaRPr kumimoji="0" lang="en-US" altLang="en-US" sz="1800" b="0" i="0" u="none" strike="noStrike" cap="none" normalizeH="0" baseline="0" dirty="0" smtClean="0">
              <a:ln>
                <a:noFill/>
              </a:ln>
              <a:solidFill>
                <a:schemeClr val="tx1"/>
              </a:solidFill>
              <a:effectLst/>
            </a:endParaRP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Deploy resources close to your primary user base to reduce latency and improve performance.</a:t>
            </a: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Example: If customers are in Singapore, using the Singapore Region will improve response times.</a:t>
            </a:r>
          </a:p>
          <a:p>
            <a:pPr marL="457200" lvl="1" indent="0" eaLnBrk="0" fontAlgn="base" hangingPunct="0">
              <a:lnSpc>
                <a:spcPct val="100000"/>
              </a:lnSpc>
              <a:spcBef>
                <a:spcPct val="0"/>
              </a:spcBef>
              <a:spcAft>
                <a:spcPct val="0"/>
              </a:spcAft>
              <a:buFontTx/>
              <a:buChar char="•"/>
            </a:pPr>
            <a:r>
              <a:rPr kumimoji="0" lang="en-US" altLang="en-US" sz="1800" b="1" i="0" u="none" strike="noStrike" cap="none" normalizeH="0" baseline="0" dirty="0" smtClean="0">
                <a:ln>
                  <a:noFill/>
                </a:ln>
                <a:solidFill>
                  <a:schemeClr val="tx1"/>
                </a:solidFill>
                <a:effectLst/>
              </a:rPr>
              <a:t> Feature Availability</a:t>
            </a:r>
            <a:endParaRPr kumimoji="0" lang="en-US" altLang="en-US" sz="1800" b="0" i="0" u="none" strike="noStrike" cap="none" normalizeH="0" baseline="0" dirty="0" smtClean="0">
              <a:ln>
                <a:noFill/>
              </a:ln>
              <a:solidFill>
                <a:schemeClr val="tx1"/>
              </a:solidFill>
              <a:effectLst/>
            </a:endParaRP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Not all AWS Regions have every service or feature.</a:t>
            </a: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New AWS services are rolled out to Regions over time; check that the Region supports the services you need.</a:t>
            </a:r>
          </a:p>
          <a:p>
            <a:pPr marL="457200" lvl="1" indent="0" eaLnBrk="0" fontAlgn="base" hangingPunct="0">
              <a:lnSpc>
                <a:spcPct val="100000"/>
              </a:lnSpc>
              <a:spcBef>
                <a:spcPct val="0"/>
              </a:spcBef>
              <a:spcAft>
                <a:spcPct val="0"/>
              </a:spcAft>
              <a:buFontTx/>
              <a:buChar char="•"/>
            </a:pPr>
            <a:r>
              <a:rPr kumimoji="0" lang="en-US" altLang="en-US" sz="1800" b="1" i="0" u="none" strike="noStrike" cap="none" normalizeH="0" baseline="0" dirty="0" smtClean="0">
                <a:ln>
                  <a:noFill/>
                </a:ln>
                <a:solidFill>
                  <a:schemeClr val="tx1"/>
                </a:solidFill>
                <a:effectLst/>
              </a:rPr>
              <a:t> Pricing</a:t>
            </a:r>
            <a:endParaRPr kumimoji="0" lang="en-US" altLang="en-US" sz="1800" b="0" i="0" u="none" strike="noStrike" cap="none" normalizeH="0" baseline="0" dirty="0" smtClean="0">
              <a:ln>
                <a:noFill/>
              </a:ln>
              <a:solidFill>
                <a:schemeClr val="tx1"/>
              </a:solidFill>
              <a:effectLst/>
            </a:endParaRP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Service costs vary between Regions due to factors like taxes and energy costs.</a:t>
            </a:r>
          </a:p>
          <a:p>
            <a:pPr marL="914400" lvl="2" indent="0" eaLnBrk="0" fontAlgn="base" hangingPunct="0">
              <a:lnSpc>
                <a:spcPct val="100000"/>
              </a:lnSpc>
              <a:spcBef>
                <a:spcPct val="0"/>
              </a:spcBef>
              <a:spcAft>
                <a:spcPct val="0"/>
              </a:spcAft>
              <a:buFontTx/>
              <a:buChar char="•"/>
            </a:pPr>
            <a:r>
              <a:rPr kumimoji="0" lang="en-US" altLang="en-US" sz="1800" b="0" i="0" u="none" strike="noStrike" cap="none" normalizeH="0" baseline="0" dirty="0" smtClean="0">
                <a:ln>
                  <a:noFill/>
                </a:ln>
                <a:solidFill>
                  <a:schemeClr val="tx1"/>
                </a:solidFill>
                <a:effectLst/>
              </a:rPr>
              <a:t> Review AWS pricing pages to compare operational costs per Region.</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914400" lvl="2" indent="0" eaLnBrk="0" fontAlgn="base" hangingPunct="0">
              <a:lnSpc>
                <a:spcPct val="100000"/>
              </a:lnSpc>
              <a:spcBef>
                <a:spcPct val="0"/>
              </a:spcBef>
              <a:spcAft>
                <a:spcPct val="0"/>
              </a:spcAft>
              <a:buFontTx/>
              <a:buChar char="•"/>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endParaRPr lang="en-US" dirty="0" smtClean="0"/>
          </a:p>
          <a:p>
            <a:endParaRPr lang="en-US" dirty="0"/>
          </a:p>
        </p:txBody>
      </p:sp>
    </p:spTree>
    <p:extLst>
      <p:ext uri="{BB962C8B-B14F-4D97-AF65-F5344CB8AC3E}">
        <p14:creationId xmlns:p14="http://schemas.microsoft.com/office/powerpoint/2010/main" val="22412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616" y="2523109"/>
            <a:ext cx="10515600" cy="1325563"/>
          </a:xfrm>
        </p:spPr>
        <p:txBody>
          <a:bodyPr/>
          <a:lstStyle/>
          <a:p>
            <a:r>
              <a:rPr lang="en-US" b="1" dirty="0" smtClean="0"/>
              <a:t>Diving Deeper into AWS Global Infrastructure</a:t>
            </a:r>
            <a:endParaRPr lang="en-US" dirty="0"/>
          </a:p>
        </p:txBody>
      </p:sp>
    </p:spTree>
    <p:extLst>
      <p:ext uri="{BB962C8B-B14F-4D97-AF65-F5344CB8AC3E}">
        <p14:creationId xmlns:p14="http://schemas.microsoft.com/office/powerpoint/2010/main" val="3429038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Describe key benefits of using multiple Regions and Availability Zones.</a:t>
            </a:r>
          </a:p>
          <a:p>
            <a:r>
              <a:rPr lang="en-US" dirty="0" smtClean="0"/>
              <a:t>Define edge locations.</a:t>
            </a:r>
          </a:p>
          <a:p>
            <a:r>
              <a:rPr lang="en-US" dirty="0" smtClean="0"/>
              <a:t>Describe and differentiate between Regions, Availability Zones, and edge locations.</a:t>
            </a:r>
          </a:p>
          <a:p>
            <a:endParaRPr lang="en-US" dirty="0"/>
          </a:p>
        </p:txBody>
      </p:sp>
    </p:spTree>
    <p:extLst>
      <p:ext uri="{BB962C8B-B14F-4D97-AF65-F5344CB8AC3E}">
        <p14:creationId xmlns:p14="http://schemas.microsoft.com/office/powerpoint/2010/main" val="2712070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elements of AWS Global </a:t>
            </a:r>
            <a:r>
              <a:rPr lang="en-US" b="1" dirty="0" smtClean="0"/>
              <a:t>Infrastructure</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AWS Regions</a:t>
            </a:r>
          </a:p>
          <a:p>
            <a:pPr lvl="1"/>
            <a:r>
              <a:rPr lang="en-US" dirty="0" smtClean="0">
                <a:effectLst/>
              </a:rPr>
              <a:t>Regions are geographical areas around the world that are </a:t>
            </a:r>
            <a:r>
              <a:rPr lang="en-US" b="1" dirty="0" smtClean="0">
                <a:effectLst/>
              </a:rPr>
              <a:t>made up of multiple data centers</a:t>
            </a:r>
            <a:r>
              <a:rPr lang="en-US" dirty="0" smtClean="0">
                <a:effectLst/>
              </a:rPr>
              <a:t>. </a:t>
            </a:r>
          </a:p>
          <a:p>
            <a:pPr lvl="1"/>
            <a:r>
              <a:rPr lang="en-US" dirty="0" smtClean="0">
                <a:effectLst/>
              </a:rPr>
              <a:t>These data centers provide scalable and redundant infrastructure for hosting cloud services. </a:t>
            </a:r>
          </a:p>
          <a:p>
            <a:pPr lvl="1"/>
            <a:r>
              <a:rPr lang="en-US" dirty="0" smtClean="0">
                <a:effectLst/>
              </a:rPr>
              <a:t>Each Region consists of </a:t>
            </a:r>
            <a:r>
              <a:rPr lang="en-US" b="1" dirty="0" smtClean="0">
                <a:effectLst/>
              </a:rPr>
              <a:t>multiple, isolated locations known as Availability Zones</a:t>
            </a:r>
            <a:r>
              <a:rPr lang="en-US" dirty="0" smtClean="0">
                <a:effectLst/>
              </a:rPr>
              <a:t>. </a:t>
            </a:r>
            <a:r>
              <a:rPr lang="en-US" b="1" dirty="0" smtClean="0">
                <a:effectLst/>
              </a:rPr>
              <a:t>Each Region has three or more Availability Zones</a:t>
            </a:r>
            <a:r>
              <a:rPr lang="en-US" dirty="0" smtClean="0">
                <a:effectLst/>
              </a:rPr>
              <a:t>.</a:t>
            </a:r>
            <a:endParaRPr lang="en-US" dirty="0" smtClean="0"/>
          </a:p>
          <a:p>
            <a:r>
              <a:rPr lang="en-US" b="1" dirty="0" smtClean="0"/>
              <a:t>Availability Zones</a:t>
            </a:r>
          </a:p>
          <a:p>
            <a:pPr lvl="1"/>
            <a:r>
              <a:rPr lang="en-US" dirty="0" smtClean="0">
                <a:effectLst/>
              </a:rPr>
              <a:t>Availability Zones are distinct locations within a Region, </a:t>
            </a:r>
            <a:r>
              <a:rPr lang="en-US" b="1" dirty="0" smtClean="0">
                <a:effectLst/>
              </a:rPr>
              <a:t>each designed as an independent zone</a:t>
            </a:r>
            <a:r>
              <a:rPr lang="en-US" dirty="0" smtClean="0">
                <a:effectLst/>
              </a:rPr>
              <a:t> with its own power, networking, and connectivity. </a:t>
            </a:r>
          </a:p>
          <a:p>
            <a:pPr lvl="1"/>
            <a:r>
              <a:rPr lang="en-US" dirty="0" smtClean="0">
                <a:effectLst/>
              </a:rPr>
              <a:t>Availability Zones maintain high availability and fault tolerance for applications. Each Availability Zones consists of one or more data centers.</a:t>
            </a:r>
          </a:p>
          <a:p>
            <a:r>
              <a:rPr lang="en-US" b="1" dirty="0" smtClean="0"/>
              <a:t>Edge locations</a:t>
            </a:r>
          </a:p>
          <a:p>
            <a:pPr lvl="1"/>
            <a:r>
              <a:rPr lang="en-US" dirty="0" smtClean="0">
                <a:effectLst/>
              </a:rPr>
              <a:t>Edge locations are strategically placed sites around the world that cache content to deliver data, video, and applications with lower latency and higher transfer speeds.</a:t>
            </a:r>
          </a:p>
          <a:p>
            <a:pPr lvl="1"/>
            <a:r>
              <a:rPr lang="en-US" dirty="0" smtClean="0">
                <a:effectLst/>
              </a:rPr>
              <a:t> Edge locations are considered a vital part of the AWS content delivery network (CDN) and use services like </a:t>
            </a:r>
            <a:r>
              <a:rPr lang="en-US" dirty="0" err="1" smtClean="0">
                <a:effectLst/>
              </a:rPr>
              <a:t>CloudFront</a:t>
            </a:r>
            <a:r>
              <a:rPr lang="en-US" dirty="0" smtClean="0">
                <a:effectLst/>
              </a:rPr>
              <a:t> to efficiently distribute data to end users.</a:t>
            </a:r>
            <a:endParaRPr lang="en-US" dirty="0" smtClean="0"/>
          </a:p>
          <a:p>
            <a:pPr lvl="2"/>
            <a:endParaRPr lang="en-US" dirty="0" smtClean="0"/>
          </a:p>
          <a:p>
            <a:pPr lvl="1"/>
            <a:endParaRPr lang="en-US" dirty="0"/>
          </a:p>
        </p:txBody>
      </p:sp>
    </p:spTree>
    <p:extLst>
      <p:ext uri="{BB962C8B-B14F-4D97-AF65-F5344CB8AC3E}">
        <p14:creationId xmlns:p14="http://schemas.microsoft.com/office/powerpoint/2010/main" val="1660559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Global Infrastructure – Redundancy &amp; Edge Services</a:t>
            </a:r>
            <a:endParaRPr lang="en-US" b="1" dirty="0"/>
          </a:p>
        </p:txBody>
      </p:sp>
      <p:sp>
        <p:nvSpPr>
          <p:cNvPr id="3" name="Content Placeholder 2"/>
          <p:cNvSpPr>
            <a:spLocks noGrp="1"/>
          </p:cNvSpPr>
          <p:nvPr>
            <p:ph idx="1"/>
          </p:nvPr>
        </p:nvSpPr>
        <p:spPr/>
        <p:txBody>
          <a:bodyPr>
            <a:normAutofit lnSpcReduction="10000"/>
          </a:bodyPr>
          <a:lstStyle/>
          <a:p>
            <a:r>
              <a:rPr lang="en-US" b="1" dirty="0" smtClean="0"/>
              <a:t>Redundant Architectures</a:t>
            </a:r>
          </a:p>
          <a:p>
            <a:pPr lvl="1"/>
            <a:r>
              <a:rPr lang="en-US" b="1" dirty="0" smtClean="0"/>
              <a:t>Multi-AZ (Availability Zone) Deployments</a:t>
            </a:r>
            <a:endParaRPr lang="en-US" dirty="0" smtClean="0"/>
          </a:p>
          <a:p>
            <a:pPr lvl="2"/>
            <a:r>
              <a:rPr lang="en-US" dirty="0" smtClean="0"/>
              <a:t>Each AWS Region contains multiple isolated AZs.</a:t>
            </a:r>
          </a:p>
          <a:p>
            <a:pPr lvl="2"/>
            <a:r>
              <a:rPr lang="en-US" dirty="0" smtClean="0"/>
              <a:t>Distribute resources across AZs for </a:t>
            </a:r>
            <a:r>
              <a:rPr lang="en-US" b="1" dirty="0" smtClean="0"/>
              <a:t>high availability</a:t>
            </a:r>
            <a:r>
              <a:rPr lang="en-US" dirty="0" smtClean="0"/>
              <a:t> and </a:t>
            </a:r>
            <a:r>
              <a:rPr lang="en-US" b="1" dirty="0" smtClean="0"/>
              <a:t>business continuity</a:t>
            </a:r>
            <a:r>
              <a:rPr lang="en-US" dirty="0" smtClean="0"/>
              <a:t>.</a:t>
            </a:r>
          </a:p>
          <a:p>
            <a:pPr lvl="2"/>
            <a:r>
              <a:rPr lang="en-US" b="1" dirty="0" smtClean="0"/>
              <a:t>Benefits</a:t>
            </a:r>
            <a:r>
              <a:rPr lang="en-US" dirty="0" smtClean="0"/>
              <a:t>:</a:t>
            </a:r>
          </a:p>
          <a:p>
            <a:pPr lvl="3"/>
            <a:r>
              <a:rPr lang="en-US" dirty="0" smtClean="0"/>
              <a:t>Seamless failover in case of an AZ outage.</a:t>
            </a:r>
          </a:p>
          <a:p>
            <a:pPr lvl="3"/>
            <a:r>
              <a:rPr lang="en-US" dirty="0" smtClean="0"/>
              <a:t>Reduced latency.</a:t>
            </a:r>
          </a:p>
          <a:p>
            <a:pPr lvl="3"/>
            <a:r>
              <a:rPr lang="en-US" dirty="0" smtClean="0"/>
              <a:t>Enhanced disaster recovery.</a:t>
            </a:r>
          </a:p>
          <a:p>
            <a:pPr lvl="3"/>
            <a:r>
              <a:rPr lang="en-US" dirty="0" smtClean="0"/>
              <a:t>Support for compliance requirements.</a:t>
            </a:r>
          </a:p>
          <a:p>
            <a:pPr lvl="1"/>
            <a:r>
              <a:rPr lang="en-US" b="1" dirty="0" smtClean="0"/>
              <a:t>Multi-Region Deployments</a:t>
            </a:r>
            <a:endParaRPr lang="en-US" dirty="0" smtClean="0"/>
          </a:p>
          <a:p>
            <a:pPr lvl="2"/>
            <a:r>
              <a:rPr lang="en-US" dirty="0" smtClean="0"/>
              <a:t>Deploy applications across multiple AWS Regions.</a:t>
            </a:r>
          </a:p>
          <a:p>
            <a:pPr lvl="2"/>
            <a:r>
              <a:rPr lang="en-US" dirty="0" smtClean="0"/>
              <a:t>Enables </a:t>
            </a:r>
            <a:r>
              <a:rPr lang="en-US" b="1" dirty="0" smtClean="0"/>
              <a:t>regional failover</a:t>
            </a:r>
            <a:r>
              <a:rPr lang="en-US" dirty="0" smtClean="0"/>
              <a:t> in case of an entire Region outage.</a:t>
            </a:r>
          </a:p>
          <a:p>
            <a:pPr lvl="2"/>
            <a:r>
              <a:rPr lang="en-US" dirty="0" smtClean="0"/>
              <a:t>Provides additional disaster recovery and global performance benefits.</a:t>
            </a:r>
            <a:endParaRPr lang="en-US" dirty="0"/>
          </a:p>
        </p:txBody>
      </p:sp>
    </p:spTree>
    <p:extLst>
      <p:ext uri="{BB962C8B-B14F-4D97-AF65-F5344CB8AC3E}">
        <p14:creationId xmlns:p14="http://schemas.microsoft.com/office/powerpoint/2010/main" val="4153998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355981"/>
            <a:ext cx="11750040" cy="1325563"/>
          </a:xfrm>
        </p:spPr>
        <p:txBody>
          <a:bodyPr>
            <a:normAutofit/>
          </a:bodyPr>
          <a:lstStyle/>
          <a:p>
            <a:r>
              <a:rPr lang="en-US" b="1" dirty="0" smtClean="0"/>
              <a:t>Edge Services for Content Delivery &amp; Performance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Amazon </a:t>
            </a:r>
            <a:r>
              <a:rPr lang="en-US" b="1" dirty="0" err="1" smtClean="0"/>
              <a:t>CloudFront</a:t>
            </a:r>
            <a:endParaRPr lang="en-US" dirty="0" smtClean="0"/>
          </a:p>
          <a:p>
            <a:pPr lvl="1"/>
            <a:r>
              <a:rPr lang="en-US" dirty="0" smtClean="0"/>
              <a:t>Global Content Delivery Network (CDN).</a:t>
            </a:r>
          </a:p>
          <a:p>
            <a:pPr lvl="1"/>
            <a:r>
              <a:rPr lang="en-US" dirty="0" smtClean="0"/>
              <a:t>Delivers data, videos, applications, and APIs with </a:t>
            </a:r>
            <a:r>
              <a:rPr lang="en-US" b="1" dirty="0" smtClean="0"/>
              <a:t>low latency</a:t>
            </a:r>
            <a:r>
              <a:rPr lang="en-US" dirty="0" smtClean="0"/>
              <a:t> and </a:t>
            </a:r>
            <a:r>
              <a:rPr lang="en-US" b="1" dirty="0" smtClean="0"/>
              <a:t>high transfer speeds</a:t>
            </a:r>
            <a:r>
              <a:rPr lang="en-US" dirty="0" smtClean="0"/>
              <a:t>.</a:t>
            </a:r>
          </a:p>
          <a:p>
            <a:pPr lvl="1"/>
            <a:r>
              <a:rPr lang="en-US" dirty="0" smtClean="0"/>
              <a:t>Uses worldwide </a:t>
            </a:r>
            <a:r>
              <a:rPr lang="en-US" b="1" dirty="0" smtClean="0"/>
              <a:t>Edge Locations</a:t>
            </a:r>
            <a:r>
              <a:rPr lang="en-US" dirty="0" smtClean="0"/>
              <a:t> for faster access to cached content.</a:t>
            </a:r>
          </a:p>
          <a:p>
            <a:r>
              <a:rPr lang="en-US" b="1" dirty="0" smtClean="0"/>
              <a:t>Amazon Route 53</a:t>
            </a:r>
            <a:endParaRPr lang="en-US" dirty="0" smtClean="0"/>
          </a:p>
          <a:p>
            <a:pPr lvl="1"/>
            <a:r>
              <a:rPr lang="en-US" dirty="0" smtClean="0"/>
              <a:t>Scalable Domain Name System (DNS) web service.</a:t>
            </a:r>
          </a:p>
          <a:p>
            <a:pPr lvl="1"/>
            <a:r>
              <a:rPr lang="en-US" dirty="0" smtClean="0"/>
              <a:t>Routes users to the nearest and best-performing endpoints.</a:t>
            </a:r>
          </a:p>
          <a:p>
            <a:pPr lvl="1"/>
            <a:r>
              <a:rPr lang="en-US" dirty="0" smtClean="0"/>
              <a:t>Translates human-readable domain names into IP addresses.</a:t>
            </a:r>
          </a:p>
          <a:p>
            <a:r>
              <a:rPr lang="en-US" b="1" dirty="0" smtClean="0"/>
              <a:t>AWS Outposts</a:t>
            </a:r>
            <a:endParaRPr lang="en-US" dirty="0" smtClean="0"/>
          </a:p>
          <a:p>
            <a:pPr lvl="1"/>
            <a:r>
              <a:rPr lang="en-US" dirty="0" smtClean="0"/>
              <a:t>Extends AWS services and infrastructure to on-premises locations.</a:t>
            </a:r>
          </a:p>
          <a:p>
            <a:pPr lvl="1"/>
            <a:r>
              <a:rPr lang="en-US" dirty="0" smtClean="0"/>
              <a:t>Useful for workloads requiring </a:t>
            </a:r>
            <a:r>
              <a:rPr lang="en-US" b="1" dirty="0" smtClean="0"/>
              <a:t>ultra-low latency</a:t>
            </a:r>
            <a:r>
              <a:rPr lang="en-US" dirty="0" smtClean="0"/>
              <a:t> or </a:t>
            </a:r>
            <a:r>
              <a:rPr lang="en-US" b="1" dirty="0" smtClean="0"/>
              <a:t>local data processing</a:t>
            </a:r>
            <a:r>
              <a:rPr lang="en-US" dirty="0" smtClean="0"/>
              <a:t>.</a:t>
            </a:r>
          </a:p>
          <a:p>
            <a:endParaRPr lang="en-US" dirty="0"/>
          </a:p>
        </p:txBody>
      </p:sp>
    </p:spTree>
    <p:extLst>
      <p:ext uri="{BB962C8B-B14F-4D97-AF65-F5344CB8AC3E}">
        <p14:creationId xmlns:p14="http://schemas.microsoft.com/office/powerpoint/2010/main" val="2060896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7504" y="2559685"/>
            <a:ext cx="7062216" cy="1325563"/>
          </a:xfrm>
        </p:spPr>
        <p:txBody>
          <a:bodyPr/>
          <a:lstStyle/>
          <a:p>
            <a:r>
              <a:rPr lang="en-US" b="1" dirty="0" smtClean="0"/>
              <a:t>Infrastructure and Automation</a:t>
            </a:r>
            <a:endParaRPr lang="en-US" dirty="0"/>
          </a:p>
        </p:txBody>
      </p:sp>
    </p:spTree>
    <p:extLst>
      <p:ext uri="{BB962C8B-B14F-4D97-AF65-F5344CB8AC3E}">
        <p14:creationId xmlns:p14="http://schemas.microsoft.com/office/powerpoint/2010/main" val="3904458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Describe the key features and benefits of </a:t>
            </a:r>
            <a:r>
              <a:rPr lang="en-US" b="1" dirty="0" err="1" smtClean="0"/>
              <a:t>CloudFormation</a:t>
            </a:r>
            <a:r>
              <a:rPr lang="en-US" dirty="0" smtClean="0"/>
              <a:t>.</a:t>
            </a:r>
          </a:p>
          <a:p>
            <a:r>
              <a:rPr lang="en-US" dirty="0" smtClean="0"/>
              <a:t>Identify use cases for programmatic access, the AWS Management Console, and infrastructure as code.</a:t>
            </a:r>
            <a:endParaRPr lang="en-US" dirty="0"/>
          </a:p>
        </p:txBody>
      </p:sp>
    </p:spTree>
    <p:extLst>
      <p:ext uri="{BB962C8B-B14F-4D97-AF65-F5344CB8AC3E}">
        <p14:creationId xmlns:p14="http://schemas.microsoft.com/office/powerpoint/2010/main" val="4186279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CloudFormation</a:t>
            </a:r>
            <a:endParaRPr lang="en-US" dirty="0"/>
          </a:p>
        </p:txBody>
      </p:sp>
      <p:sp>
        <p:nvSpPr>
          <p:cNvPr id="3" name="Content Placeholder 2"/>
          <p:cNvSpPr>
            <a:spLocks noGrp="1"/>
          </p:cNvSpPr>
          <p:nvPr>
            <p:ph idx="1"/>
          </p:nvPr>
        </p:nvSpPr>
        <p:spPr/>
        <p:txBody>
          <a:bodyPr/>
          <a:lstStyle/>
          <a:p>
            <a:r>
              <a:rPr lang="en-US" dirty="0" err="1" smtClean="0"/>
              <a:t>CloudFormation</a:t>
            </a:r>
            <a:r>
              <a:rPr lang="en-US" dirty="0" smtClean="0"/>
              <a:t> is a service that helps you model and set up your AWS resources so that you can spend less time managing those resources and more time focusing on your applications that run in AWS. </a:t>
            </a:r>
          </a:p>
          <a:p>
            <a:r>
              <a:rPr lang="en-US" dirty="0" smtClean="0"/>
              <a:t>With </a:t>
            </a:r>
            <a:r>
              <a:rPr lang="en-US" dirty="0" err="1"/>
              <a:t>CloudFormation</a:t>
            </a:r>
            <a:r>
              <a:rPr lang="en-US" dirty="0"/>
              <a:t>, you can define your infrastructure as </a:t>
            </a:r>
            <a:r>
              <a:rPr lang="en-US" dirty="0" smtClean="0"/>
              <a:t>code (</a:t>
            </a:r>
            <a:r>
              <a:rPr lang="en-US" dirty="0" err="1" smtClean="0"/>
              <a:t>IaC</a:t>
            </a:r>
            <a:r>
              <a:rPr lang="en-US" dirty="0" smtClean="0"/>
              <a:t>). </a:t>
            </a:r>
          </a:p>
          <a:p>
            <a:r>
              <a:rPr lang="en-US" dirty="0" smtClean="0"/>
              <a:t>You create a template that describes all the AWS resources that you want (like Amazon Elastic Compute Cloud (Amazon EC2) instances), and </a:t>
            </a:r>
            <a:r>
              <a:rPr lang="en-US" dirty="0" err="1" smtClean="0"/>
              <a:t>CloudFormation</a:t>
            </a:r>
            <a:r>
              <a:rPr lang="en-US" dirty="0" smtClean="0"/>
              <a:t> takes care of provisioning and configuring those resources for you.</a:t>
            </a:r>
            <a:endParaRPr lang="en-US" dirty="0"/>
          </a:p>
        </p:txBody>
      </p:sp>
    </p:spTree>
    <p:extLst>
      <p:ext uri="{BB962C8B-B14F-4D97-AF65-F5344CB8AC3E}">
        <p14:creationId xmlns:p14="http://schemas.microsoft.com/office/powerpoint/2010/main" val="629183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Interacting with AWS </a:t>
            </a:r>
            <a:r>
              <a:rPr lang="en-US" b="1" dirty="0" smtClean="0"/>
              <a:t>resources</a:t>
            </a:r>
            <a:endParaRPr lang="en-US" dirty="0"/>
          </a:p>
        </p:txBody>
      </p:sp>
      <p:sp>
        <p:nvSpPr>
          <p:cNvPr id="3" name="Content Placeholder 2"/>
          <p:cNvSpPr>
            <a:spLocks noGrp="1"/>
          </p:cNvSpPr>
          <p:nvPr>
            <p:ph idx="1"/>
          </p:nvPr>
        </p:nvSpPr>
        <p:spPr/>
        <p:txBody>
          <a:bodyPr/>
          <a:lstStyle/>
          <a:p>
            <a:r>
              <a:rPr lang="en-US" dirty="0"/>
              <a:t>As you've learned, there are a number of ways you can operate in the AWS Cloud</a:t>
            </a:r>
            <a:r>
              <a:rPr lang="en-US" dirty="0" smtClean="0"/>
              <a:t>.</a:t>
            </a:r>
          </a:p>
          <a:p>
            <a:r>
              <a:rPr lang="en-US" dirty="0" smtClean="0">
                <a:effectLst/>
              </a:rPr>
              <a:t>To interact with AWS resources, you must invoke AWS APIs</a:t>
            </a:r>
          </a:p>
          <a:p>
            <a:r>
              <a:rPr lang="en-US" b="1" dirty="0" smtClean="0">
                <a:effectLst/>
              </a:rPr>
              <a:t>To interact with these APIs, you can use</a:t>
            </a:r>
          </a:p>
          <a:p>
            <a:pPr lvl="1"/>
            <a:r>
              <a:rPr lang="en-US" dirty="0" smtClean="0">
                <a:effectLst/>
              </a:rPr>
              <a:t> The AWS SDKs.</a:t>
            </a:r>
          </a:p>
          <a:p>
            <a:pPr lvl="1"/>
            <a:r>
              <a:rPr lang="en-US" dirty="0" smtClean="0"/>
              <a:t> T</a:t>
            </a:r>
            <a:r>
              <a:rPr lang="en-US" dirty="0" smtClean="0">
                <a:effectLst/>
              </a:rPr>
              <a:t>he AWS Command Line Interface (AWS CLI)</a:t>
            </a:r>
          </a:p>
          <a:p>
            <a:pPr lvl="1"/>
            <a:r>
              <a:rPr lang="en-US" dirty="0" smtClean="0">
                <a:effectLst/>
              </a:rPr>
              <a:t> The AWS Management Console</a:t>
            </a:r>
          </a:p>
          <a:p>
            <a:pPr lvl="1"/>
            <a:r>
              <a:rPr lang="en-US" dirty="0" smtClean="0">
                <a:effectLst/>
              </a:rPr>
              <a:t> The </a:t>
            </a:r>
            <a:r>
              <a:rPr lang="en-US" dirty="0" err="1" smtClean="0">
                <a:effectLst/>
              </a:rPr>
              <a:t>IaC</a:t>
            </a:r>
            <a:r>
              <a:rPr lang="en-US" dirty="0" smtClean="0">
                <a:effectLst/>
              </a:rPr>
              <a:t> tools such as </a:t>
            </a:r>
            <a:r>
              <a:rPr lang="en-US" b="1" dirty="0" err="1" smtClean="0">
                <a:effectLst/>
              </a:rPr>
              <a:t>CloudFormation</a:t>
            </a:r>
            <a:r>
              <a:rPr lang="en-US" dirty="0" smtClean="0">
                <a:effectLst/>
              </a:rPr>
              <a:t>.</a:t>
            </a:r>
            <a:endParaRPr lang="en-US" dirty="0"/>
          </a:p>
        </p:txBody>
      </p:sp>
      <p:pic>
        <p:nvPicPr>
          <p:cNvPr id="4" name="Picture 3"/>
          <p:cNvPicPr>
            <a:picLocks noChangeAspect="1"/>
          </p:cNvPicPr>
          <p:nvPr/>
        </p:nvPicPr>
        <p:blipFill>
          <a:blip r:embed="rId2"/>
          <a:stretch>
            <a:fillRect/>
          </a:stretch>
        </p:blipFill>
        <p:spPr>
          <a:xfrm>
            <a:off x="6501384" y="4823422"/>
            <a:ext cx="5690616" cy="1943137"/>
          </a:xfrm>
          <a:prstGeom prst="rect">
            <a:avLst/>
          </a:prstGeom>
        </p:spPr>
      </p:pic>
    </p:spTree>
    <p:extLst>
      <p:ext uri="{BB962C8B-B14F-4D97-AF65-F5344CB8AC3E}">
        <p14:creationId xmlns:p14="http://schemas.microsoft.com/office/powerpoint/2010/main" val="3779981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 y="210629"/>
            <a:ext cx="10515600" cy="1325563"/>
          </a:xfrm>
        </p:spPr>
        <p:txBody>
          <a:bodyPr/>
          <a:lstStyle/>
          <a:p>
            <a:r>
              <a:rPr lang="en-US" b="1" dirty="0" smtClean="0"/>
              <a:t>Programmatic access</a:t>
            </a:r>
            <a:endParaRPr lang="en-US" dirty="0"/>
          </a:p>
        </p:txBody>
      </p:sp>
      <p:sp>
        <p:nvSpPr>
          <p:cNvPr id="3" name="Content Placeholder 2"/>
          <p:cNvSpPr>
            <a:spLocks noGrp="1"/>
          </p:cNvSpPr>
          <p:nvPr>
            <p:ph idx="1"/>
          </p:nvPr>
        </p:nvSpPr>
        <p:spPr>
          <a:xfrm>
            <a:off x="0" y="1536192"/>
            <a:ext cx="11859768" cy="5321808"/>
          </a:xfrm>
        </p:spPr>
        <p:txBody>
          <a:bodyPr>
            <a:normAutofit/>
          </a:bodyPr>
          <a:lstStyle/>
          <a:p>
            <a:r>
              <a:rPr lang="en-US" sz="2400" dirty="0" smtClean="0">
                <a:effectLst/>
              </a:rPr>
              <a:t>Programmatic access includes options like the AWS CLI and AWS SDKs. These options are best suited for developers and those familiar with coding languages.</a:t>
            </a:r>
            <a:endParaRPr lang="en-US" sz="2400" dirty="0" smtClean="0"/>
          </a:p>
          <a:p>
            <a:r>
              <a:rPr lang="en-US" sz="2400" dirty="0" smtClean="0">
                <a:effectLst/>
              </a:rPr>
              <a:t>With the AWS CLI, you manage multiple AWS services directly from the command line. You can automate tasks through scripts.</a:t>
            </a:r>
            <a:endParaRPr lang="en-US" sz="2400" dirty="0" smtClean="0"/>
          </a:p>
          <a:p>
            <a:r>
              <a:rPr lang="en-US" sz="2400" dirty="0" smtClean="0">
                <a:effectLst/>
              </a:rPr>
              <a:t>AWS SDKs can help integrate AWS services into your applications by providing APIs for various programming languages. AWS provides documentation and sample code to help you get started with using SDKs.</a:t>
            </a:r>
            <a:endParaRPr lang="en-US" sz="2400" dirty="0" smtClean="0"/>
          </a:p>
          <a:p>
            <a:r>
              <a:rPr lang="en-US" sz="2400" dirty="0" smtClean="0">
                <a:effectLst/>
              </a:rPr>
              <a:t>Use cases for AWS CLI actions and SDKs include the following:</a:t>
            </a:r>
            <a:endParaRPr lang="en-US" sz="2400" dirty="0" smtClean="0"/>
          </a:p>
          <a:p>
            <a:r>
              <a:rPr lang="en-US" sz="2400" dirty="0" smtClean="0">
                <a:effectLst/>
              </a:rPr>
              <a:t>AWS CLI: Automate routine tasks. For example, you might write a script to provide routine backups for a service such as Amazon Elastic Block Store (Amazon EBS).</a:t>
            </a:r>
            <a:endParaRPr lang="en-US" sz="2400" dirty="0" smtClean="0"/>
          </a:p>
          <a:p>
            <a:r>
              <a:rPr lang="en-US" sz="2400" dirty="0" smtClean="0">
                <a:effectLst/>
              </a:rPr>
              <a:t>SDKs: Invoke APIs for one part of an application process. For example, you might use an SDK to store user data in an AWS storage service such as Amazon Simple Storage Service (Amazon S3).</a:t>
            </a:r>
            <a:endParaRPr lang="en-US" sz="2400" dirty="0" smtClean="0"/>
          </a:p>
          <a:p>
            <a:pPr marL="0" indent="0">
              <a:buNone/>
            </a:pPr>
            <a:endParaRPr lang="en-US" dirty="0"/>
          </a:p>
        </p:txBody>
      </p:sp>
    </p:spTree>
    <p:extLst>
      <p:ext uri="{BB962C8B-B14F-4D97-AF65-F5344CB8AC3E}">
        <p14:creationId xmlns:p14="http://schemas.microsoft.com/office/powerpoint/2010/main" val="33448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Management Console</a:t>
            </a:r>
            <a:endParaRPr lang="en-US" dirty="0"/>
          </a:p>
        </p:txBody>
      </p:sp>
      <p:sp>
        <p:nvSpPr>
          <p:cNvPr id="3" name="Content Placeholder 2"/>
          <p:cNvSpPr>
            <a:spLocks noGrp="1"/>
          </p:cNvSpPr>
          <p:nvPr>
            <p:ph idx="1"/>
          </p:nvPr>
        </p:nvSpPr>
        <p:spPr/>
        <p:txBody>
          <a:bodyPr/>
          <a:lstStyle/>
          <a:p>
            <a:r>
              <a:rPr lang="en-US" dirty="0" smtClean="0">
                <a:effectLst/>
              </a:rPr>
              <a:t>The AWS Management Console is a web interface that you use for managing AWS services, offering quick access to services, search functionality, and simplified workflows. </a:t>
            </a:r>
          </a:p>
          <a:p>
            <a:r>
              <a:rPr lang="en-US" dirty="0" smtClean="0">
                <a:effectLst/>
              </a:rPr>
              <a:t>The console is a great option for those new to the cloud or users with minimal or no development experience.</a:t>
            </a:r>
            <a:endParaRPr lang="en-US" dirty="0" smtClean="0"/>
          </a:p>
          <a:p>
            <a:r>
              <a:rPr lang="en-US" dirty="0" smtClean="0">
                <a:effectLst/>
              </a:rPr>
              <a:t>Use cases for using the console include the following:</a:t>
            </a:r>
            <a:endParaRPr lang="en-US" dirty="0" smtClean="0"/>
          </a:p>
          <a:p>
            <a:pPr lvl="1"/>
            <a:r>
              <a:rPr lang="en-US" dirty="0" smtClean="0">
                <a:effectLst/>
              </a:rPr>
              <a:t>Billing and cost optimization dashboards and visualizations</a:t>
            </a:r>
            <a:endParaRPr lang="en-US" dirty="0" smtClean="0"/>
          </a:p>
          <a:p>
            <a:pPr lvl="1"/>
            <a:r>
              <a:rPr lang="en-US" dirty="0" smtClean="0">
                <a:effectLst/>
              </a:rPr>
              <a:t>Services focused on graphical representations, like Amazon </a:t>
            </a:r>
            <a:r>
              <a:rPr lang="en-US" dirty="0" err="1" smtClean="0">
                <a:effectLst/>
              </a:rPr>
              <a:t>QuickSight</a:t>
            </a:r>
            <a:r>
              <a:rPr lang="en-US" dirty="0" smtClean="0">
                <a:effectLst/>
              </a:rPr>
              <a:t> and Amazon Neptune</a:t>
            </a:r>
            <a:endParaRPr lang="en-US" dirty="0" smtClean="0"/>
          </a:p>
          <a:p>
            <a:endParaRPr lang="en-US" dirty="0"/>
          </a:p>
        </p:txBody>
      </p:sp>
    </p:spTree>
    <p:extLst>
      <p:ext uri="{BB962C8B-B14F-4D97-AF65-F5344CB8AC3E}">
        <p14:creationId xmlns:p14="http://schemas.microsoft.com/office/powerpoint/2010/main" val="3222600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Infrastructure as Code</a:t>
            </a:r>
            <a:endParaRPr lang="en-US" dirty="0"/>
          </a:p>
        </p:txBody>
      </p:sp>
      <p:sp>
        <p:nvSpPr>
          <p:cNvPr id="3" name="Content Placeholder 2"/>
          <p:cNvSpPr>
            <a:spLocks noGrp="1"/>
          </p:cNvSpPr>
          <p:nvPr>
            <p:ph idx="1"/>
          </p:nvPr>
        </p:nvSpPr>
        <p:spPr/>
        <p:txBody>
          <a:bodyPr/>
          <a:lstStyle/>
          <a:p>
            <a:r>
              <a:rPr lang="en-US" dirty="0" smtClean="0">
                <a:effectLst/>
              </a:rPr>
              <a:t>With </a:t>
            </a:r>
            <a:r>
              <a:rPr lang="en-US" dirty="0" err="1" smtClean="0">
                <a:effectLst/>
              </a:rPr>
              <a:t>IaC</a:t>
            </a:r>
            <a:r>
              <a:rPr lang="en-US" dirty="0" smtClean="0">
                <a:effectLst/>
              </a:rPr>
              <a:t> tools such as </a:t>
            </a:r>
            <a:r>
              <a:rPr lang="en-US" dirty="0" err="1" smtClean="0">
                <a:effectLst/>
              </a:rPr>
              <a:t>CloudFormation</a:t>
            </a:r>
            <a:r>
              <a:rPr lang="en-US" dirty="0" smtClean="0">
                <a:effectLst/>
              </a:rPr>
              <a:t>, you can automate resource management across your organization with AWS service integrations offering efficient and repeatable resource creation and management.</a:t>
            </a:r>
            <a:endParaRPr lang="en-US" dirty="0" smtClean="0"/>
          </a:p>
          <a:p>
            <a:r>
              <a:rPr lang="en-US" dirty="0" smtClean="0">
                <a:effectLst/>
              </a:rPr>
              <a:t>Use cases for </a:t>
            </a:r>
            <a:r>
              <a:rPr lang="en-US" dirty="0" err="1" smtClean="0">
                <a:effectLst/>
              </a:rPr>
              <a:t>CloudFormation</a:t>
            </a:r>
            <a:r>
              <a:rPr lang="en-US" dirty="0" smtClean="0">
                <a:effectLst/>
              </a:rPr>
              <a:t> include the following:</a:t>
            </a:r>
            <a:endParaRPr lang="en-US" dirty="0" smtClean="0"/>
          </a:p>
          <a:p>
            <a:pPr lvl="1"/>
            <a:r>
              <a:rPr lang="en-US" dirty="0" smtClean="0">
                <a:effectLst/>
              </a:rPr>
              <a:t>Managing infrastructure with DevOps such as continuous integration and delivery (CI/CD) pipelines</a:t>
            </a:r>
            <a:endParaRPr lang="en-US" dirty="0" smtClean="0"/>
          </a:p>
          <a:p>
            <a:pPr lvl="1"/>
            <a:r>
              <a:rPr lang="en-US" dirty="0" smtClean="0">
                <a:effectLst/>
              </a:rPr>
              <a:t>Scaling resources such as Amazon EC2 instances to multi-Region applications in a consistent, repeatable way</a:t>
            </a:r>
            <a:endParaRPr lang="en-US" dirty="0" smtClean="0"/>
          </a:p>
          <a:p>
            <a:endParaRPr lang="en-US" dirty="0"/>
          </a:p>
        </p:txBody>
      </p:sp>
    </p:spTree>
    <p:extLst>
      <p:ext uri="{BB962C8B-B14F-4D97-AF65-F5344CB8AC3E}">
        <p14:creationId xmlns:p14="http://schemas.microsoft.com/office/powerpoint/2010/main" val="3387019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560" y="2459101"/>
            <a:ext cx="8763000" cy="1325563"/>
          </a:xfrm>
        </p:spPr>
        <p:txBody>
          <a:bodyPr/>
          <a:lstStyle/>
          <a:p>
            <a:r>
              <a:rPr lang="en-US" b="1" dirty="0" smtClean="0"/>
              <a:t>Amazon </a:t>
            </a:r>
            <a:r>
              <a:rPr lang="en-US" b="1" dirty="0" err="1" smtClean="0"/>
              <a:t>CloudFront</a:t>
            </a:r>
            <a:r>
              <a:rPr lang="en-US" b="1" dirty="0" smtClean="0"/>
              <a:t> &amp; </a:t>
            </a:r>
            <a:r>
              <a:rPr lang="en-US" b="1" dirty="0" err="1" smtClean="0"/>
              <a:t>CloudFormation</a:t>
            </a:r>
            <a:endParaRPr lang="en-US" dirty="0"/>
          </a:p>
        </p:txBody>
      </p:sp>
    </p:spTree>
    <p:extLst>
      <p:ext uri="{BB962C8B-B14F-4D97-AF65-F5344CB8AC3E}">
        <p14:creationId xmlns:p14="http://schemas.microsoft.com/office/powerpoint/2010/main" val="3112827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Amazon </a:t>
            </a:r>
            <a:r>
              <a:rPr lang="en-US" b="1" dirty="0" err="1" smtClean="0"/>
              <a:t>CloudFront</a:t>
            </a:r>
            <a:endParaRPr lang="en-US" b="1" dirty="0" smtClean="0"/>
          </a:p>
        </p:txBody>
      </p:sp>
      <p:sp>
        <p:nvSpPr>
          <p:cNvPr id="3" name="Content Placeholder 2"/>
          <p:cNvSpPr>
            <a:spLocks noGrp="1"/>
          </p:cNvSpPr>
          <p:nvPr>
            <p:ph idx="1"/>
          </p:nvPr>
        </p:nvSpPr>
        <p:spPr>
          <a:xfrm>
            <a:off x="0" y="1444752"/>
            <a:ext cx="12192000" cy="5413248"/>
          </a:xfrm>
        </p:spPr>
        <p:txBody>
          <a:bodyPr>
            <a:normAutofit lnSpcReduction="10000"/>
          </a:bodyPr>
          <a:lstStyle/>
          <a:p>
            <a:pPr lvl="1"/>
            <a:r>
              <a:rPr lang="en-US" b="1" dirty="0" smtClean="0"/>
              <a:t>Type:</a:t>
            </a:r>
            <a:r>
              <a:rPr lang="en-US" dirty="0" smtClean="0"/>
              <a:t> </a:t>
            </a:r>
          </a:p>
          <a:p>
            <a:pPr lvl="2"/>
            <a:r>
              <a:rPr lang="en-US" dirty="0" smtClean="0"/>
              <a:t>Content Delivery Network (CDN) service.</a:t>
            </a:r>
          </a:p>
          <a:p>
            <a:pPr lvl="1"/>
            <a:r>
              <a:rPr lang="en-US" b="1" dirty="0" smtClean="0"/>
              <a:t>Purpose:</a:t>
            </a:r>
            <a:endParaRPr lang="en-US" dirty="0" smtClean="0"/>
          </a:p>
          <a:p>
            <a:pPr lvl="2"/>
            <a:r>
              <a:rPr lang="en-US" dirty="0" smtClean="0"/>
              <a:t>Delivers content (web pages, images, videos, APIs, etc.) to users with </a:t>
            </a:r>
            <a:r>
              <a:rPr lang="en-US" b="1" dirty="0" smtClean="0"/>
              <a:t>low latency</a:t>
            </a:r>
            <a:r>
              <a:rPr lang="en-US" dirty="0" smtClean="0"/>
              <a:t> and </a:t>
            </a:r>
            <a:r>
              <a:rPr lang="en-US" b="1" dirty="0" smtClean="0"/>
              <a:t>high transfer speed</a:t>
            </a:r>
            <a:r>
              <a:rPr lang="en-US" dirty="0" smtClean="0"/>
              <a:t>.</a:t>
            </a:r>
          </a:p>
          <a:p>
            <a:pPr lvl="2"/>
            <a:r>
              <a:rPr lang="en-US" dirty="0" smtClean="0"/>
              <a:t>Uses a global network of </a:t>
            </a:r>
            <a:r>
              <a:rPr lang="en-US" b="1" dirty="0" smtClean="0"/>
              <a:t>edge locations</a:t>
            </a:r>
            <a:r>
              <a:rPr lang="en-US" dirty="0" smtClean="0"/>
              <a:t> to cache and serve content closer to users.</a:t>
            </a:r>
          </a:p>
          <a:p>
            <a:pPr lvl="1"/>
            <a:r>
              <a:rPr lang="en-US" b="1" dirty="0" smtClean="0"/>
              <a:t>Key Benefits:</a:t>
            </a:r>
            <a:endParaRPr lang="en-US" dirty="0" smtClean="0"/>
          </a:p>
          <a:p>
            <a:pPr lvl="2"/>
            <a:r>
              <a:rPr lang="en-US" b="1" dirty="0" smtClean="0"/>
              <a:t>Reduced latency</a:t>
            </a:r>
            <a:r>
              <a:rPr lang="en-US" dirty="0" smtClean="0"/>
              <a:t> – content served from the nearest edge location.</a:t>
            </a:r>
          </a:p>
          <a:p>
            <a:pPr lvl="2"/>
            <a:r>
              <a:rPr lang="en-US" b="1" dirty="0" smtClean="0"/>
              <a:t>Improved performance</a:t>
            </a:r>
            <a:r>
              <a:rPr lang="en-US" dirty="0" smtClean="0"/>
              <a:t> – optimized routing and caching.</a:t>
            </a:r>
          </a:p>
          <a:p>
            <a:pPr lvl="2"/>
            <a:r>
              <a:rPr lang="en-US" b="1" dirty="0" smtClean="0"/>
              <a:t>Scalability</a:t>
            </a:r>
            <a:r>
              <a:rPr lang="en-US" dirty="0" smtClean="0"/>
              <a:t> – automatically handles spikes in traffic.</a:t>
            </a:r>
          </a:p>
          <a:p>
            <a:pPr lvl="2"/>
            <a:r>
              <a:rPr lang="en-US" b="1" dirty="0" smtClean="0"/>
              <a:t>Security</a:t>
            </a:r>
            <a:r>
              <a:rPr lang="en-US" dirty="0" smtClean="0"/>
              <a:t> – integrates with AWS Shield, AWS WAF, and SSL/TLS.</a:t>
            </a:r>
          </a:p>
          <a:p>
            <a:pPr marL="457200" lvl="1" indent="0">
              <a:buNone/>
            </a:pPr>
            <a:r>
              <a:rPr lang="en-US" b="1" dirty="0" smtClean="0"/>
              <a:t>Use Cases:</a:t>
            </a:r>
            <a:endParaRPr lang="en-US" dirty="0" smtClean="0"/>
          </a:p>
          <a:p>
            <a:pPr lvl="2"/>
            <a:r>
              <a:rPr lang="en-US" dirty="0" smtClean="0"/>
              <a:t>Distributing static content (e.g., images, JavaScript, CSS).</a:t>
            </a:r>
          </a:p>
          <a:p>
            <a:pPr lvl="2"/>
            <a:r>
              <a:rPr lang="en-US" dirty="0" smtClean="0"/>
              <a:t>Streaming videos.</a:t>
            </a:r>
          </a:p>
          <a:p>
            <a:pPr lvl="2"/>
            <a:r>
              <a:rPr lang="en-US" dirty="0" smtClean="0"/>
              <a:t>Accelerating APIs.</a:t>
            </a:r>
          </a:p>
          <a:p>
            <a:pPr lvl="2"/>
            <a:r>
              <a:rPr lang="en-US" dirty="0" smtClean="0"/>
              <a:t>Securing and accelerating websites.</a:t>
            </a:r>
          </a:p>
          <a:p>
            <a:endParaRPr lang="en-US" dirty="0"/>
          </a:p>
        </p:txBody>
      </p:sp>
    </p:spTree>
    <p:extLst>
      <p:ext uri="{BB962C8B-B14F-4D97-AF65-F5344CB8AC3E}">
        <p14:creationId xmlns:p14="http://schemas.microsoft.com/office/powerpoint/2010/main" val="1464526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a:t>
            </a:r>
            <a:r>
              <a:rPr lang="en-US" b="1" dirty="0" err="1" smtClean="0"/>
              <a:t>CloudFormation</a:t>
            </a:r>
            <a:endParaRPr lang="en-US" dirty="0"/>
          </a:p>
        </p:txBody>
      </p:sp>
      <p:sp>
        <p:nvSpPr>
          <p:cNvPr id="3" name="Content Placeholder 2"/>
          <p:cNvSpPr>
            <a:spLocks noGrp="1"/>
          </p:cNvSpPr>
          <p:nvPr>
            <p:ph idx="1"/>
          </p:nvPr>
        </p:nvSpPr>
        <p:spPr>
          <a:xfrm>
            <a:off x="0" y="1444752"/>
            <a:ext cx="12192000" cy="5413248"/>
          </a:xfrm>
        </p:spPr>
        <p:txBody>
          <a:bodyPr>
            <a:normAutofit fontScale="92500" lnSpcReduction="10000"/>
          </a:bodyPr>
          <a:lstStyle/>
          <a:p>
            <a:r>
              <a:rPr lang="en-US" b="1" dirty="0" smtClean="0"/>
              <a:t>Type:</a:t>
            </a:r>
            <a:r>
              <a:rPr lang="en-US" dirty="0" smtClean="0"/>
              <a:t> </a:t>
            </a:r>
          </a:p>
          <a:p>
            <a:pPr lvl="1"/>
            <a:r>
              <a:rPr lang="en-US" dirty="0" smtClean="0"/>
              <a:t>Infrastructure as Code (</a:t>
            </a:r>
            <a:r>
              <a:rPr lang="en-US" dirty="0" err="1" smtClean="0"/>
              <a:t>IaC</a:t>
            </a:r>
            <a:r>
              <a:rPr lang="en-US" dirty="0" smtClean="0"/>
              <a:t>) service.</a:t>
            </a:r>
          </a:p>
          <a:p>
            <a:r>
              <a:rPr lang="en-US" b="1" dirty="0" smtClean="0"/>
              <a:t>Purpose:</a:t>
            </a:r>
            <a:endParaRPr lang="en-US" dirty="0" smtClean="0"/>
          </a:p>
          <a:p>
            <a:pPr lvl="1"/>
            <a:r>
              <a:rPr lang="en-US" dirty="0" smtClean="0"/>
              <a:t>Automates the provisioning and management of AWS resources using </a:t>
            </a:r>
            <a:r>
              <a:rPr lang="en-US" b="1" dirty="0" smtClean="0"/>
              <a:t>templates</a:t>
            </a:r>
            <a:r>
              <a:rPr lang="en-US" dirty="0" smtClean="0"/>
              <a:t> written in JSON or YAML.</a:t>
            </a:r>
          </a:p>
          <a:p>
            <a:pPr lvl="1"/>
            <a:r>
              <a:rPr lang="en-US" dirty="0" smtClean="0"/>
              <a:t>Ensures </a:t>
            </a:r>
            <a:r>
              <a:rPr lang="en-US" b="1" dirty="0" smtClean="0"/>
              <a:t>consistent and repeatable</a:t>
            </a:r>
            <a:r>
              <a:rPr lang="en-US" dirty="0" smtClean="0"/>
              <a:t> deployments across environments.</a:t>
            </a:r>
          </a:p>
          <a:p>
            <a:r>
              <a:rPr lang="en-US" b="1" dirty="0" smtClean="0"/>
              <a:t>Key Benefits:</a:t>
            </a:r>
            <a:endParaRPr lang="en-US" dirty="0" smtClean="0"/>
          </a:p>
          <a:p>
            <a:pPr lvl="1"/>
            <a:r>
              <a:rPr lang="en-US" b="1" dirty="0" smtClean="0"/>
              <a:t>Automation</a:t>
            </a:r>
            <a:r>
              <a:rPr lang="en-US" dirty="0" smtClean="0"/>
              <a:t> – deploy infrastructure in minutes.</a:t>
            </a:r>
          </a:p>
          <a:p>
            <a:pPr lvl="1"/>
            <a:r>
              <a:rPr lang="en-US" b="1" dirty="0" smtClean="0"/>
              <a:t>Consistency</a:t>
            </a:r>
            <a:r>
              <a:rPr lang="en-US" dirty="0" smtClean="0"/>
              <a:t> – same setup across dev, test, and production.</a:t>
            </a:r>
          </a:p>
          <a:p>
            <a:pPr lvl="1"/>
            <a:r>
              <a:rPr lang="en-US" b="1" dirty="0" smtClean="0"/>
              <a:t>Version control</a:t>
            </a:r>
            <a:r>
              <a:rPr lang="en-US" dirty="0" smtClean="0"/>
              <a:t> – templates can be stored and tracked in source control.</a:t>
            </a:r>
          </a:p>
          <a:p>
            <a:pPr lvl="1"/>
            <a:r>
              <a:rPr lang="en-US" b="1" dirty="0" smtClean="0"/>
              <a:t>Easy updates</a:t>
            </a:r>
            <a:r>
              <a:rPr lang="en-US" dirty="0" smtClean="0"/>
              <a:t> – modify infrastructure by updating the template.</a:t>
            </a:r>
          </a:p>
          <a:p>
            <a:r>
              <a:rPr lang="en-US" b="1" dirty="0" smtClean="0"/>
              <a:t>Use Cases:</a:t>
            </a:r>
            <a:endParaRPr lang="en-US" dirty="0" smtClean="0"/>
          </a:p>
          <a:p>
            <a:pPr lvl="1"/>
            <a:r>
              <a:rPr lang="en-US" dirty="0" smtClean="0"/>
              <a:t>Creating and managing multi-tier architectures (e.g., web + database + networking).</a:t>
            </a:r>
          </a:p>
          <a:p>
            <a:pPr lvl="1"/>
            <a:r>
              <a:rPr lang="en-US" dirty="0" smtClean="0"/>
              <a:t>Deploying repeatable environments for testing and production.</a:t>
            </a:r>
          </a:p>
          <a:p>
            <a:pPr lvl="1"/>
            <a:r>
              <a:rPr lang="en-US" dirty="0" smtClean="0"/>
              <a:t>Disaster recovery setups with automated failover.</a:t>
            </a:r>
          </a:p>
          <a:p>
            <a:pPr lvl="1"/>
            <a:endParaRPr lang="en-US" dirty="0"/>
          </a:p>
        </p:txBody>
      </p:sp>
    </p:spTree>
    <p:extLst>
      <p:ext uri="{BB962C8B-B14F-4D97-AF65-F5344CB8AC3E}">
        <p14:creationId xmlns:p14="http://schemas.microsoft.com/office/powerpoint/2010/main" val="157903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Recap</a:t>
            </a:r>
            <a:endParaRPr lang="en-US" dirty="0"/>
          </a:p>
        </p:txBody>
      </p:sp>
      <p:sp>
        <p:nvSpPr>
          <p:cNvPr id="3" name="Content Placeholder 2"/>
          <p:cNvSpPr>
            <a:spLocks noGrp="1"/>
          </p:cNvSpPr>
          <p:nvPr>
            <p:ph idx="1"/>
          </p:nvPr>
        </p:nvSpPr>
        <p:spPr/>
        <p:txBody>
          <a:bodyPr/>
          <a:lstStyle/>
          <a:p>
            <a:r>
              <a:rPr lang="en-US" dirty="0" smtClean="0"/>
              <a:t>In these lessons, you learned more about the AWS Global Infrastructure.</a:t>
            </a:r>
          </a:p>
          <a:p>
            <a:r>
              <a:rPr lang="en-US" dirty="0" smtClean="0"/>
              <a:t> You learned about</a:t>
            </a:r>
            <a:r>
              <a:rPr lang="en-US" dirty="0"/>
              <a:t> choosing a Region, the value of edge locations, and how to use services such as </a:t>
            </a:r>
            <a:r>
              <a:rPr lang="en-US" dirty="0" err="1"/>
              <a:t>CloudFormation</a:t>
            </a:r>
            <a:r>
              <a:rPr lang="en-US" dirty="0"/>
              <a:t> to streamline and automate deployment.</a:t>
            </a:r>
          </a:p>
        </p:txBody>
      </p:sp>
    </p:spTree>
    <p:extLst>
      <p:ext uri="{BB962C8B-B14F-4D97-AF65-F5344CB8AC3E}">
        <p14:creationId xmlns:p14="http://schemas.microsoft.com/office/powerpoint/2010/main" val="209130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17352603"/>
              </p:ext>
            </p:extLst>
          </p:nvPr>
        </p:nvGraphicFramePr>
        <p:xfrm>
          <a:off x="838200" y="1847088"/>
          <a:ext cx="10515600" cy="1504982"/>
        </p:xfrm>
        <a:graphic>
          <a:graphicData uri="http://schemas.openxmlformats.org/drawingml/2006/table">
            <a:tbl>
              <a:tblPr/>
              <a:tblGrid>
                <a:gridCol w="3276063"/>
                <a:gridCol w="7239537"/>
              </a:tblGrid>
              <a:tr h="407702">
                <a:tc>
                  <a:txBody>
                    <a:bodyPr/>
                    <a:lstStyle/>
                    <a:p>
                      <a:pPr algn="l"/>
                      <a:r>
                        <a:rPr lang="en-US" dirty="0">
                          <a:effectLst/>
                        </a:rPr>
                        <a:t>Resource link</a:t>
                      </a:r>
                    </a:p>
                  </a:txBody>
                  <a:tcPr anchor="ctr">
                    <a:lnL>
                      <a:noFill/>
                    </a:lnL>
                    <a:lnR>
                      <a:noFill/>
                    </a:lnR>
                    <a:lnT>
                      <a:noFill/>
                    </a:lnT>
                    <a:lnB>
                      <a:noFill/>
                    </a:lnB>
                  </a:tcPr>
                </a:tc>
                <a:tc>
                  <a:txBody>
                    <a:bodyPr/>
                    <a:lstStyle/>
                    <a:p>
                      <a:pPr algn="l"/>
                      <a:r>
                        <a:rPr lang="en-US">
                          <a:effectLst/>
                        </a:rPr>
                        <a:t>Description</a:t>
                      </a:r>
                    </a:p>
                  </a:txBody>
                  <a:tcPr anchor="ctr">
                    <a:lnL>
                      <a:noFill/>
                    </a:lnL>
                    <a:lnR>
                      <a:noFill/>
                    </a:lnR>
                    <a:lnT>
                      <a:noFill/>
                    </a:lnT>
                    <a:lnB>
                      <a:noFill/>
                    </a:lnB>
                  </a:tcPr>
                </a:tc>
              </a:tr>
              <a:tr h="0">
                <a:tc>
                  <a:txBody>
                    <a:bodyPr/>
                    <a:lstStyle/>
                    <a:p>
                      <a:pPr algn="l"/>
                      <a:r>
                        <a:rPr lang="en-US" dirty="0">
                          <a:effectLst/>
                          <a:hlinkClick r:id="rId2"/>
                        </a:rPr>
                        <a:t>AWS Global </a:t>
                      </a:r>
                      <a:r>
                        <a:rPr lang="en-US" dirty="0" smtClean="0">
                          <a:effectLst/>
                          <a:hlinkClick r:id="rId2"/>
                        </a:rPr>
                        <a:t>Infrastructure</a:t>
                      </a:r>
                      <a:endParaRPr lang="en-US" dirty="0">
                        <a:effectLst/>
                      </a:endParaRPr>
                    </a:p>
                  </a:txBody>
                  <a:tcPr anchor="ctr">
                    <a:lnL>
                      <a:noFill/>
                    </a:lnL>
                    <a:lnR>
                      <a:noFill/>
                    </a:lnR>
                    <a:lnT>
                      <a:noFill/>
                    </a:lnT>
                    <a:lnB>
                      <a:noFill/>
                    </a:lnB>
                    <a:solidFill>
                      <a:srgbClr val="FFFFFF"/>
                    </a:solidFill>
                  </a:tcPr>
                </a:tc>
                <a:tc>
                  <a:txBody>
                    <a:bodyPr/>
                    <a:lstStyle/>
                    <a:p>
                      <a:pPr algn="l"/>
                      <a:r>
                        <a:rPr lang="en-US">
                          <a:effectLst/>
                        </a:rPr>
                        <a:t>Learn more about the AWS Global Infrastructure.</a:t>
                      </a:r>
                    </a:p>
                  </a:txBody>
                  <a:tcPr anchor="ctr">
                    <a:lnL>
                      <a:noFill/>
                    </a:lnL>
                    <a:lnR>
                      <a:noFill/>
                    </a:lnR>
                    <a:lnT>
                      <a:noFill/>
                    </a:lnT>
                    <a:lnB>
                      <a:noFill/>
                    </a:lnB>
                    <a:solidFill>
                      <a:srgbClr val="FFFFFF"/>
                    </a:solidFill>
                  </a:tcPr>
                </a:tc>
              </a:tr>
              <a:tr h="0">
                <a:tc>
                  <a:txBody>
                    <a:bodyPr/>
                    <a:lstStyle/>
                    <a:p>
                      <a:pPr algn="l"/>
                      <a:r>
                        <a:rPr lang="en-US" dirty="0">
                          <a:effectLst/>
                          <a:hlinkClick r:id="rId3"/>
                        </a:rPr>
                        <a:t>AWS for the </a:t>
                      </a:r>
                      <a:r>
                        <a:rPr lang="en-US" dirty="0" smtClean="0">
                          <a:effectLst/>
                          <a:hlinkClick r:id="rId3"/>
                        </a:rPr>
                        <a:t>Edge</a:t>
                      </a:r>
                      <a:endParaRPr lang="en-US" dirty="0">
                        <a:effectLst/>
                      </a:endParaRPr>
                    </a:p>
                  </a:txBody>
                  <a:tcPr anchor="ctr">
                    <a:lnL>
                      <a:noFill/>
                    </a:lnL>
                    <a:lnR>
                      <a:noFill/>
                    </a:lnR>
                    <a:lnT>
                      <a:noFill/>
                    </a:lnT>
                    <a:lnB>
                      <a:noFill/>
                    </a:lnB>
                    <a:solidFill>
                      <a:srgbClr val="FFFFFF"/>
                    </a:solidFill>
                  </a:tcPr>
                </a:tc>
                <a:tc>
                  <a:txBody>
                    <a:bodyPr/>
                    <a:lstStyle/>
                    <a:p>
                      <a:pPr algn="l"/>
                      <a:r>
                        <a:rPr lang="en-US" dirty="0">
                          <a:effectLst/>
                        </a:rPr>
                        <a:t>Learn more about AWS edge locations and edge networking.</a:t>
                      </a:r>
                    </a:p>
                  </a:txBody>
                  <a:tcPr anchor="ctr">
                    <a:lnL>
                      <a:noFill/>
                    </a:lnL>
                    <a:lnR>
                      <a:noFill/>
                    </a:lnR>
                    <a:lnT>
                      <a:noFill/>
                    </a:lnT>
                    <a:lnB>
                      <a:noFill/>
                    </a:lnB>
                    <a:solidFill>
                      <a:srgbClr val="FFFFFF"/>
                    </a:solidFill>
                  </a:tcPr>
                </a:tc>
              </a:tr>
              <a:tr h="0">
                <a:tc>
                  <a:txBody>
                    <a:bodyPr/>
                    <a:lstStyle/>
                    <a:p>
                      <a:pPr algn="l"/>
                      <a:r>
                        <a:rPr lang="en-US" dirty="0">
                          <a:effectLst/>
                          <a:hlinkClick r:id="rId4"/>
                        </a:rPr>
                        <a:t>AWS </a:t>
                      </a:r>
                      <a:r>
                        <a:rPr lang="en-US" dirty="0" err="1" smtClean="0">
                          <a:effectLst/>
                          <a:hlinkClick r:id="rId4"/>
                        </a:rPr>
                        <a:t>CloudFormation</a:t>
                      </a:r>
                      <a:endParaRPr lang="en-US" dirty="0">
                        <a:effectLst/>
                      </a:endParaRPr>
                    </a:p>
                  </a:txBody>
                  <a:tcPr anchor="ctr">
                    <a:lnL>
                      <a:noFill/>
                    </a:lnL>
                    <a:lnR>
                      <a:noFill/>
                    </a:lnR>
                    <a:lnT>
                      <a:noFill/>
                    </a:lnT>
                    <a:lnB>
                      <a:noFill/>
                    </a:lnB>
                    <a:solidFill>
                      <a:srgbClr val="FFFFFF"/>
                    </a:solidFill>
                  </a:tcPr>
                </a:tc>
                <a:tc>
                  <a:txBody>
                    <a:bodyPr/>
                    <a:lstStyle/>
                    <a:p>
                      <a:pPr algn="l"/>
                      <a:r>
                        <a:rPr lang="en-US" dirty="0">
                          <a:solidFill>
                            <a:srgbClr val="0F141A"/>
                          </a:solidFill>
                          <a:effectLst/>
                        </a:rPr>
                        <a:t>Learn more about the infrastructure as code service, </a:t>
                      </a:r>
                      <a:r>
                        <a:rPr lang="en-US" dirty="0" err="1">
                          <a:solidFill>
                            <a:srgbClr val="0F141A"/>
                          </a:solidFill>
                          <a:effectLst/>
                        </a:rPr>
                        <a:t>CloudFormation</a:t>
                      </a:r>
                      <a:r>
                        <a:rPr lang="en-US" dirty="0">
                          <a:solidFill>
                            <a:srgbClr val="0F141A"/>
                          </a:solidFill>
                          <a:effectLst/>
                        </a:rPr>
                        <a:t>.</a:t>
                      </a:r>
                      <a:endParaRPr lang="en-US" dirty="0">
                        <a:effectLst/>
                      </a:endParaRPr>
                    </a:p>
                  </a:txBody>
                  <a:tcPr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4215218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1587</Words>
  <Application>Microsoft Office PowerPoint</Application>
  <PresentationFormat>Widescreen</PresentationFormat>
  <Paragraphs>190</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Module 4</vt:lpstr>
      <vt:lpstr>Outline</vt:lpstr>
      <vt:lpstr>Introduction to Going Global</vt:lpstr>
      <vt:lpstr>In this lesson, you will learn:</vt:lpstr>
      <vt:lpstr>Selecting AWS Regions</vt:lpstr>
      <vt:lpstr>AWS Edge Locations</vt:lpstr>
      <vt:lpstr>Infrastructure as Code (IaC) with AWS CloudFormation</vt:lpstr>
      <vt:lpstr>Infrastructure as Code (IaC)</vt:lpstr>
      <vt:lpstr>AWS CloudFormation</vt:lpstr>
      <vt:lpstr>In Short</vt:lpstr>
      <vt:lpstr>Choosing AWS Regions</vt:lpstr>
      <vt:lpstr>In this lesson, you will learn:</vt:lpstr>
      <vt:lpstr>Choosing an AWS Region</vt:lpstr>
      <vt:lpstr>Diving Deeper into AWS Global Infrastructure</vt:lpstr>
      <vt:lpstr>In this lesson, you will learn:</vt:lpstr>
      <vt:lpstr>Key elements of AWS Global Infrastructure</vt:lpstr>
      <vt:lpstr>AWS Global Infrastructure – Redundancy &amp; Edge Services</vt:lpstr>
      <vt:lpstr>Edge Services for Content Delivery &amp; Performance</vt:lpstr>
      <vt:lpstr>Infrastructure and Automation</vt:lpstr>
      <vt:lpstr>In this lesson, you will learn:</vt:lpstr>
      <vt:lpstr>CloudFormation</vt:lpstr>
      <vt:lpstr>Interacting with AWS resources</vt:lpstr>
      <vt:lpstr>Programmatic access</vt:lpstr>
      <vt:lpstr>AWS Management Console</vt:lpstr>
      <vt:lpstr>Infrastructure as Code</vt:lpstr>
      <vt:lpstr>Amazon CloudFront &amp; CloudFormation</vt:lpstr>
      <vt:lpstr>Amazon CloudFront</vt:lpstr>
      <vt:lpstr>AWS CloudFormation</vt:lpstr>
      <vt:lpstr>Recap</vt:lpstr>
      <vt:lpstr>Resources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Microsoft account</dc:creator>
  <cp:lastModifiedBy>Microsoft account</cp:lastModifiedBy>
  <cp:revision>11</cp:revision>
  <dcterms:created xsi:type="dcterms:W3CDTF">2025-08-09T15:25:39Z</dcterms:created>
  <dcterms:modified xsi:type="dcterms:W3CDTF">2025-08-25T21:04:40Z</dcterms:modified>
</cp:coreProperties>
</file>