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343" r:id="rId3"/>
    <p:sldId id="256" r:id="rId4"/>
    <p:sldId id="257" r:id="rId5"/>
    <p:sldId id="258" r:id="rId6"/>
    <p:sldId id="259" r:id="rId7"/>
    <p:sldId id="260" r:id="rId8"/>
    <p:sldId id="261" r:id="rId9"/>
    <p:sldId id="262" r:id="rId10"/>
    <p:sldId id="263"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344" r:id="rId42"/>
    <p:sldId id="295" r:id="rId43"/>
    <p:sldId id="297" r:id="rId44"/>
    <p:sldId id="298" r:id="rId45"/>
    <p:sldId id="299" r:id="rId46"/>
    <p:sldId id="300" r:id="rId47"/>
    <p:sldId id="301" r:id="rId48"/>
    <p:sldId id="305" r:id="rId49"/>
    <p:sldId id="306" r:id="rId50"/>
    <p:sldId id="303" r:id="rId51"/>
    <p:sldId id="304" r:id="rId52"/>
    <p:sldId id="307" r:id="rId53"/>
    <p:sldId id="308" r:id="rId54"/>
    <p:sldId id="309" r:id="rId55"/>
    <p:sldId id="310" r:id="rId56"/>
    <p:sldId id="302"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36" r:id="rId72"/>
    <p:sldId id="337" r:id="rId73"/>
    <p:sldId id="325" r:id="rId74"/>
    <p:sldId id="338" r:id="rId75"/>
    <p:sldId id="339" r:id="rId76"/>
    <p:sldId id="340" r:id="rId77"/>
    <p:sldId id="326" r:id="rId78"/>
    <p:sldId id="327" r:id="rId79"/>
    <p:sldId id="328" r:id="rId80"/>
    <p:sldId id="329" r:id="rId81"/>
    <p:sldId id="330" r:id="rId82"/>
    <p:sldId id="331" r:id="rId83"/>
    <p:sldId id="332" r:id="rId84"/>
    <p:sldId id="333" r:id="rId85"/>
    <p:sldId id="334" r:id="rId86"/>
    <p:sldId id="335" r:id="rId87"/>
    <p:sldId id="341" r:id="rId88"/>
    <p:sldId id="342"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A8B9FE-3E21-422B-93F5-C16C5B0E831A}"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3944143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A8B9FE-3E21-422B-93F5-C16C5B0E831A}"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2765139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A8B9FE-3E21-422B-93F5-C16C5B0E831A}"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180057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CA8B9FE-3E21-422B-93F5-C16C5B0E831A}"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45776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CA8B9FE-3E21-422B-93F5-C16C5B0E831A}"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1085354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CA8B9FE-3E21-422B-93F5-C16C5B0E831A}"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549177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A8B9FE-3E21-422B-93F5-C16C5B0E831A}" type="datetimeFigureOut">
              <a:rPr lang="en-US" smtClean="0"/>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2076973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A8B9FE-3E21-422B-93F5-C16C5B0E831A}"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757249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A8B9FE-3E21-422B-93F5-C16C5B0E831A}"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3103538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A8B9FE-3E21-422B-93F5-C16C5B0E831A}"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10646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A8B9FE-3E21-422B-93F5-C16C5B0E831A}"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BCA11-FAD0-4D24-86D7-B55023073202}" type="slidenum">
              <a:rPr lang="en-US" smtClean="0"/>
              <a:t>‹#›</a:t>
            </a:fld>
            <a:endParaRPr lang="en-US"/>
          </a:p>
        </p:txBody>
      </p:sp>
    </p:spTree>
    <p:extLst>
      <p:ext uri="{BB962C8B-B14F-4D97-AF65-F5344CB8AC3E}">
        <p14:creationId xmlns:p14="http://schemas.microsoft.com/office/powerpoint/2010/main" val="3323001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A8B9FE-3E21-422B-93F5-C16C5B0E831A}" type="datetimeFigureOut">
              <a:rPr lang="en-US" smtClean="0"/>
              <a:t>8/26/2025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DBCA11-FAD0-4D24-86D7-B55023073202}" type="slidenum">
              <a:rPr lang="en-US" smtClean="0"/>
              <a:t>‹#›</a:t>
            </a:fld>
            <a:endParaRPr lang="en-US"/>
          </a:p>
        </p:txBody>
      </p:sp>
    </p:spTree>
    <p:extLst>
      <p:ext uri="{BB962C8B-B14F-4D97-AF65-F5344CB8AC3E}">
        <p14:creationId xmlns:p14="http://schemas.microsoft.com/office/powerpoint/2010/main" val="3376712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hyperlink" Target="https://aws.amazon.com/ec2/pricing/" TargetMode="External"/><Relationship Id="rId3" Type="http://schemas.openxmlformats.org/officeDocument/2006/relationships/hyperlink" Target="https://aws.amazon.com/blogs/compute/" TargetMode="External"/><Relationship Id="rId7" Type="http://schemas.openxmlformats.org/officeDocument/2006/relationships/hyperlink" Target="https://aws.amazon.com/ec2/instance-types/" TargetMode="External"/><Relationship Id="rId12" Type="http://schemas.openxmlformats.org/officeDocument/2006/relationships/hyperlink" Target="https://aws.amazon.com/sqs/" TargetMode="External"/><Relationship Id="rId2" Type="http://schemas.openxmlformats.org/officeDocument/2006/relationships/hyperlink" Target="https://aws.amazon.com/products/compute/" TargetMode="External"/><Relationship Id="rId1" Type="http://schemas.openxmlformats.org/officeDocument/2006/relationships/slideLayout" Target="../slideLayouts/slideLayout2.xml"/><Relationship Id="rId6" Type="http://schemas.openxmlformats.org/officeDocument/2006/relationships/hyperlink" Target="https://aws.amazon.com/ec2/" TargetMode="External"/><Relationship Id="rId11" Type="http://schemas.openxmlformats.org/officeDocument/2006/relationships/hyperlink" Target="https://aws.amazon.com/sns/" TargetMode="External"/><Relationship Id="rId5" Type="http://schemas.openxmlformats.org/officeDocument/2006/relationships/hyperlink" Target="https://aws.amazon.com/getting-started/hands-on/?awsf.getting-started-category=category#compute&amp;awsf.getting-started-content-type=content-type#hands-on" TargetMode="External"/><Relationship Id="rId10" Type="http://schemas.openxmlformats.org/officeDocument/2006/relationships/hyperlink" Target="https://aws.amazon.com/elasticloadbalancing/" TargetMode="External"/><Relationship Id="rId4" Type="http://schemas.openxmlformats.org/officeDocument/2006/relationships/hyperlink" Target="https://docs.aws.amazon.com/whitepapers/latest/aws-overview/compute-services.html" TargetMode="External"/><Relationship Id="rId9" Type="http://schemas.openxmlformats.org/officeDocument/2006/relationships/hyperlink" Target="https://aws.amazon.com/ec2/autoscal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2</a:t>
            </a:r>
            <a:endParaRPr lang="en-US" dirty="0"/>
          </a:p>
        </p:txBody>
      </p:sp>
      <p:sp>
        <p:nvSpPr>
          <p:cNvPr id="3" name="Subtitle 2"/>
          <p:cNvSpPr>
            <a:spLocks noGrp="1"/>
          </p:cNvSpPr>
          <p:nvPr>
            <p:ph type="subTitle" idx="1"/>
          </p:nvPr>
        </p:nvSpPr>
        <p:spPr/>
        <p:txBody>
          <a:bodyPr/>
          <a:lstStyle/>
          <a:p>
            <a:r>
              <a:rPr lang="en-US" dirty="0" smtClean="0"/>
              <a:t>Compute in the cloud</a:t>
            </a:r>
            <a:endParaRPr lang="en-US" dirty="0"/>
          </a:p>
        </p:txBody>
      </p:sp>
    </p:spTree>
    <p:extLst>
      <p:ext uri="{BB962C8B-B14F-4D97-AF65-F5344CB8AC3E}">
        <p14:creationId xmlns:p14="http://schemas.microsoft.com/office/powerpoint/2010/main" val="322574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Outline</a:t>
            </a:r>
            <a:endParaRPr lang="en-US" b="1"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1. MODULE 2 INTRODUCTION</a:t>
            </a:r>
          </a:p>
          <a:p>
            <a:pPr lvl="1"/>
            <a:r>
              <a:rPr lang="en-US" dirty="0" smtClean="0">
                <a:effectLst/>
              </a:rPr>
              <a:t>Introduction to Amazon EC2</a:t>
            </a:r>
          </a:p>
          <a:p>
            <a:pPr marL="0" indent="0">
              <a:buNone/>
            </a:pPr>
            <a:r>
              <a:rPr lang="en-US" b="1" dirty="0" smtClean="0"/>
              <a:t>2. COMPUTE IN THE CLOUD</a:t>
            </a:r>
          </a:p>
          <a:p>
            <a:pPr lvl="1"/>
            <a:r>
              <a:rPr lang="en-US" dirty="0" smtClean="0">
                <a:effectLst/>
              </a:rPr>
              <a:t>Amazon EC2 Instance Types</a:t>
            </a:r>
          </a:p>
          <a:p>
            <a:pPr lvl="1"/>
            <a:r>
              <a:rPr lang="en-US" dirty="0" smtClean="0">
                <a:effectLst/>
              </a:rPr>
              <a:t>How to Provision AWS Resources</a:t>
            </a:r>
          </a:p>
          <a:p>
            <a:pPr lvl="1"/>
            <a:r>
              <a:rPr lang="en-US" dirty="0" smtClean="0">
                <a:effectLst/>
              </a:rPr>
              <a:t>Demo: Launching an Amazon EC2 Instance</a:t>
            </a:r>
          </a:p>
          <a:p>
            <a:pPr lvl="1"/>
            <a:r>
              <a:rPr lang="en-US" dirty="0" smtClean="0">
                <a:effectLst/>
              </a:rPr>
              <a:t>Amazon EC2 Pricing</a:t>
            </a:r>
          </a:p>
          <a:p>
            <a:pPr marL="0" indent="0">
              <a:buNone/>
            </a:pPr>
            <a:r>
              <a:rPr lang="en-US" b="1" dirty="0" smtClean="0"/>
              <a:t>3. AUTO SCALING AND LOAD BALANCING</a:t>
            </a:r>
          </a:p>
          <a:p>
            <a:pPr lvl="1"/>
            <a:r>
              <a:rPr lang="en-US" dirty="0" smtClean="0">
                <a:effectLst/>
              </a:rPr>
              <a:t>Scaling Amazon EC2</a:t>
            </a:r>
          </a:p>
          <a:p>
            <a:pPr lvl="1"/>
            <a:r>
              <a:rPr lang="en-US" dirty="0" smtClean="0">
                <a:effectLst/>
              </a:rPr>
              <a:t>Directing Traffic with Elastic Load Balancing</a:t>
            </a:r>
          </a:p>
          <a:p>
            <a:pPr lvl="1"/>
            <a:r>
              <a:rPr lang="en-US" dirty="0" smtClean="0">
                <a:effectLst/>
              </a:rPr>
              <a:t>Messaging and Queuing</a:t>
            </a:r>
          </a:p>
          <a:p>
            <a:endParaRPr lang="en-US" dirty="0"/>
          </a:p>
        </p:txBody>
      </p:sp>
    </p:spTree>
    <p:extLst>
      <p:ext uri="{BB962C8B-B14F-4D97-AF65-F5344CB8AC3E}">
        <p14:creationId xmlns:p14="http://schemas.microsoft.com/office/powerpoint/2010/main" val="3234926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AWS EC2</a:t>
            </a:r>
            <a:endParaRPr lang="en-US" dirty="0"/>
          </a:p>
        </p:txBody>
      </p:sp>
      <p:sp>
        <p:nvSpPr>
          <p:cNvPr id="3" name="Subtitle 2"/>
          <p:cNvSpPr>
            <a:spLocks noGrp="1"/>
          </p:cNvSpPr>
          <p:nvPr>
            <p:ph type="subTitle" idx="1"/>
          </p:nvPr>
        </p:nvSpPr>
        <p:spPr/>
        <p:txBody>
          <a:bodyPr/>
          <a:lstStyle/>
          <a:p>
            <a:r>
              <a:rPr lang="en-US" dirty="0" smtClean="0"/>
              <a:t>Elastic Compute Cloud</a:t>
            </a:r>
          </a:p>
          <a:p>
            <a:endParaRPr lang="en-US" dirty="0"/>
          </a:p>
        </p:txBody>
      </p:sp>
    </p:spTree>
    <p:extLst>
      <p:ext uri="{BB962C8B-B14F-4D97-AF65-F5344CB8AC3E}">
        <p14:creationId xmlns:p14="http://schemas.microsoft.com/office/powerpoint/2010/main" val="62464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Amazon EC2 is a core AWS service that provides </a:t>
            </a:r>
            <a:r>
              <a:rPr lang="en-US" b="1" dirty="0" smtClean="0"/>
              <a:t>scalable virtual servers (called instances)</a:t>
            </a:r>
            <a:r>
              <a:rPr lang="en-US" dirty="0" smtClean="0"/>
              <a:t> to run applications in the cloud.</a:t>
            </a:r>
          </a:p>
          <a:p>
            <a:r>
              <a:rPr lang="en-US" dirty="0" smtClean="0"/>
              <a:t> Instead of buying and maintaining physical servers, businesses can </a:t>
            </a:r>
            <a:r>
              <a:rPr lang="en-US" b="1" dirty="0" smtClean="0"/>
              <a:t>quickly launch, use, and terminate EC2 instances</a:t>
            </a:r>
            <a:r>
              <a:rPr lang="en-US" dirty="0" smtClean="0"/>
              <a:t> on demand—making it a </a:t>
            </a:r>
            <a:r>
              <a:rPr lang="en-US" b="1" dirty="0" smtClean="0"/>
              <a:t>flexible, cost-effective alternative</a:t>
            </a:r>
            <a:r>
              <a:rPr lang="en-US" dirty="0" smtClean="0"/>
              <a:t> to traditional on-premises infrastructure.</a:t>
            </a:r>
            <a:endParaRPr lang="en-US" dirty="0"/>
          </a:p>
        </p:txBody>
      </p:sp>
    </p:spTree>
    <p:extLst>
      <p:ext uri="{BB962C8B-B14F-4D97-AF65-F5344CB8AC3E}">
        <p14:creationId xmlns:p14="http://schemas.microsoft.com/office/powerpoint/2010/main" val="3396160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points</a:t>
            </a:r>
            <a:endParaRPr lang="en-US" b="1" dirty="0"/>
          </a:p>
        </p:txBody>
      </p:sp>
      <p:sp>
        <p:nvSpPr>
          <p:cNvPr id="3" name="Content Placeholder 2"/>
          <p:cNvSpPr>
            <a:spLocks noGrp="1"/>
          </p:cNvSpPr>
          <p:nvPr>
            <p:ph idx="1"/>
          </p:nvPr>
        </p:nvSpPr>
        <p:spPr/>
        <p:txBody>
          <a:bodyPr>
            <a:normAutofit fontScale="77500" lnSpcReduction="20000"/>
          </a:bodyPr>
          <a:lstStyle/>
          <a:p>
            <a:r>
              <a:rPr lang="en-US" b="1" dirty="0" smtClean="0"/>
              <a:t>EC2 Instances</a:t>
            </a:r>
            <a:r>
              <a:rPr lang="en-US" dirty="0" smtClean="0"/>
              <a:t> are </a:t>
            </a:r>
            <a:r>
              <a:rPr lang="en-US" b="1" dirty="0" smtClean="0"/>
              <a:t>virtual machines (VMs)</a:t>
            </a:r>
            <a:r>
              <a:rPr lang="en-US" dirty="0" smtClean="0"/>
              <a:t> that run on AWS-managed physical servers.</a:t>
            </a:r>
          </a:p>
          <a:p>
            <a:r>
              <a:rPr lang="en-US" dirty="0" smtClean="0"/>
              <a:t>They support both </a:t>
            </a:r>
            <a:r>
              <a:rPr lang="en-US" b="1" dirty="0" smtClean="0"/>
              <a:t>Linux and Windows</a:t>
            </a:r>
            <a:r>
              <a:rPr lang="en-US" dirty="0" smtClean="0"/>
              <a:t> operating systems and can be configured with custom software.</a:t>
            </a:r>
          </a:p>
          <a:p>
            <a:r>
              <a:rPr lang="en-US" dirty="0" smtClean="0"/>
              <a:t>AWS handles the </a:t>
            </a:r>
            <a:r>
              <a:rPr lang="en-US" b="1" dirty="0" smtClean="0"/>
              <a:t>hardware, hypervisor, and multi-tenancy isolation</a:t>
            </a:r>
            <a:r>
              <a:rPr lang="en-US" dirty="0" smtClean="0"/>
              <a:t>, while users manage the software and configuration.</a:t>
            </a:r>
          </a:p>
          <a:p>
            <a:r>
              <a:rPr lang="en-US" dirty="0" smtClean="0"/>
              <a:t>EC2 supports </a:t>
            </a:r>
            <a:r>
              <a:rPr lang="en-US" b="1" dirty="0" smtClean="0"/>
              <a:t>vertical scaling</a:t>
            </a:r>
            <a:r>
              <a:rPr lang="en-US" dirty="0" smtClean="0"/>
              <a:t>, allowing you to increase memory and CPU as needed.</a:t>
            </a:r>
          </a:p>
          <a:p>
            <a:r>
              <a:rPr lang="en-US" dirty="0" smtClean="0"/>
              <a:t>You only </a:t>
            </a:r>
            <a:r>
              <a:rPr lang="en-US" b="1" dirty="0" smtClean="0"/>
              <a:t>pay for running instances</a:t>
            </a:r>
            <a:r>
              <a:rPr lang="en-US" dirty="0" smtClean="0"/>
              <a:t>, and can scale your compute power based on demand.</a:t>
            </a:r>
          </a:p>
          <a:p>
            <a:r>
              <a:rPr lang="en-US" b="1" dirty="0" smtClean="0"/>
              <a:t>Networking controls</a:t>
            </a:r>
            <a:r>
              <a:rPr lang="en-US" dirty="0" smtClean="0"/>
              <a:t> allow you to define public or private access to your instances.</a:t>
            </a:r>
          </a:p>
          <a:p>
            <a:r>
              <a:rPr lang="en-US" dirty="0" smtClean="0"/>
              <a:t>EC2 makes the well-established concept of virtual machines easier, faster, and cheaper to use through a </a:t>
            </a:r>
            <a:r>
              <a:rPr lang="en-US" b="1" dirty="0" smtClean="0"/>
              <a:t>Compute-as-a-Service model</a:t>
            </a:r>
            <a:r>
              <a:rPr lang="en-US" dirty="0" smtClean="0"/>
              <a:t>.</a:t>
            </a:r>
          </a:p>
          <a:p>
            <a:endParaRPr lang="en-US" dirty="0"/>
          </a:p>
        </p:txBody>
      </p:sp>
    </p:spTree>
    <p:extLst>
      <p:ext uri="{BB962C8B-B14F-4D97-AF65-F5344CB8AC3E}">
        <p14:creationId xmlns:p14="http://schemas.microsoft.com/office/powerpoint/2010/main" val="3521731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Challenges of on-premises resources</a:t>
            </a:r>
            <a:endParaRPr lang="en-US" dirty="0"/>
          </a:p>
        </p:txBody>
      </p:sp>
      <p:pic>
        <p:nvPicPr>
          <p:cNvPr id="4" name="Content Placeholder 3"/>
          <p:cNvPicPr>
            <a:picLocks noGrp="1" noChangeAspect="1"/>
          </p:cNvPicPr>
          <p:nvPr>
            <p:ph idx="1"/>
          </p:nvPr>
        </p:nvPicPr>
        <p:blipFill>
          <a:blip r:embed="rId2"/>
          <a:stretch>
            <a:fillRect/>
          </a:stretch>
        </p:blipFill>
        <p:spPr>
          <a:xfrm>
            <a:off x="1607029" y="1791120"/>
            <a:ext cx="8029037" cy="4351338"/>
          </a:xfrm>
          <a:prstGeom prst="rect">
            <a:avLst/>
          </a:prstGeom>
        </p:spPr>
      </p:pic>
    </p:spTree>
    <p:extLst>
      <p:ext uri="{BB962C8B-B14F-4D97-AF65-F5344CB8AC3E}">
        <p14:creationId xmlns:p14="http://schemas.microsoft.com/office/powerpoint/2010/main" val="1866714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Benefits of using Cloud Resources</a:t>
            </a:r>
            <a:endParaRPr lang="en-US" dirty="0"/>
          </a:p>
        </p:txBody>
      </p:sp>
      <p:pic>
        <p:nvPicPr>
          <p:cNvPr id="4" name="Content Placeholder 3"/>
          <p:cNvPicPr>
            <a:picLocks noGrp="1" noChangeAspect="1"/>
          </p:cNvPicPr>
          <p:nvPr>
            <p:ph idx="1"/>
          </p:nvPr>
        </p:nvPicPr>
        <p:blipFill>
          <a:blip r:embed="rId2"/>
          <a:stretch>
            <a:fillRect/>
          </a:stretch>
        </p:blipFill>
        <p:spPr>
          <a:xfrm>
            <a:off x="1010729" y="1627217"/>
            <a:ext cx="9315795" cy="4980616"/>
          </a:xfrm>
          <a:prstGeom prst="rect">
            <a:avLst/>
          </a:prstGeom>
        </p:spPr>
      </p:pic>
    </p:spTree>
    <p:extLst>
      <p:ext uri="{BB962C8B-B14F-4D97-AF65-F5344CB8AC3E}">
        <p14:creationId xmlns:p14="http://schemas.microsoft.com/office/powerpoint/2010/main" val="372410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b="1" dirty="0"/>
              <a:t>How Amazon EC2 </a:t>
            </a:r>
            <a:r>
              <a:rPr lang="en-US" b="1" dirty="0" smtClean="0"/>
              <a:t>works</a:t>
            </a:r>
            <a:endParaRPr lang="en-US" dirty="0"/>
          </a:p>
        </p:txBody>
      </p:sp>
      <p:pic>
        <p:nvPicPr>
          <p:cNvPr id="4" name="Content Placeholder 3"/>
          <p:cNvPicPr>
            <a:picLocks noGrp="1" noChangeAspect="1"/>
          </p:cNvPicPr>
          <p:nvPr>
            <p:ph idx="1"/>
          </p:nvPr>
        </p:nvPicPr>
        <p:blipFill>
          <a:blip r:embed="rId2"/>
          <a:stretch>
            <a:fillRect/>
          </a:stretch>
        </p:blipFill>
        <p:spPr>
          <a:xfrm>
            <a:off x="2807193" y="1690688"/>
            <a:ext cx="6577613" cy="5149377"/>
          </a:xfrm>
          <a:prstGeom prst="rect">
            <a:avLst/>
          </a:prstGeom>
        </p:spPr>
      </p:pic>
    </p:spTree>
    <p:extLst>
      <p:ext uri="{BB962C8B-B14F-4D97-AF65-F5344CB8AC3E}">
        <p14:creationId xmlns:p14="http://schemas.microsoft.com/office/powerpoint/2010/main" val="386616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52071" y="1224950"/>
            <a:ext cx="6687279" cy="5633049"/>
          </a:xfrm>
          <a:prstGeom prst="rect">
            <a:avLst/>
          </a:prstGeom>
        </p:spPr>
      </p:pic>
      <p:sp>
        <p:nvSpPr>
          <p:cNvPr id="5" name="Title 1"/>
          <p:cNvSpPr>
            <a:spLocks noGrp="1"/>
          </p:cNvSpPr>
          <p:nvPr>
            <p:ph type="title"/>
          </p:nvPr>
        </p:nvSpPr>
        <p:spPr>
          <a:xfrm>
            <a:off x="0" y="0"/>
            <a:ext cx="10515600" cy="1325563"/>
          </a:xfrm>
        </p:spPr>
        <p:txBody>
          <a:bodyPr/>
          <a:lstStyle/>
          <a:p>
            <a:r>
              <a:rPr lang="en-US" b="1" dirty="0"/>
              <a:t>How Amazon EC2 </a:t>
            </a:r>
            <a:r>
              <a:rPr lang="en-US" b="1" dirty="0" smtClean="0"/>
              <a:t>works</a:t>
            </a:r>
            <a:endParaRPr lang="en-US" dirty="0"/>
          </a:p>
        </p:txBody>
      </p:sp>
    </p:spTree>
    <p:extLst>
      <p:ext uri="{BB962C8B-B14F-4D97-AF65-F5344CB8AC3E}">
        <p14:creationId xmlns:p14="http://schemas.microsoft.com/office/powerpoint/2010/main" val="29641083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02766" y="1321996"/>
            <a:ext cx="7745083" cy="5536004"/>
          </a:xfrm>
          <a:prstGeom prst="rect">
            <a:avLst/>
          </a:prstGeom>
        </p:spPr>
      </p:pic>
      <p:sp>
        <p:nvSpPr>
          <p:cNvPr id="5" name="Title 1"/>
          <p:cNvSpPr>
            <a:spLocks noGrp="1"/>
          </p:cNvSpPr>
          <p:nvPr>
            <p:ph type="title"/>
          </p:nvPr>
        </p:nvSpPr>
        <p:spPr>
          <a:xfrm>
            <a:off x="0" y="0"/>
            <a:ext cx="10515600" cy="1325563"/>
          </a:xfrm>
        </p:spPr>
        <p:txBody>
          <a:bodyPr/>
          <a:lstStyle/>
          <a:p>
            <a:r>
              <a:rPr lang="en-US" b="1" dirty="0"/>
              <a:t>How Amazon EC2 </a:t>
            </a:r>
            <a:r>
              <a:rPr lang="en-US" b="1" dirty="0" smtClean="0"/>
              <a:t>works</a:t>
            </a:r>
            <a:endParaRPr lang="en-US" dirty="0"/>
          </a:p>
        </p:txBody>
      </p:sp>
    </p:spTree>
    <p:extLst>
      <p:ext uri="{BB962C8B-B14F-4D97-AF65-F5344CB8AC3E}">
        <p14:creationId xmlns:p14="http://schemas.microsoft.com/office/powerpoint/2010/main" val="27456722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0297" y="2659751"/>
            <a:ext cx="6390736" cy="1325563"/>
          </a:xfrm>
        </p:spPr>
        <p:txBody>
          <a:bodyPr/>
          <a:lstStyle/>
          <a:p>
            <a:r>
              <a:rPr lang="en-US" b="1" dirty="0" smtClean="0"/>
              <a:t>Amazon EC2 Instance Types</a:t>
            </a:r>
            <a:endParaRPr lang="en-US" dirty="0"/>
          </a:p>
        </p:txBody>
      </p:sp>
    </p:spTree>
    <p:extLst>
      <p:ext uri="{BB962C8B-B14F-4D97-AF65-F5344CB8AC3E}">
        <p14:creationId xmlns:p14="http://schemas.microsoft.com/office/powerpoint/2010/main" val="29264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Explain the different EC2 instance types and their characteristics.</a:t>
            </a:r>
          </a:p>
          <a:p>
            <a:r>
              <a:rPr lang="en-US" dirty="0" smtClean="0">
                <a:effectLst/>
              </a:rPr>
              <a:t>Identify appropriate use cases for each EC2 instance type.</a:t>
            </a:r>
            <a:endParaRPr lang="en-US" dirty="0">
              <a:effectLst/>
            </a:endParaRPr>
          </a:p>
        </p:txBody>
      </p:sp>
    </p:spTree>
    <p:extLst>
      <p:ext uri="{BB962C8B-B14F-4D97-AF65-F5344CB8AC3E}">
        <p14:creationId xmlns:p14="http://schemas.microsoft.com/office/powerpoint/2010/main" val="783264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Amazon EC2 offers a broad range of instance types, each tailored to meet specific use case requirements.</a:t>
            </a:r>
          </a:p>
          <a:p>
            <a:r>
              <a:rPr lang="en-US" dirty="0" smtClean="0"/>
              <a:t> These instances come with varying combinations of CPU, memory, storage, and networking capabilities, so you can choose the right mix of resources to optimize performance for your applications.</a:t>
            </a:r>
            <a:endParaRPr lang="en-US" dirty="0"/>
          </a:p>
        </p:txBody>
      </p:sp>
    </p:spTree>
    <p:extLst>
      <p:ext uri="{BB962C8B-B14F-4D97-AF65-F5344CB8AC3E}">
        <p14:creationId xmlns:p14="http://schemas.microsoft.com/office/powerpoint/2010/main" val="4166773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a:t>
            </a:r>
            <a:r>
              <a:rPr lang="en-US" b="1" dirty="0" smtClean="0"/>
              <a:t>he main EC2 instance families</a:t>
            </a:r>
            <a:endParaRPr lang="en-US" b="1" dirty="0"/>
          </a:p>
        </p:txBody>
      </p:sp>
      <p:sp>
        <p:nvSpPr>
          <p:cNvPr id="3" name="Content Placeholder 2"/>
          <p:cNvSpPr>
            <a:spLocks noGrp="1"/>
          </p:cNvSpPr>
          <p:nvPr>
            <p:ph idx="1"/>
          </p:nvPr>
        </p:nvSpPr>
        <p:spPr/>
        <p:txBody>
          <a:bodyPr>
            <a:normAutofit fontScale="92500"/>
          </a:bodyPr>
          <a:lstStyle/>
          <a:p>
            <a:r>
              <a:rPr lang="en-US" b="1" dirty="0" smtClean="0"/>
              <a:t>General Purpose</a:t>
            </a:r>
            <a:r>
              <a:rPr lang="en-US" dirty="0" smtClean="0"/>
              <a:t>: Balanced compute, memory, and networking. Great for web apps, development environments, and general workloads.</a:t>
            </a:r>
          </a:p>
          <a:p>
            <a:r>
              <a:rPr lang="en-US" b="1" dirty="0" smtClean="0"/>
              <a:t>Compute Optimized</a:t>
            </a:r>
            <a:r>
              <a:rPr lang="en-US" dirty="0" smtClean="0"/>
              <a:t>: High-performance CPUs (HPC) for tasks like gaming, machine learning inference, or scientific computing.</a:t>
            </a:r>
          </a:p>
          <a:p>
            <a:r>
              <a:rPr lang="en-US" b="1" dirty="0" smtClean="0"/>
              <a:t>Memory Optimized</a:t>
            </a:r>
            <a:r>
              <a:rPr lang="en-US" dirty="0" smtClean="0"/>
              <a:t>: High memory capacity for in-memory databases, real-time big data processing, and caching.</a:t>
            </a:r>
          </a:p>
          <a:p>
            <a:r>
              <a:rPr lang="en-US" b="1" dirty="0" smtClean="0"/>
              <a:t>Accelerated Computing</a:t>
            </a:r>
            <a:r>
              <a:rPr lang="en-US" dirty="0" smtClean="0"/>
              <a:t>: Use specialized hardware (like GPUs or FPGAs) for graphics rendering, AI/ML workloads, and pattern matching.</a:t>
            </a:r>
          </a:p>
          <a:p>
            <a:r>
              <a:rPr lang="en-US" b="1" dirty="0" smtClean="0"/>
              <a:t>Storage Optimized</a:t>
            </a:r>
            <a:r>
              <a:rPr lang="en-US" dirty="0" smtClean="0"/>
              <a:t>: Designed for high-speed, low-latency access to large amounts of data stored locally.</a:t>
            </a:r>
            <a:endParaRPr lang="en-US" dirty="0"/>
          </a:p>
        </p:txBody>
      </p:sp>
    </p:spTree>
    <p:extLst>
      <p:ext uri="{BB962C8B-B14F-4D97-AF65-F5344CB8AC3E}">
        <p14:creationId xmlns:p14="http://schemas.microsoft.com/office/powerpoint/2010/main" val="1549507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takeaway</a:t>
            </a:r>
            <a:endParaRPr lang="en-US" dirty="0"/>
          </a:p>
        </p:txBody>
      </p:sp>
      <p:sp>
        <p:nvSpPr>
          <p:cNvPr id="3" name="Content Placeholder 2"/>
          <p:cNvSpPr>
            <a:spLocks noGrp="1"/>
          </p:cNvSpPr>
          <p:nvPr>
            <p:ph idx="1"/>
          </p:nvPr>
        </p:nvSpPr>
        <p:spPr/>
        <p:txBody>
          <a:bodyPr/>
          <a:lstStyle/>
          <a:p>
            <a:r>
              <a:rPr lang="en-US" dirty="0" smtClean="0"/>
              <a:t>Once you choose a type, you also select an </a:t>
            </a:r>
            <a:r>
              <a:rPr lang="en-US" b="1" dirty="0" smtClean="0"/>
              <a:t>instance size</a:t>
            </a:r>
            <a:r>
              <a:rPr lang="en-US" dirty="0" smtClean="0"/>
              <a:t> (e.g., small, medium, large) based on the resources you need and your budget. The larger the instance, the more resources—and the higher the cost.</a:t>
            </a:r>
          </a:p>
          <a:p>
            <a:r>
              <a:rPr lang="en-US" dirty="0" smtClean="0"/>
              <a:t>You can always change your instance type or size as your workload evolves. The cloud makes it easy to adapt and scale, so you only pay for what you need—when you need it.</a:t>
            </a:r>
          </a:p>
          <a:p>
            <a:pPr marL="0" indent="0">
              <a:buNone/>
            </a:pPr>
            <a:endParaRPr lang="en-US" dirty="0"/>
          </a:p>
        </p:txBody>
      </p:sp>
    </p:spTree>
    <p:extLst>
      <p:ext uri="{BB962C8B-B14F-4D97-AF65-F5344CB8AC3E}">
        <p14:creationId xmlns:p14="http://schemas.microsoft.com/office/powerpoint/2010/main" val="630132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799" y="2633872"/>
            <a:ext cx="7503543" cy="1325563"/>
          </a:xfrm>
        </p:spPr>
        <p:txBody>
          <a:bodyPr/>
          <a:lstStyle/>
          <a:p>
            <a:r>
              <a:rPr lang="en-US" b="1" dirty="0" smtClean="0"/>
              <a:t>How to Provision AWS Resources</a:t>
            </a:r>
            <a:endParaRPr lang="en-US" dirty="0"/>
          </a:p>
        </p:txBody>
      </p:sp>
    </p:spTree>
    <p:extLst>
      <p:ext uri="{BB962C8B-B14F-4D97-AF65-F5344CB8AC3E}">
        <p14:creationId xmlns:p14="http://schemas.microsoft.com/office/powerpoint/2010/main" val="2881580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Explain how to use the AWS Management Console, the AWS Command Line Interface (AWS CLI), and the AWS SDK to interact with AWS services.</a:t>
            </a:r>
          </a:p>
          <a:p>
            <a:r>
              <a:rPr lang="en-US" dirty="0" smtClean="0"/>
              <a:t>Describe the customer and AWS responsibilities regarding virtual machines.</a:t>
            </a:r>
          </a:p>
          <a:p>
            <a:r>
              <a:rPr lang="en-US" dirty="0" smtClean="0"/>
              <a:t>Explain the differences between managed and unmanaged services.</a:t>
            </a:r>
          </a:p>
          <a:p>
            <a:pPr marL="0" indent="0">
              <a:buNone/>
            </a:pPr>
            <a:endParaRPr lang="en-US" dirty="0"/>
          </a:p>
        </p:txBody>
      </p:sp>
    </p:spTree>
    <p:extLst>
      <p:ext uri="{BB962C8B-B14F-4D97-AF65-F5344CB8AC3E}">
        <p14:creationId xmlns:p14="http://schemas.microsoft.com/office/powerpoint/2010/main" val="316710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In </a:t>
            </a:r>
            <a:r>
              <a:rPr lang="en-US" dirty="0"/>
              <a:t>AWS, tasks such as launching an EC2 instance, stopping an instance, or modifying instance settings are done through API requests</a:t>
            </a:r>
            <a:r>
              <a:rPr lang="en-US" dirty="0" smtClean="0"/>
              <a:t>.</a:t>
            </a:r>
          </a:p>
          <a:p>
            <a:r>
              <a:rPr lang="en-US" dirty="0" smtClean="0"/>
              <a:t> </a:t>
            </a:r>
            <a:r>
              <a:rPr lang="en-US" dirty="0"/>
              <a:t>APIs provide predefined methods to interact with, manage, and configure AWS resources efficiently. In this lesson, you will learn about</a:t>
            </a:r>
            <a:r>
              <a:rPr lang="en-US" dirty="0" smtClean="0">
                <a:effectLst/>
              </a:rPr>
              <a:t> the three main ways to call AWS APIs.</a:t>
            </a:r>
            <a:endParaRPr lang="en-US" dirty="0" smtClean="0"/>
          </a:p>
          <a:p>
            <a:endParaRPr lang="en-US" dirty="0"/>
          </a:p>
        </p:txBody>
      </p:sp>
    </p:spTree>
    <p:extLst>
      <p:ext uri="{BB962C8B-B14F-4D97-AF65-F5344CB8AC3E}">
        <p14:creationId xmlns:p14="http://schemas.microsoft.com/office/powerpoint/2010/main" val="772184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To work with AWS services, you </a:t>
            </a:r>
            <a:r>
              <a:rPr lang="en-US" b="1" dirty="0" smtClean="0"/>
              <a:t>interact through APIs</a:t>
            </a:r>
            <a:r>
              <a:rPr lang="en-US" dirty="0" smtClean="0"/>
              <a:t> (Application Programming Interfaces), which allow you to </a:t>
            </a:r>
            <a:r>
              <a:rPr lang="en-US" b="1" dirty="0" smtClean="0"/>
              <a:t>provision, configure, and manage resources</a:t>
            </a:r>
            <a:r>
              <a:rPr lang="en-US" dirty="0" smtClean="0"/>
              <a:t>. Everything you do in AWS—whether creating an EC2 instance or listing regions—is essentially an API call.</a:t>
            </a:r>
          </a:p>
          <a:p>
            <a:endParaRPr lang="en-US" dirty="0"/>
          </a:p>
        </p:txBody>
      </p:sp>
    </p:spTree>
    <p:extLst>
      <p:ext uri="{BB962C8B-B14F-4D97-AF65-F5344CB8AC3E}">
        <p14:creationId xmlns:p14="http://schemas.microsoft.com/office/powerpoint/2010/main" val="310853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three main ways to call AWS APIs</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b="1" dirty="0" smtClean="0"/>
              <a:t>1- AWS Management Console</a:t>
            </a:r>
            <a:r>
              <a:rPr lang="en-US" dirty="0" smtClean="0"/>
              <a:t> (Graphical Interface):</a:t>
            </a:r>
          </a:p>
          <a:p>
            <a:pPr lvl="1"/>
            <a:r>
              <a:rPr lang="en-US" b="1" dirty="0" smtClean="0"/>
              <a:t>Browser-based</a:t>
            </a:r>
            <a:r>
              <a:rPr lang="en-US" dirty="0" smtClean="0"/>
              <a:t>, visual, and user-friendly.</a:t>
            </a:r>
          </a:p>
          <a:p>
            <a:pPr lvl="1"/>
            <a:r>
              <a:rPr lang="en-US" dirty="0" smtClean="0"/>
              <a:t>Ideal for beginners and for tasks like viewing bills, testing, or managing non-technical operations.</a:t>
            </a:r>
          </a:p>
          <a:p>
            <a:pPr lvl="1"/>
            <a:r>
              <a:rPr lang="en-US" dirty="0" smtClean="0"/>
              <a:t>However, it’s </a:t>
            </a:r>
            <a:r>
              <a:rPr lang="en-US" b="1" dirty="0" smtClean="0"/>
              <a:t>manual and error-prone</a:t>
            </a:r>
            <a:r>
              <a:rPr lang="en-US" dirty="0" smtClean="0"/>
              <a:t>, making it less ideal for automation or repetitive tasks.</a:t>
            </a:r>
          </a:p>
          <a:p>
            <a:pPr marL="0" indent="0">
              <a:buNone/>
            </a:pPr>
            <a:endParaRPr lang="en-US" dirty="0"/>
          </a:p>
        </p:txBody>
      </p:sp>
    </p:spTree>
    <p:extLst>
      <p:ext uri="{BB962C8B-B14F-4D97-AF65-F5344CB8AC3E}">
        <p14:creationId xmlns:p14="http://schemas.microsoft.com/office/powerpoint/2010/main" val="734475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2- AWS Command Line Interface (CLI)</a:t>
            </a:r>
            <a:r>
              <a:rPr lang="en-US" dirty="0" smtClean="0"/>
              <a:t>:</a:t>
            </a:r>
          </a:p>
          <a:p>
            <a:pPr lvl="1"/>
            <a:r>
              <a:rPr lang="en-US" b="1" dirty="0" smtClean="0"/>
              <a:t>Text-based interface</a:t>
            </a:r>
            <a:r>
              <a:rPr lang="en-US" dirty="0" smtClean="0"/>
              <a:t> for invoking AWS services through commands.</a:t>
            </a:r>
          </a:p>
          <a:p>
            <a:pPr lvl="1"/>
            <a:r>
              <a:rPr lang="en-US" dirty="0" smtClean="0"/>
              <a:t>Enables </a:t>
            </a:r>
            <a:r>
              <a:rPr lang="en-US" b="1" dirty="0" smtClean="0"/>
              <a:t>automation via scripts</a:t>
            </a:r>
            <a:r>
              <a:rPr lang="en-US" dirty="0" smtClean="0"/>
              <a:t>, reducing human error.</a:t>
            </a:r>
          </a:p>
          <a:p>
            <a:pPr lvl="1"/>
            <a:r>
              <a:rPr lang="en-US" dirty="0" smtClean="0"/>
              <a:t>Example:</a:t>
            </a:r>
          </a:p>
          <a:p>
            <a:pPr lvl="2"/>
            <a:r>
              <a:rPr lang="en-US" dirty="0" err="1" smtClean="0"/>
              <a:t>aws</a:t>
            </a:r>
            <a:r>
              <a:rPr lang="en-US" dirty="0" smtClean="0"/>
              <a:t> ec2 run-instances - launches a new EC2 instance.</a:t>
            </a:r>
          </a:p>
          <a:p>
            <a:pPr lvl="2"/>
            <a:r>
              <a:rPr lang="en-US" dirty="0" err="1" smtClean="0"/>
              <a:t>aws</a:t>
            </a:r>
            <a:r>
              <a:rPr lang="en-US" dirty="0" smtClean="0"/>
              <a:t> ec2 describe-availability-zones - lists availability zones in a region.</a:t>
            </a:r>
          </a:p>
          <a:p>
            <a:pPr lvl="1"/>
            <a:r>
              <a:rPr lang="en-US" dirty="0" smtClean="0"/>
              <a:t>Can be used in </a:t>
            </a:r>
            <a:r>
              <a:rPr lang="en-US" b="1" dirty="0" smtClean="0"/>
              <a:t>AWS </a:t>
            </a:r>
            <a:r>
              <a:rPr lang="en-US" b="1" dirty="0" err="1" smtClean="0"/>
              <a:t>CloudShell</a:t>
            </a:r>
            <a:r>
              <a:rPr lang="en-US" dirty="0" smtClean="0"/>
              <a:t>, a browser-based terminal with CLI pre-installed.</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453424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3- AWS Software Development Kit (SDK)</a:t>
            </a:r>
            <a:r>
              <a:rPr lang="en-US" dirty="0" smtClean="0"/>
              <a:t>:</a:t>
            </a:r>
          </a:p>
          <a:p>
            <a:pPr lvl="1"/>
            <a:r>
              <a:rPr lang="en-US" dirty="0" smtClean="0"/>
              <a:t>Lets you write </a:t>
            </a:r>
            <a:r>
              <a:rPr lang="en-US" b="1" dirty="0" smtClean="0"/>
              <a:t>code in various programming languages</a:t>
            </a:r>
            <a:r>
              <a:rPr lang="en-US" dirty="0" smtClean="0"/>
              <a:t> (like Python, JavaScript, etc.) to interact with AWS.</a:t>
            </a:r>
          </a:p>
          <a:p>
            <a:pPr lvl="1"/>
            <a:r>
              <a:rPr lang="en-US" dirty="0" smtClean="0"/>
              <a:t>Ideal for </a:t>
            </a:r>
            <a:r>
              <a:rPr lang="en-US" b="1" dirty="0" smtClean="0"/>
              <a:t>programmatic access</a:t>
            </a:r>
            <a:r>
              <a:rPr lang="en-US" dirty="0" smtClean="0"/>
              <a:t> and integrating AWS into custom applications.</a:t>
            </a:r>
          </a:p>
          <a:p>
            <a:pPr lvl="1"/>
            <a:r>
              <a:rPr lang="en-US" dirty="0" smtClean="0"/>
              <a:t>Example: A Python script using the SDK to list EC2 instances.</a:t>
            </a:r>
          </a:p>
          <a:p>
            <a:pPr marL="0" indent="0">
              <a:buNone/>
            </a:pPr>
            <a:endParaRPr lang="en-US" dirty="0"/>
          </a:p>
        </p:txBody>
      </p:sp>
    </p:spTree>
    <p:extLst>
      <p:ext uri="{BB962C8B-B14F-4D97-AF65-F5344CB8AC3E}">
        <p14:creationId xmlns:p14="http://schemas.microsoft.com/office/powerpoint/2010/main" val="3149331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Takeaway</a:t>
            </a:r>
            <a:r>
              <a:rPr lang="en-US" dirty="0" smtClean="0"/>
              <a:t>:</a:t>
            </a:r>
            <a:endParaRPr lang="en-US" dirty="0"/>
          </a:p>
        </p:txBody>
      </p:sp>
      <p:sp>
        <p:nvSpPr>
          <p:cNvPr id="3" name="Content Placeholder 2"/>
          <p:cNvSpPr>
            <a:spLocks noGrp="1"/>
          </p:cNvSpPr>
          <p:nvPr>
            <p:ph idx="1"/>
          </p:nvPr>
        </p:nvSpPr>
        <p:spPr/>
        <p:txBody>
          <a:bodyPr/>
          <a:lstStyle/>
          <a:p>
            <a:r>
              <a:rPr lang="en-US" dirty="0" smtClean="0"/>
              <a:t>Whether you’re using the </a:t>
            </a:r>
            <a:r>
              <a:rPr lang="en-US" b="1" dirty="0" smtClean="0"/>
              <a:t>console, CLI, or SDK</a:t>
            </a:r>
            <a:r>
              <a:rPr lang="en-US" dirty="0" smtClean="0"/>
              <a:t>, all actions ultimately translate to AWS API calls. For long-term, scalable, and error-free cloud operations, </a:t>
            </a:r>
            <a:r>
              <a:rPr lang="en-US" b="1" dirty="0" smtClean="0"/>
              <a:t>automation using CLI and SDK is recommended</a:t>
            </a:r>
            <a:r>
              <a:rPr lang="en-US" dirty="0" smtClean="0"/>
              <a:t>.</a:t>
            </a:r>
            <a:endParaRPr lang="en-US" dirty="0"/>
          </a:p>
        </p:txBody>
      </p:sp>
    </p:spTree>
    <p:extLst>
      <p:ext uri="{BB962C8B-B14F-4D97-AF65-F5344CB8AC3E}">
        <p14:creationId xmlns:p14="http://schemas.microsoft.com/office/powerpoint/2010/main" val="2614696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 and shared responsibility</a:t>
            </a:r>
          </a:p>
        </p:txBody>
      </p:sp>
      <p:sp>
        <p:nvSpPr>
          <p:cNvPr id="3" name="Content Placeholder 2"/>
          <p:cNvSpPr>
            <a:spLocks noGrp="1"/>
          </p:cNvSpPr>
          <p:nvPr>
            <p:ph idx="1"/>
          </p:nvPr>
        </p:nvSpPr>
        <p:spPr/>
        <p:txBody>
          <a:bodyPr>
            <a:normAutofit lnSpcReduction="10000"/>
          </a:bodyPr>
          <a:lstStyle/>
          <a:p>
            <a:r>
              <a:rPr lang="en-US" dirty="0" smtClean="0">
                <a:effectLst/>
              </a:rPr>
              <a:t>The AWS Shared Responsibility Model outlines the division of duties between the customer and AWS. AWS handles the security </a:t>
            </a:r>
            <a:r>
              <a:rPr lang="en-US" i="1" dirty="0" smtClean="0">
                <a:effectLst/>
              </a:rPr>
              <a:t>of</a:t>
            </a:r>
            <a:r>
              <a:rPr lang="en-US" dirty="0" smtClean="0">
                <a:effectLst/>
              </a:rPr>
              <a:t> the cloud (hardware and infrastructure), whereas the customer is responsible for security </a:t>
            </a:r>
            <a:r>
              <a:rPr lang="en-US" i="1" dirty="0" smtClean="0">
                <a:effectLst/>
              </a:rPr>
              <a:t>in</a:t>
            </a:r>
            <a:r>
              <a:rPr lang="en-US" dirty="0" smtClean="0">
                <a:effectLst/>
              </a:rPr>
              <a:t> the cloud (applications, data, and access control).</a:t>
            </a:r>
          </a:p>
          <a:p>
            <a:r>
              <a:rPr lang="en-US" dirty="0"/>
              <a:t>An </a:t>
            </a:r>
            <a:r>
              <a:rPr lang="en-US" i="1" dirty="0"/>
              <a:t>unmanaged </a:t>
            </a:r>
            <a:r>
              <a:rPr lang="en-US" dirty="0"/>
              <a:t>service like Amazon EC2 requires you to perform all of the necessary security configuration and management tasks. When you deploy an EC2 instance, </a:t>
            </a:r>
            <a:r>
              <a:rPr lang="en-US" dirty="0" smtClean="0"/>
              <a:t>you are responsible for configuring security, managing the guest operating system (OS), applying updates, and setting up firewalls (security groups). You will learn more about managed and unmanaged services later.</a:t>
            </a:r>
            <a:endParaRPr lang="en-US" dirty="0"/>
          </a:p>
        </p:txBody>
      </p:sp>
    </p:spTree>
    <p:extLst>
      <p:ext uri="{BB962C8B-B14F-4D97-AF65-F5344CB8AC3E}">
        <p14:creationId xmlns:p14="http://schemas.microsoft.com/office/powerpoint/2010/main" val="3909040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96767" y="0"/>
            <a:ext cx="6190034" cy="6840301"/>
          </a:xfrm>
          <a:prstGeom prst="rect">
            <a:avLst/>
          </a:prstGeom>
        </p:spPr>
      </p:pic>
    </p:spTree>
    <p:extLst>
      <p:ext uri="{BB962C8B-B14F-4D97-AF65-F5344CB8AC3E}">
        <p14:creationId xmlns:p14="http://schemas.microsoft.com/office/powerpoint/2010/main" val="4163997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4245" y="2573487"/>
            <a:ext cx="9608389" cy="1325563"/>
          </a:xfrm>
        </p:spPr>
        <p:txBody>
          <a:bodyPr/>
          <a:lstStyle/>
          <a:p>
            <a:r>
              <a:rPr lang="en-US" b="1" dirty="0" smtClean="0"/>
              <a:t>Demo: Launching an Amazon EC2 Instance</a:t>
            </a:r>
            <a:endParaRPr lang="en-US" dirty="0"/>
          </a:p>
        </p:txBody>
      </p:sp>
    </p:spTree>
    <p:extLst>
      <p:ext uri="{BB962C8B-B14F-4D97-AF65-F5344CB8AC3E}">
        <p14:creationId xmlns:p14="http://schemas.microsoft.com/office/powerpoint/2010/main" val="737667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 this lesson, you will learn:</a:t>
            </a:r>
            <a:endParaRPr lang="en-US" dirty="0"/>
          </a:p>
        </p:txBody>
      </p:sp>
      <p:sp>
        <p:nvSpPr>
          <p:cNvPr id="3" name="Content Placeholder 2"/>
          <p:cNvSpPr>
            <a:spLocks noGrp="1"/>
          </p:cNvSpPr>
          <p:nvPr>
            <p:ph idx="1"/>
          </p:nvPr>
        </p:nvSpPr>
        <p:spPr/>
        <p:txBody>
          <a:bodyPr/>
          <a:lstStyle/>
          <a:p>
            <a:r>
              <a:rPr lang="en-US" dirty="0" smtClean="0">
                <a:effectLst/>
              </a:rPr>
              <a:t>Identify the key configurations needed when setting up an EC2 instance.­­</a:t>
            </a:r>
          </a:p>
          <a:p>
            <a:r>
              <a:rPr lang="en-US" dirty="0" smtClean="0">
                <a:effectLst/>
              </a:rPr>
              <a:t>Explain how an </a:t>
            </a:r>
            <a:r>
              <a:rPr lang="en-US" b="1" dirty="0" smtClean="0"/>
              <a:t>Amazon Machine Image</a:t>
            </a:r>
            <a:r>
              <a:rPr lang="en-US" dirty="0" smtClean="0">
                <a:effectLst/>
              </a:rPr>
              <a:t> (AMI) maintains consistency and efficiency when scaling applications.</a:t>
            </a:r>
          </a:p>
          <a:p>
            <a:endParaRPr lang="en-US" dirty="0"/>
          </a:p>
        </p:txBody>
      </p:sp>
    </p:spTree>
    <p:extLst>
      <p:ext uri="{BB962C8B-B14F-4D97-AF65-F5344CB8AC3E}">
        <p14:creationId xmlns:p14="http://schemas.microsoft.com/office/powerpoint/2010/main" val="4276106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Launching an EC2 Instance via the AWS Management Console</a:t>
            </a:r>
            <a:endParaRPr lang="en-US" dirty="0"/>
          </a:p>
        </p:txBody>
      </p:sp>
      <p:sp>
        <p:nvSpPr>
          <p:cNvPr id="5" name="Rectangle 2"/>
          <p:cNvSpPr>
            <a:spLocks noGrp="1" noChangeArrowheads="1"/>
          </p:cNvSpPr>
          <p:nvPr>
            <p:ph idx="1"/>
          </p:nvPr>
        </p:nvSpPr>
        <p:spPr bwMode="auto">
          <a:xfrm>
            <a:off x="838200" y="2104512"/>
            <a:ext cx="11281913" cy="345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 Go to the EC2 Console</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Search for "EC2" in the AWS Console and click </a:t>
            </a:r>
            <a:r>
              <a:rPr kumimoji="0" lang="en-US" altLang="en-US" sz="1800" b="1" i="0" u="none" strike="noStrike" cap="none" normalizeH="0" baseline="0" dirty="0" smtClean="0">
                <a:ln>
                  <a:noFill/>
                </a:ln>
                <a:solidFill>
                  <a:schemeClr val="tx1"/>
                </a:solidFill>
                <a:effectLst/>
                <a:latin typeface="Arial" panose="020B0604020202020204" pitchFamily="34" charset="0"/>
              </a:rPr>
              <a:t>“Launch Instance.”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 Name the Instance</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Give your instance a clear name to identify it later.</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 Choose an AMI (Amazon Machine Image)</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Select an OS template. In this case, the </a:t>
            </a:r>
            <a:r>
              <a:rPr kumimoji="0" lang="en-US" altLang="en-US" sz="1800" b="1" i="0" u="none" strike="noStrike" cap="none" normalizeH="0" baseline="0" dirty="0" smtClean="0">
                <a:ln>
                  <a:noFill/>
                </a:ln>
                <a:solidFill>
                  <a:schemeClr val="tx1"/>
                </a:solidFill>
                <a:effectLst/>
                <a:latin typeface="Arial" panose="020B0604020202020204" pitchFamily="34" charset="0"/>
              </a:rPr>
              <a:t>Amazon Linux AMI</a:t>
            </a:r>
            <a:r>
              <a:rPr kumimoji="0" lang="en-US" altLang="en-US" sz="1800" b="0" i="0" u="none" strike="noStrike" cap="none" normalizeH="0" baseline="0" dirty="0" smtClean="0">
                <a:ln>
                  <a:noFill/>
                </a:ln>
                <a:solidFill>
                  <a:schemeClr val="tx1"/>
                </a:solidFill>
                <a:effectLst/>
                <a:latin typeface="Arial" panose="020B0604020202020204" pitchFamily="34" charset="0"/>
              </a:rPr>
              <a:t>, which is great for general-purpose 	web servers.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 Choose an Instance Type</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For this demo, </a:t>
            </a:r>
            <a:r>
              <a:rPr kumimoji="0" lang="en-US" altLang="en-US" sz="1800" b="1" i="0" u="none" strike="noStrike" cap="none" normalizeH="0" baseline="0" dirty="0" smtClean="0">
                <a:ln>
                  <a:noFill/>
                </a:ln>
                <a:solidFill>
                  <a:schemeClr val="tx1"/>
                </a:solidFill>
                <a:effectLst/>
                <a:latin typeface="Arial" panose="020B0604020202020204" pitchFamily="34" charset="0"/>
              </a:rPr>
              <a:t>t2.micro</a:t>
            </a:r>
            <a:r>
              <a:rPr kumimoji="0" lang="en-US" altLang="en-US" sz="1800" b="0" i="0" u="none" strike="noStrike" cap="none" normalizeH="0" baseline="0" dirty="0" smtClean="0">
                <a:ln>
                  <a:noFill/>
                </a:ln>
                <a:solidFill>
                  <a:schemeClr val="tx1"/>
                </a:solidFill>
                <a:effectLst/>
                <a:latin typeface="Arial" panose="020B0604020202020204" pitchFamily="34" charset="0"/>
              </a:rPr>
              <a:t> is selected (1 vCPU, 1 GB RAM)—which is eligible under the </a:t>
            </a:r>
            <a:r>
              <a:rPr kumimoji="0" lang="en-US" altLang="en-US" sz="1800" b="1" i="0" u="none" strike="noStrike" cap="none" normalizeH="0" baseline="0" dirty="0" smtClean="0">
                <a:ln>
                  <a:noFill/>
                </a:ln>
                <a:solidFill>
                  <a:schemeClr val="tx1"/>
                </a:solidFill>
                <a:effectLst/>
                <a:latin typeface="Arial" panose="020B0604020202020204" pitchFamily="34" charset="0"/>
              </a:rPr>
              <a:t>Free Tier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 Select or Create a Key Pair</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Key pairs are used for secure SSH access. The </a:t>
            </a:r>
            <a:r>
              <a:rPr kumimoji="0" lang="en-US" altLang="en-US" sz="1800" b="1" i="0" u="none" strike="noStrike" cap="none" normalizeH="0" baseline="0" dirty="0" smtClean="0">
                <a:ln>
                  <a:noFill/>
                </a:ln>
                <a:solidFill>
                  <a:schemeClr val="tx1"/>
                </a:solidFill>
                <a:effectLst/>
                <a:latin typeface="Arial" panose="020B0604020202020204" pitchFamily="34" charset="0"/>
              </a:rPr>
              <a:t>public key</a:t>
            </a:r>
            <a:r>
              <a:rPr kumimoji="0" lang="en-US" altLang="en-US" sz="1800" b="0" i="0" u="none" strike="noStrike" cap="none" normalizeH="0" baseline="0" dirty="0" smtClean="0">
                <a:ln>
                  <a:noFill/>
                </a:ln>
                <a:solidFill>
                  <a:schemeClr val="tx1"/>
                </a:solidFill>
                <a:effectLst/>
                <a:latin typeface="Arial" panose="020B0604020202020204" pitchFamily="34" charset="0"/>
              </a:rPr>
              <a:t> is stored on the instance, and you 	keep the </a:t>
            </a:r>
            <a:r>
              <a:rPr kumimoji="0" lang="en-US" altLang="en-US" sz="1800" b="1" i="0" u="none" strike="noStrike" cap="none" normalizeH="0" baseline="0" dirty="0" smtClean="0">
                <a:ln>
                  <a:noFill/>
                </a:ln>
                <a:solidFill>
                  <a:schemeClr val="tx1"/>
                </a:solidFill>
                <a:effectLst/>
                <a:latin typeface="Arial" panose="020B0604020202020204" pitchFamily="34" charset="0"/>
              </a:rPr>
              <a:t>private key</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91381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ectangle 1"/>
          <p:cNvSpPr>
            <a:spLocks noGrp="1" noChangeArrowheads="1"/>
          </p:cNvSpPr>
          <p:nvPr>
            <p:ph idx="1"/>
          </p:nvPr>
        </p:nvSpPr>
        <p:spPr bwMode="auto">
          <a:xfrm>
            <a:off x="646982" y="1922238"/>
            <a:ext cx="1039483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a:latin typeface="Arial" panose="020B0604020202020204" pitchFamily="34" charset="0"/>
              </a:rPr>
              <a:t>6</a:t>
            </a:r>
            <a:r>
              <a:rPr kumimoji="0" lang="en-US" altLang="en-US" sz="1800" b="1" i="0" u="none" strike="noStrike" cap="none" normalizeH="0" baseline="0" dirty="0" smtClean="0">
                <a:ln>
                  <a:noFill/>
                </a:ln>
                <a:solidFill>
                  <a:schemeClr val="tx1"/>
                </a:solidFill>
                <a:effectLst/>
                <a:latin typeface="Arial" panose="020B0604020202020204" pitchFamily="34" charset="0"/>
              </a:rPr>
              <a:t>.</a:t>
            </a:r>
            <a:r>
              <a:rPr kumimoji="0" lang="en-US" altLang="en-US" sz="1800" b="1" i="0" u="none" strike="noStrike" cap="none" normalizeH="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 Configure Network Settings</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Allow </a:t>
            </a:r>
            <a:r>
              <a:rPr kumimoji="0" lang="en-US" altLang="en-US" sz="1800" b="1" i="0" u="none" strike="noStrike" cap="none" normalizeH="0" baseline="0" dirty="0" smtClean="0">
                <a:ln>
                  <a:noFill/>
                </a:ln>
                <a:solidFill>
                  <a:schemeClr val="tx1"/>
                </a:solidFill>
                <a:effectLst/>
                <a:latin typeface="Arial" panose="020B0604020202020204" pitchFamily="34" charset="0"/>
              </a:rPr>
              <a:t>HTTP traffic</a:t>
            </a:r>
            <a:r>
              <a:rPr kumimoji="0" lang="en-US" altLang="en-US" sz="1800" b="0" i="0" u="none" strike="noStrike" cap="none" normalizeH="0" baseline="0" dirty="0" smtClean="0">
                <a:ln>
                  <a:noFill/>
                </a:ln>
                <a:solidFill>
                  <a:schemeClr val="tx1"/>
                </a:solidFill>
                <a:effectLst/>
                <a:latin typeface="Arial" panose="020B0604020202020204" pitchFamily="34" charset="0"/>
              </a:rPr>
              <a:t> so the instance can serve web pages publicly.</a:t>
            </a:r>
          </a:p>
          <a:p>
            <a:pPr marL="342900" marR="0" lvl="0" indent="-342900" algn="l" defTabSz="914400" rtl="0" eaLnBrk="0" fontAlgn="base" latinLnBrk="0" hangingPunct="0">
              <a:lnSpc>
                <a:spcPct val="100000"/>
              </a:lnSpc>
              <a:spcBef>
                <a:spcPct val="0"/>
              </a:spcBef>
              <a:spcAft>
                <a:spcPct val="0"/>
              </a:spcAft>
              <a:buClrTx/>
              <a:buSzTx/>
              <a:buAutoNum type="arabicPeriod" startAt="7"/>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Configure Storage</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Allocate </a:t>
            </a:r>
            <a:r>
              <a:rPr kumimoji="0" lang="en-US" altLang="en-US" sz="1800" b="1" i="0" u="none" strike="noStrike" cap="none" normalizeH="0" baseline="0" dirty="0" smtClean="0">
                <a:ln>
                  <a:noFill/>
                </a:ln>
                <a:solidFill>
                  <a:schemeClr val="tx1"/>
                </a:solidFill>
                <a:effectLst/>
                <a:latin typeface="Arial" panose="020B0604020202020204" pitchFamily="34" charset="0"/>
              </a:rPr>
              <a:t>8 GB</a:t>
            </a:r>
            <a:r>
              <a:rPr kumimoji="0" lang="en-US" altLang="en-US" sz="1800" b="0" i="0" u="none" strike="noStrike" cap="none" normalizeH="0" baseline="0" dirty="0" smtClean="0">
                <a:ln>
                  <a:noFill/>
                </a:ln>
                <a:solidFill>
                  <a:schemeClr val="tx1"/>
                </a:solidFill>
                <a:effectLst/>
                <a:latin typeface="Arial" panose="020B0604020202020204" pitchFamily="34" charset="0"/>
              </a:rPr>
              <a:t> using </a:t>
            </a:r>
            <a:r>
              <a:rPr kumimoji="0" lang="en-US" altLang="en-US" sz="1800" b="1" i="0" u="none" strike="noStrike" cap="none" normalizeH="0" baseline="0" dirty="0" smtClean="0">
                <a:ln>
                  <a:noFill/>
                </a:ln>
                <a:solidFill>
                  <a:schemeClr val="tx1"/>
                </a:solidFill>
                <a:effectLst/>
                <a:latin typeface="Arial" panose="020B0604020202020204" pitchFamily="34" charset="0"/>
              </a:rPr>
              <a:t>gp3 EBS</a:t>
            </a:r>
            <a:r>
              <a:rPr kumimoji="0" lang="en-US" altLang="en-US" sz="1800" b="0" i="0" u="none" strike="noStrike" cap="none" normalizeH="0" baseline="0" dirty="0" smtClean="0">
                <a:ln>
                  <a:noFill/>
                </a:ln>
                <a:solidFill>
                  <a:schemeClr val="tx1"/>
                </a:solidFill>
                <a:effectLst/>
                <a:latin typeface="Arial" panose="020B0604020202020204" pitchFamily="34" charset="0"/>
              </a:rPr>
              <a:t> (Elastic Block Store) for your instance's disk space.</a:t>
            </a:r>
          </a:p>
          <a:p>
            <a:pPr marL="342900" marR="0" lvl="0" indent="-342900" algn="l" defTabSz="914400" rtl="0" eaLnBrk="0" fontAlgn="base" latinLnBrk="0" hangingPunct="0">
              <a:lnSpc>
                <a:spcPct val="100000"/>
              </a:lnSpc>
              <a:spcBef>
                <a:spcPct val="0"/>
              </a:spcBef>
              <a:spcAft>
                <a:spcPct val="0"/>
              </a:spcAft>
              <a:buClrTx/>
              <a:buSzTx/>
              <a:buAutoNum type="arabicPeriod" startAt="7"/>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Add User Data Script</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In the </a:t>
            </a:r>
            <a:r>
              <a:rPr kumimoji="0" lang="en-US" altLang="en-US" sz="1800" b="1" i="0" u="none" strike="noStrike" cap="none" normalizeH="0" baseline="0" dirty="0" smtClean="0">
                <a:ln>
                  <a:noFill/>
                </a:ln>
                <a:solidFill>
                  <a:schemeClr val="tx1"/>
                </a:solidFill>
                <a:effectLst/>
                <a:latin typeface="Arial" panose="020B0604020202020204" pitchFamily="34" charset="0"/>
              </a:rPr>
              <a:t>Advanced Details</a:t>
            </a:r>
            <a:r>
              <a:rPr kumimoji="0" lang="en-US" altLang="en-US" sz="1800" b="0" i="0" u="none" strike="noStrike" cap="none" normalizeH="0" baseline="0" dirty="0" smtClean="0">
                <a:ln>
                  <a:noFill/>
                </a:ln>
                <a:solidFill>
                  <a:schemeClr val="tx1"/>
                </a:solidFill>
                <a:effectLst/>
                <a:latin typeface="Arial" panose="020B0604020202020204" pitchFamily="34" charset="0"/>
              </a:rPr>
              <a:t>, add a shell script in the </a:t>
            </a:r>
            <a:r>
              <a:rPr kumimoji="0" lang="en-US" altLang="en-US" sz="1800" b="1" i="0" u="none" strike="noStrike" cap="none" normalizeH="0" baseline="0" dirty="0" smtClean="0">
                <a:ln>
                  <a:noFill/>
                </a:ln>
                <a:solidFill>
                  <a:schemeClr val="tx1"/>
                </a:solidFill>
                <a:effectLst/>
                <a:latin typeface="Arial" panose="020B0604020202020204" pitchFamily="34" charset="0"/>
              </a:rPr>
              <a:t>User Data</a:t>
            </a:r>
            <a:r>
              <a:rPr kumimoji="0" lang="en-US" altLang="en-US" sz="1800" b="0" i="0" u="none" strike="noStrike" cap="none" normalizeH="0" baseline="0" dirty="0" smtClean="0">
                <a:ln>
                  <a:noFill/>
                </a:ln>
                <a:solidFill>
                  <a:schemeClr val="tx1"/>
                </a:solidFill>
                <a:effectLst/>
                <a:latin typeface="Arial" panose="020B0604020202020204" pitchFamily="34" charset="0"/>
              </a:rPr>
              <a:t> section to automatically install and start the </a:t>
            </a:r>
            <a:r>
              <a:rPr kumimoji="0" lang="en-US" altLang="en-US" sz="1800" b="1" i="0" u="none" strike="noStrike" cap="none" normalizeH="0" baseline="0" dirty="0" smtClean="0">
                <a:ln>
                  <a:noFill/>
                </a:ln>
                <a:solidFill>
                  <a:schemeClr val="tx1"/>
                </a:solidFill>
                <a:effectLst/>
                <a:latin typeface="Arial" panose="020B0604020202020204" pitchFamily="34" charset="0"/>
              </a:rPr>
              <a:t>Nginx web server</a:t>
            </a:r>
            <a:r>
              <a:rPr kumimoji="0" lang="en-US" altLang="en-US" sz="1800" b="0" i="0" u="none" strike="noStrike" cap="none" normalizeH="0" baseline="0" dirty="0" smtClean="0">
                <a:ln>
                  <a:noFill/>
                </a:ln>
                <a:solidFill>
                  <a:schemeClr val="tx1"/>
                </a:solidFill>
                <a:effectLst/>
                <a:latin typeface="Arial" panose="020B0604020202020204" pitchFamily="34" charset="0"/>
              </a:rPr>
              <a:t> at launch.</a:t>
            </a:r>
          </a:p>
          <a:p>
            <a:pPr marL="342900" marR="0" lvl="0" indent="-342900" algn="l" defTabSz="914400" rtl="0" eaLnBrk="0" fontAlgn="base" latinLnBrk="0" hangingPunct="0">
              <a:lnSpc>
                <a:spcPct val="100000"/>
              </a:lnSpc>
              <a:spcBef>
                <a:spcPct val="0"/>
              </a:spcBef>
              <a:spcAft>
                <a:spcPct val="0"/>
              </a:spcAft>
              <a:buClrTx/>
              <a:buSzTx/>
              <a:buAutoNum type="arabicPeriod" startAt="7"/>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Launch the Instance</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Click </a:t>
            </a:r>
            <a:r>
              <a:rPr kumimoji="0" lang="en-US" altLang="en-US" sz="1800" b="1" i="0" u="none" strike="noStrike" cap="none" normalizeH="0" baseline="0" dirty="0" smtClean="0">
                <a:ln>
                  <a:noFill/>
                </a:ln>
                <a:solidFill>
                  <a:schemeClr val="tx1"/>
                </a:solidFill>
                <a:effectLst/>
                <a:latin typeface="Arial" panose="020B0604020202020204" pitchFamily="34" charset="0"/>
              </a:rPr>
              <a:t>“Launch Instance.”</a:t>
            </a:r>
            <a:r>
              <a:rPr kumimoji="0" lang="en-US" altLang="en-US" sz="1800" b="0" i="0" u="none" strike="noStrike" cap="none" normalizeH="0" baseline="0" dirty="0" smtClean="0">
                <a:ln>
                  <a:noFill/>
                </a:ln>
                <a:solidFill>
                  <a:schemeClr val="tx1"/>
                </a:solidFill>
                <a:effectLst/>
                <a:latin typeface="Arial" panose="020B0604020202020204" pitchFamily="34" charset="0"/>
              </a:rPr>
              <a:t> Once it’s running, go to the instance dashboard.</a:t>
            </a:r>
          </a:p>
          <a:p>
            <a:pPr marL="342900" marR="0" lvl="0" indent="-342900" algn="l" defTabSz="914400" rtl="0" eaLnBrk="0" fontAlgn="base" latinLnBrk="0" hangingPunct="0">
              <a:lnSpc>
                <a:spcPct val="100000"/>
              </a:lnSpc>
              <a:spcBef>
                <a:spcPct val="0"/>
              </a:spcBef>
              <a:spcAft>
                <a:spcPct val="0"/>
              </a:spcAft>
              <a:buClrTx/>
              <a:buSzTx/>
              <a:buAutoNum type="arabicPeriod" startAt="7"/>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Access the Web Server</a:t>
            </a:r>
            <a:r>
              <a:rPr kumimoji="0" lang="en-US" altLang="en-US" sz="1800" b="0" i="0" u="none" strike="noStrike" cap="none" normalizeH="0" baseline="0" dirty="0" smtClean="0">
                <a:ln>
                  <a:noFill/>
                </a:ln>
                <a:solidFill>
                  <a:schemeClr val="tx1"/>
                </a:solidFill>
                <a:effectLst/>
                <a:latin typeface="Arial" panose="020B0604020202020204" pitchFamily="34" charset="0"/>
              </a:rPr>
              <a:t>:</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Copy the instance’s </a:t>
            </a:r>
            <a:r>
              <a:rPr kumimoji="0" lang="en-US" altLang="en-US" sz="1800" b="1" i="0" u="none" strike="noStrike" cap="none" normalizeH="0" baseline="0" dirty="0" smtClean="0">
                <a:ln>
                  <a:noFill/>
                </a:ln>
                <a:solidFill>
                  <a:schemeClr val="tx1"/>
                </a:solidFill>
                <a:effectLst/>
                <a:latin typeface="Arial" panose="020B0604020202020204" pitchFamily="34" charset="0"/>
              </a:rPr>
              <a:t>public IP address</a:t>
            </a:r>
            <a:r>
              <a:rPr kumimoji="0" lang="en-US" altLang="en-US" sz="1800" b="0" i="0" u="none" strike="noStrike" cap="none" normalizeH="0" baseline="0" dirty="0" smtClean="0">
                <a:ln>
                  <a:noFill/>
                </a:ln>
                <a:solidFill>
                  <a:schemeClr val="tx1"/>
                </a:solidFill>
                <a:effectLst/>
                <a:latin typeface="Arial" panose="020B0604020202020204" pitchFamily="34" charset="0"/>
              </a:rPr>
              <a:t>, paste it into a browser, and you should see the </a:t>
            </a:r>
            <a:r>
              <a:rPr kumimoji="0" lang="en-US" altLang="en-US" sz="1800" b="1" i="0" u="none" strike="noStrike" cap="none" normalizeH="0" baseline="0" dirty="0" smtClean="0">
                <a:ln>
                  <a:noFill/>
                </a:ln>
                <a:solidFill>
                  <a:schemeClr val="tx1"/>
                </a:solidFill>
                <a:effectLst/>
                <a:latin typeface="Arial" panose="020B0604020202020204" pitchFamily="34" charset="0"/>
              </a:rPr>
              <a:t>Nginx welcome page</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342900" indent="-342900" eaLnBrk="0" fontAlgn="base" hangingPunct="0">
              <a:lnSpc>
                <a:spcPct val="100000"/>
              </a:lnSpc>
              <a:spcBef>
                <a:spcPct val="0"/>
              </a:spcBef>
              <a:spcAft>
                <a:spcPct val="0"/>
              </a:spcAft>
              <a:buFont typeface="Arial" panose="020B0604020202020204" pitchFamily="34" charset="0"/>
              <a:buAutoNum type="arabicPeriod" startAt="6"/>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9244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19209" y="534838"/>
            <a:ext cx="7817509" cy="6073446"/>
          </a:xfrm>
          <a:prstGeom prst="rect">
            <a:avLst/>
          </a:prstGeom>
        </p:spPr>
      </p:pic>
    </p:spTree>
    <p:extLst>
      <p:ext uri="{BB962C8B-B14F-4D97-AF65-F5344CB8AC3E}">
        <p14:creationId xmlns:p14="http://schemas.microsoft.com/office/powerpoint/2010/main" val="520506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62156" y="160726"/>
            <a:ext cx="8681407" cy="6421228"/>
          </a:xfrm>
          <a:prstGeom prst="rect">
            <a:avLst/>
          </a:prstGeom>
        </p:spPr>
      </p:pic>
    </p:spTree>
    <p:extLst>
      <p:ext uri="{BB962C8B-B14F-4D97-AF65-F5344CB8AC3E}">
        <p14:creationId xmlns:p14="http://schemas.microsoft.com/office/powerpoint/2010/main" val="860137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75736" y="215661"/>
            <a:ext cx="11222277" cy="6297283"/>
          </a:xfrm>
          <a:prstGeom prst="rect">
            <a:avLst/>
          </a:prstGeom>
        </p:spPr>
      </p:pic>
    </p:spTree>
    <p:extLst>
      <p:ext uri="{BB962C8B-B14F-4D97-AF65-F5344CB8AC3E}">
        <p14:creationId xmlns:p14="http://schemas.microsoft.com/office/powerpoint/2010/main" val="3052400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6344" y="2199466"/>
            <a:ext cx="4777596" cy="1325563"/>
          </a:xfrm>
        </p:spPr>
        <p:txBody>
          <a:bodyPr/>
          <a:lstStyle/>
          <a:p>
            <a:r>
              <a:rPr lang="en-US" b="1" dirty="0" smtClean="0"/>
              <a:t>Amazon EC2 Pricing</a:t>
            </a:r>
            <a:endParaRPr lang="en-US" dirty="0"/>
          </a:p>
        </p:txBody>
      </p:sp>
    </p:spTree>
    <p:extLst>
      <p:ext uri="{BB962C8B-B14F-4D97-AF65-F5344CB8AC3E}">
        <p14:creationId xmlns:p14="http://schemas.microsoft.com/office/powerpoint/2010/main" val="3180370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learn</a:t>
            </a:r>
            <a:endParaRPr lang="en-US" dirty="0"/>
          </a:p>
        </p:txBody>
      </p:sp>
      <p:sp>
        <p:nvSpPr>
          <p:cNvPr id="3" name="Content Placeholder 2"/>
          <p:cNvSpPr>
            <a:spLocks noGrp="1"/>
          </p:cNvSpPr>
          <p:nvPr>
            <p:ph idx="1"/>
          </p:nvPr>
        </p:nvSpPr>
        <p:spPr/>
        <p:txBody>
          <a:bodyPr/>
          <a:lstStyle/>
          <a:p>
            <a:r>
              <a:rPr lang="en-US" dirty="0" smtClean="0">
                <a:effectLst/>
              </a:rPr>
              <a:t>Explain the available Amazon EC2 pricing options.</a:t>
            </a:r>
          </a:p>
          <a:p>
            <a:r>
              <a:rPr lang="en-US" dirty="0" smtClean="0">
                <a:effectLst/>
              </a:rPr>
              <a:t>Describe when to use each pricing option based on specific use cases.</a:t>
            </a:r>
          </a:p>
          <a:p>
            <a:r>
              <a:rPr lang="en-US" dirty="0" smtClean="0">
                <a:effectLst/>
              </a:rPr>
              <a:t>Describe Amazon EC2 Capacity Reservations and Reserved Instance (RI) flexibility.</a:t>
            </a:r>
          </a:p>
          <a:p>
            <a:pPr marL="0" indent="0">
              <a:buNone/>
            </a:pPr>
            <a:endParaRPr lang="en-US" dirty="0"/>
          </a:p>
        </p:txBody>
      </p:sp>
    </p:spTree>
    <p:extLst>
      <p:ext uri="{BB962C8B-B14F-4D97-AF65-F5344CB8AC3E}">
        <p14:creationId xmlns:p14="http://schemas.microsoft.com/office/powerpoint/2010/main" val="2271124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EC2 Pricing Options</a:t>
            </a:r>
            <a:endParaRPr lang="en-US" dirty="0"/>
          </a:p>
        </p:txBody>
      </p:sp>
      <p:sp>
        <p:nvSpPr>
          <p:cNvPr id="3" name="Content Placeholder 2"/>
          <p:cNvSpPr>
            <a:spLocks noGrp="1"/>
          </p:cNvSpPr>
          <p:nvPr>
            <p:ph idx="1"/>
          </p:nvPr>
        </p:nvSpPr>
        <p:spPr/>
        <p:txBody>
          <a:bodyPr>
            <a:normAutofit/>
          </a:bodyPr>
          <a:lstStyle/>
          <a:p>
            <a:r>
              <a:rPr lang="en-US" dirty="0" smtClean="0"/>
              <a:t>AWS offers </a:t>
            </a:r>
            <a:r>
              <a:rPr lang="en-US" b="1" dirty="0" smtClean="0"/>
              <a:t>flexible EC2 pricing models</a:t>
            </a:r>
            <a:r>
              <a:rPr lang="en-US" dirty="0" smtClean="0"/>
              <a:t> to help you balance cost, performance, and workload needs. Here’s a breakdown of the main options:</a:t>
            </a:r>
          </a:p>
          <a:p>
            <a:pPr marL="0" indent="0">
              <a:buNone/>
            </a:pPr>
            <a:r>
              <a:rPr lang="en-US" b="1" dirty="0" smtClean="0"/>
              <a:t>1. On-Demand</a:t>
            </a:r>
          </a:p>
          <a:p>
            <a:pPr lvl="1"/>
            <a:r>
              <a:rPr lang="en-US" b="1" dirty="0" smtClean="0"/>
              <a:t>Pay-as-you-go</a:t>
            </a:r>
            <a:r>
              <a:rPr lang="en-US" dirty="0" smtClean="0"/>
              <a:t> pricing.</a:t>
            </a:r>
          </a:p>
          <a:p>
            <a:pPr lvl="1"/>
            <a:r>
              <a:rPr lang="en-US" dirty="0" smtClean="0"/>
              <a:t>Billed by </a:t>
            </a:r>
            <a:r>
              <a:rPr lang="en-US" b="1" dirty="0" smtClean="0"/>
              <a:t>hour or second</a:t>
            </a:r>
            <a:r>
              <a:rPr lang="en-US" dirty="0" smtClean="0"/>
              <a:t>, depending on instance type.</a:t>
            </a:r>
          </a:p>
          <a:p>
            <a:pPr lvl="1"/>
            <a:r>
              <a:rPr lang="en-US" b="1" dirty="0" smtClean="0"/>
              <a:t>No long-term commitments</a:t>
            </a:r>
            <a:r>
              <a:rPr lang="en-US" dirty="0" smtClean="0"/>
              <a:t>.</a:t>
            </a:r>
          </a:p>
          <a:p>
            <a:pPr lvl="1"/>
            <a:r>
              <a:rPr lang="en-US" dirty="0" smtClean="0"/>
              <a:t>Best for:</a:t>
            </a:r>
          </a:p>
          <a:p>
            <a:pPr lvl="2"/>
            <a:r>
              <a:rPr lang="en-US" dirty="0" smtClean="0"/>
              <a:t>Testing</a:t>
            </a:r>
          </a:p>
          <a:p>
            <a:pPr lvl="2"/>
            <a:r>
              <a:rPr lang="en-US" dirty="0" smtClean="0"/>
              <a:t>Short-term or unpredictable workloads</a:t>
            </a:r>
          </a:p>
          <a:p>
            <a:pPr lvl="2"/>
            <a:r>
              <a:rPr lang="en-US" dirty="0" smtClean="0"/>
              <a:t>Beginners exploring AWS</a:t>
            </a:r>
          </a:p>
          <a:p>
            <a:pPr marL="0" indent="0">
              <a:buNone/>
            </a:pPr>
            <a:endParaRPr lang="en-US" dirty="0"/>
          </a:p>
        </p:txBody>
      </p:sp>
    </p:spTree>
    <p:extLst>
      <p:ext uri="{BB962C8B-B14F-4D97-AF65-F5344CB8AC3E}">
        <p14:creationId xmlns:p14="http://schemas.microsoft.com/office/powerpoint/2010/main" val="37672176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2.  Savings Plans</a:t>
            </a:r>
          </a:p>
          <a:p>
            <a:pPr lvl="1"/>
            <a:r>
              <a:rPr lang="en-US" dirty="0" smtClean="0"/>
              <a:t>Commit to a </a:t>
            </a:r>
            <a:r>
              <a:rPr lang="en-US" b="1" dirty="0" smtClean="0"/>
              <a:t>consistent usage (measured in $/hour)</a:t>
            </a:r>
            <a:r>
              <a:rPr lang="en-US" dirty="0" smtClean="0"/>
              <a:t> for </a:t>
            </a:r>
            <a:r>
              <a:rPr lang="en-US" b="1" dirty="0" smtClean="0"/>
              <a:t>1 or 3 years</a:t>
            </a:r>
            <a:r>
              <a:rPr lang="en-US" dirty="0" smtClean="0"/>
              <a:t>.</a:t>
            </a:r>
          </a:p>
          <a:p>
            <a:pPr lvl="1"/>
            <a:r>
              <a:rPr lang="en-US" dirty="0" smtClean="0"/>
              <a:t>Save up to </a:t>
            </a:r>
            <a:r>
              <a:rPr lang="en-US" b="1" dirty="0" smtClean="0"/>
              <a:t>72%</a:t>
            </a:r>
            <a:r>
              <a:rPr lang="en-US" dirty="0" smtClean="0"/>
              <a:t> off On-Demand pricing.</a:t>
            </a:r>
          </a:p>
          <a:p>
            <a:pPr lvl="1"/>
            <a:r>
              <a:rPr lang="en-US" dirty="0" smtClean="0"/>
              <a:t>Applies to:</a:t>
            </a:r>
          </a:p>
          <a:p>
            <a:pPr lvl="2"/>
            <a:r>
              <a:rPr lang="en-US" dirty="0" smtClean="0"/>
              <a:t>Any EC2 instance (regardless of type or region)</a:t>
            </a:r>
          </a:p>
          <a:p>
            <a:pPr lvl="2"/>
            <a:r>
              <a:rPr lang="en-US" dirty="0" smtClean="0"/>
              <a:t>Also covers </a:t>
            </a:r>
            <a:r>
              <a:rPr lang="en-US" b="1" dirty="0" smtClean="0"/>
              <a:t>AWS Lambda</a:t>
            </a:r>
            <a:r>
              <a:rPr lang="en-US" dirty="0" smtClean="0"/>
              <a:t> and </a:t>
            </a:r>
            <a:r>
              <a:rPr lang="en-US" b="1" dirty="0" err="1" smtClean="0"/>
              <a:t>Fargate</a:t>
            </a:r>
            <a:r>
              <a:rPr lang="en-US" dirty="0" smtClean="0"/>
              <a:t> usage.</a:t>
            </a:r>
          </a:p>
          <a:p>
            <a:pPr lvl="1"/>
            <a:r>
              <a:rPr lang="en-US" dirty="0" smtClean="0"/>
              <a:t>Great for:</a:t>
            </a:r>
          </a:p>
          <a:p>
            <a:pPr lvl="2"/>
            <a:r>
              <a:rPr lang="en-US" dirty="0" smtClean="0"/>
              <a:t>Users with </a:t>
            </a:r>
            <a:r>
              <a:rPr lang="en-US" b="1" dirty="0" smtClean="0"/>
              <a:t>predictable workloads</a:t>
            </a:r>
            <a:r>
              <a:rPr lang="en-US" dirty="0" smtClean="0"/>
              <a:t> seeking flexibility.</a:t>
            </a:r>
          </a:p>
          <a:p>
            <a:endParaRPr lang="en-US" dirty="0"/>
          </a:p>
        </p:txBody>
      </p:sp>
    </p:spTree>
    <p:extLst>
      <p:ext uri="{BB962C8B-B14F-4D97-AF65-F5344CB8AC3E}">
        <p14:creationId xmlns:p14="http://schemas.microsoft.com/office/powerpoint/2010/main" val="2761085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3.  Reserved Instances (RIs)</a:t>
            </a:r>
          </a:p>
          <a:p>
            <a:pPr lvl="1"/>
            <a:r>
              <a:rPr lang="en-US" dirty="0" smtClean="0"/>
              <a:t>Commit to a specific instance type and region for </a:t>
            </a:r>
            <a:r>
              <a:rPr lang="en-US" b="1" dirty="0" smtClean="0"/>
              <a:t>1 or 3 years</a:t>
            </a:r>
            <a:r>
              <a:rPr lang="en-US" dirty="0" smtClean="0"/>
              <a:t>.</a:t>
            </a:r>
          </a:p>
          <a:p>
            <a:pPr lvl="1"/>
            <a:r>
              <a:rPr lang="en-US" dirty="0" smtClean="0"/>
              <a:t>Save up to </a:t>
            </a:r>
            <a:r>
              <a:rPr lang="en-US" b="1" dirty="0" smtClean="0"/>
              <a:t>75%</a:t>
            </a:r>
            <a:r>
              <a:rPr lang="en-US" dirty="0" smtClean="0"/>
              <a:t> compared to On-Demand.</a:t>
            </a:r>
          </a:p>
          <a:p>
            <a:pPr lvl="1"/>
            <a:r>
              <a:rPr lang="en-US" dirty="0" smtClean="0"/>
              <a:t>Payment options:</a:t>
            </a:r>
          </a:p>
          <a:p>
            <a:pPr lvl="2"/>
            <a:r>
              <a:rPr lang="en-US" b="1" dirty="0" smtClean="0"/>
              <a:t>All upfront: </a:t>
            </a:r>
            <a:r>
              <a:rPr lang="en-US" sz="1400" dirty="0" smtClean="0"/>
              <a:t>You </a:t>
            </a:r>
            <a:r>
              <a:rPr lang="en-US" sz="1400" b="1" dirty="0" smtClean="0"/>
              <a:t>pay the entire amount</a:t>
            </a:r>
            <a:r>
              <a:rPr lang="en-US" sz="1400" dirty="0" smtClean="0"/>
              <a:t> for the reserved period </a:t>
            </a:r>
            <a:r>
              <a:rPr lang="en-US" sz="1400" b="1" dirty="0" smtClean="0"/>
              <a:t>at the beginning</a:t>
            </a:r>
            <a:r>
              <a:rPr lang="en-US" sz="1400" dirty="0" smtClean="0"/>
              <a:t>. You won’t be billed monthly.</a:t>
            </a:r>
          </a:p>
          <a:p>
            <a:pPr lvl="2"/>
            <a:r>
              <a:rPr lang="en-US" b="1" dirty="0" smtClean="0"/>
              <a:t>Partial upfront: </a:t>
            </a:r>
            <a:r>
              <a:rPr lang="en-US" sz="1800" dirty="0" smtClean="0"/>
              <a:t>You </a:t>
            </a:r>
            <a:r>
              <a:rPr lang="en-US" sz="1800" b="1" dirty="0" smtClean="0"/>
              <a:t>pay part of the cost up front</a:t>
            </a:r>
            <a:r>
              <a:rPr lang="en-US" sz="1800" dirty="0" smtClean="0"/>
              <a:t>, and the rest is billed </a:t>
            </a:r>
            <a:r>
              <a:rPr lang="en-US" sz="1800" b="1" dirty="0" smtClean="0"/>
              <a:t>monthly</a:t>
            </a:r>
            <a:r>
              <a:rPr lang="en-US" sz="1800" dirty="0" smtClean="0"/>
              <a:t> over the term.</a:t>
            </a:r>
          </a:p>
          <a:p>
            <a:pPr lvl="2"/>
            <a:r>
              <a:rPr lang="en-US" b="1" dirty="0" smtClean="0"/>
              <a:t>No upfront: </a:t>
            </a:r>
            <a:r>
              <a:rPr lang="en-US" sz="1800" dirty="0" smtClean="0"/>
              <a:t>You </a:t>
            </a:r>
            <a:r>
              <a:rPr lang="en-US" sz="1800" b="1" dirty="0" smtClean="0"/>
              <a:t>don’t pay anything up front</a:t>
            </a:r>
            <a:r>
              <a:rPr lang="en-US" sz="1800" dirty="0" smtClean="0"/>
              <a:t>, but are billed </a:t>
            </a:r>
            <a:r>
              <a:rPr lang="en-US" sz="1800" b="1" dirty="0" smtClean="0"/>
              <a:t>monthly</a:t>
            </a:r>
            <a:r>
              <a:rPr lang="en-US" sz="1800" dirty="0" smtClean="0"/>
              <a:t> throughout the term.</a:t>
            </a:r>
          </a:p>
          <a:p>
            <a:pPr lvl="1"/>
            <a:r>
              <a:rPr lang="en-US" dirty="0" smtClean="0"/>
              <a:t>Ideal for:</a:t>
            </a:r>
          </a:p>
          <a:p>
            <a:pPr lvl="2"/>
            <a:r>
              <a:rPr lang="en-US" b="1" dirty="0" smtClean="0"/>
              <a:t>Steady-state or long-term workloads</a:t>
            </a:r>
            <a:r>
              <a:rPr lang="en-US" dirty="0" smtClean="0"/>
              <a:t> with known requirements.</a:t>
            </a:r>
          </a:p>
          <a:p>
            <a:endParaRPr lang="en-US" dirty="0"/>
          </a:p>
        </p:txBody>
      </p:sp>
    </p:spTree>
    <p:extLst>
      <p:ext uri="{BB962C8B-B14F-4D97-AF65-F5344CB8AC3E}">
        <p14:creationId xmlns:p14="http://schemas.microsoft.com/office/powerpoint/2010/main" val="2377291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4.  Spot Instances</a:t>
            </a:r>
          </a:p>
          <a:p>
            <a:pPr lvl="1"/>
            <a:r>
              <a:rPr lang="en-US" dirty="0" smtClean="0"/>
              <a:t>Use </a:t>
            </a:r>
            <a:r>
              <a:rPr lang="en-US" b="1" dirty="0" smtClean="0"/>
              <a:t>unused EC2 capacity</a:t>
            </a:r>
            <a:r>
              <a:rPr lang="en-US" dirty="0" smtClean="0"/>
              <a:t> at up to </a:t>
            </a:r>
            <a:r>
              <a:rPr lang="en-US" b="1" dirty="0" smtClean="0"/>
              <a:t>90% discount</a:t>
            </a:r>
            <a:r>
              <a:rPr lang="en-US" dirty="0" smtClean="0"/>
              <a:t>.</a:t>
            </a:r>
          </a:p>
          <a:p>
            <a:pPr lvl="1"/>
            <a:r>
              <a:rPr lang="en-US" dirty="0" smtClean="0"/>
              <a:t>Instance can be </a:t>
            </a:r>
            <a:r>
              <a:rPr lang="en-US" b="1" dirty="0" smtClean="0"/>
              <a:t>interrupted by AWS</a:t>
            </a:r>
            <a:r>
              <a:rPr lang="en-US" dirty="0" smtClean="0"/>
              <a:t> with a 2-minute warning.</a:t>
            </a:r>
          </a:p>
          <a:p>
            <a:pPr lvl="1"/>
            <a:r>
              <a:rPr lang="en-US" dirty="0" smtClean="0"/>
              <a:t>Suitable for:</a:t>
            </a:r>
          </a:p>
          <a:p>
            <a:pPr lvl="2"/>
            <a:r>
              <a:rPr lang="en-US" b="1" dirty="0" smtClean="0"/>
              <a:t>Fault-tolerant or flexible workloads</a:t>
            </a:r>
            <a:endParaRPr lang="en-US" dirty="0" smtClean="0"/>
          </a:p>
          <a:p>
            <a:pPr lvl="2"/>
            <a:r>
              <a:rPr lang="en-US" dirty="0" smtClean="0"/>
              <a:t>Data analysis, batch jobs, CI/CD tasks</a:t>
            </a:r>
          </a:p>
          <a:p>
            <a:pPr marL="0" indent="0">
              <a:buNone/>
            </a:pPr>
            <a:endParaRPr lang="en-US" dirty="0"/>
          </a:p>
        </p:txBody>
      </p:sp>
    </p:spTree>
    <p:extLst>
      <p:ext uri="{BB962C8B-B14F-4D97-AF65-F5344CB8AC3E}">
        <p14:creationId xmlns:p14="http://schemas.microsoft.com/office/powerpoint/2010/main" val="1422211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dirty="0" smtClean="0"/>
              <a:t>5. Dedicated Hosts</a:t>
            </a:r>
          </a:p>
          <a:p>
            <a:pPr lvl="1"/>
            <a:r>
              <a:rPr lang="en-US" dirty="0" smtClean="0"/>
              <a:t>Rent </a:t>
            </a:r>
            <a:r>
              <a:rPr lang="en-US" b="1" dirty="0" smtClean="0"/>
              <a:t>physical servers exclusively for your use</a:t>
            </a:r>
            <a:r>
              <a:rPr lang="en-US" dirty="0" smtClean="0"/>
              <a:t>.</a:t>
            </a:r>
          </a:p>
          <a:p>
            <a:pPr lvl="1"/>
            <a:r>
              <a:rPr lang="en-US" dirty="0" smtClean="0"/>
              <a:t>Useful for:</a:t>
            </a:r>
          </a:p>
          <a:p>
            <a:pPr lvl="2"/>
            <a:r>
              <a:rPr lang="en-US" b="1" dirty="0" smtClean="0"/>
              <a:t>Compliance or licensing constraints</a:t>
            </a:r>
            <a:r>
              <a:rPr lang="en-US" dirty="0" smtClean="0"/>
              <a:t> (e.g., BYOL for Windows/SQL)</a:t>
            </a:r>
          </a:p>
          <a:p>
            <a:pPr lvl="2"/>
            <a:r>
              <a:rPr lang="en-US" dirty="0" smtClean="0"/>
              <a:t>Workloads needing </a:t>
            </a:r>
            <a:r>
              <a:rPr lang="en-US" b="1" dirty="0" smtClean="0"/>
              <a:t>isolation</a:t>
            </a:r>
            <a:r>
              <a:rPr lang="en-US" dirty="0" smtClean="0"/>
              <a:t> and </a:t>
            </a:r>
            <a:r>
              <a:rPr lang="en-US" b="1" dirty="0" smtClean="0"/>
              <a:t>dedicated hardware</a:t>
            </a:r>
            <a:endParaRPr lang="en-US" dirty="0" smtClean="0"/>
          </a:p>
          <a:p>
            <a:endParaRPr lang="en-US" dirty="0" smtClean="0"/>
          </a:p>
          <a:p>
            <a:endParaRPr lang="en-US" dirty="0"/>
          </a:p>
        </p:txBody>
      </p:sp>
    </p:spTree>
    <p:extLst>
      <p:ext uri="{BB962C8B-B14F-4D97-AF65-F5344CB8AC3E}">
        <p14:creationId xmlns:p14="http://schemas.microsoft.com/office/powerpoint/2010/main" val="2304564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1717" y="391004"/>
            <a:ext cx="10515600" cy="1325563"/>
          </a:xfrm>
        </p:spPr>
        <p:txBody>
          <a:bodyPr/>
          <a:lstStyle/>
          <a:p>
            <a:endParaRPr lang="en-US"/>
          </a:p>
        </p:txBody>
      </p:sp>
      <p:sp>
        <p:nvSpPr>
          <p:cNvPr id="3" name="Content Placeholder 2"/>
          <p:cNvSpPr>
            <a:spLocks noGrp="1"/>
          </p:cNvSpPr>
          <p:nvPr>
            <p:ph idx="1"/>
          </p:nvPr>
        </p:nvSpPr>
        <p:spPr/>
        <p:txBody>
          <a:bodyPr/>
          <a:lstStyle/>
          <a:p>
            <a:pPr marL="514350" indent="-514350">
              <a:buAutoNum type="arabicPeriod" startAt="6"/>
            </a:pPr>
            <a:r>
              <a:rPr lang="en-US" b="1" dirty="0" smtClean="0"/>
              <a:t>Dedicated </a:t>
            </a:r>
            <a:r>
              <a:rPr lang="en-US" b="1" dirty="0"/>
              <a:t>Instances</a:t>
            </a:r>
            <a:r>
              <a:rPr lang="en-US" b="1" dirty="0" smtClean="0"/>
              <a:t>:</a:t>
            </a:r>
          </a:p>
          <a:p>
            <a:pPr lvl="1"/>
            <a:r>
              <a:rPr lang="en-US" dirty="0" smtClean="0"/>
              <a:t>Pay </a:t>
            </a:r>
            <a:r>
              <a:rPr lang="en-US" dirty="0"/>
              <a:t>for instances running on hardware dedicated solely to your account</a:t>
            </a:r>
            <a:r>
              <a:rPr lang="en-US" dirty="0" smtClean="0"/>
              <a:t>.</a:t>
            </a:r>
          </a:p>
          <a:p>
            <a:pPr lvl="1"/>
            <a:r>
              <a:rPr lang="en-US" dirty="0" smtClean="0"/>
              <a:t>This </a:t>
            </a:r>
            <a:r>
              <a:rPr lang="en-US" dirty="0"/>
              <a:t>option provides isolation from other AWS customers</a:t>
            </a:r>
            <a:r>
              <a:rPr lang="en-US" dirty="0" smtClean="0"/>
              <a:t>.</a:t>
            </a:r>
          </a:p>
          <a:p>
            <a:pPr marL="457200" lvl="1" indent="0">
              <a:buNone/>
            </a:pPr>
            <a:endParaRPr lang="en-US" dirty="0"/>
          </a:p>
          <a:p>
            <a:pPr marL="457200" lvl="1" indent="0">
              <a:buNone/>
            </a:pPr>
            <a:endParaRPr lang="en-US" dirty="0" smtClean="0"/>
          </a:p>
        </p:txBody>
      </p:sp>
    </p:spTree>
    <p:extLst>
      <p:ext uri="{BB962C8B-B14F-4D97-AF65-F5344CB8AC3E}">
        <p14:creationId xmlns:p14="http://schemas.microsoft.com/office/powerpoint/2010/main" val="37837404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Takeaway</a:t>
            </a:r>
            <a:endParaRPr lang="en-US" dirty="0"/>
          </a:p>
        </p:txBody>
      </p:sp>
      <p:sp>
        <p:nvSpPr>
          <p:cNvPr id="3" name="Content Placeholder 2"/>
          <p:cNvSpPr>
            <a:spLocks noGrp="1"/>
          </p:cNvSpPr>
          <p:nvPr>
            <p:ph idx="1"/>
          </p:nvPr>
        </p:nvSpPr>
        <p:spPr/>
        <p:txBody>
          <a:bodyPr/>
          <a:lstStyle/>
          <a:p>
            <a:r>
              <a:rPr lang="en-US" dirty="0" smtClean="0"/>
              <a:t>EC2 pricing is </a:t>
            </a:r>
            <a:r>
              <a:rPr lang="en-US" b="1" dirty="0" smtClean="0"/>
              <a:t>highly customizable</a:t>
            </a:r>
            <a:r>
              <a:rPr lang="en-US" dirty="0" smtClean="0"/>
              <a:t>. Start with </a:t>
            </a:r>
            <a:r>
              <a:rPr lang="en-US" b="1" dirty="0" smtClean="0"/>
              <a:t>On-Demand</a:t>
            </a:r>
            <a:r>
              <a:rPr lang="en-US" dirty="0" smtClean="0"/>
              <a:t> for flexibility, then consider </a:t>
            </a:r>
            <a:r>
              <a:rPr lang="en-US" b="1" dirty="0" smtClean="0"/>
              <a:t>Savings Plans</a:t>
            </a:r>
            <a:r>
              <a:rPr lang="en-US" dirty="0" smtClean="0"/>
              <a:t> or </a:t>
            </a:r>
            <a:r>
              <a:rPr lang="en-US" b="1" dirty="0" smtClean="0"/>
              <a:t>Reserved Instances</a:t>
            </a:r>
            <a:r>
              <a:rPr lang="en-US" dirty="0" smtClean="0"/>
              <a:t> as you identify your baseline usage.</a:t>
            </a:r>
          </a:p>
          <a:p>
            <a:r>
              <a:rPr lang="en-US" dirty="0" smtClean="0"/>
              <a:t>For cost-sensitive or special use cases, </a:t>
            </a:r>
            <a:r>
              <a:rPr lang="en-US" b="1" dirty="0" smtClean="0"/>
              <a:t>Spot Instances</a:t>
            </a:r>
            <a:r>
              <a:rPr lang="en-US" dirty="0" smtClean="0"/>
              <a:t> and </a:t>
            </a:r>
            <a:r>
              <a:rPr lang="en-US" b="1" dirty="0" smtClean="0"/>
              <a:t>Dedicated Hosts</a:t>
            </a:r>
            <a:r>
              <a:rPr lang="en-US" dirty="0" smtClean="0"/>
              <a:t> provide even more options.</a:t>
            </a:r>
          </a:p>
          <a:p>
            <a:pPr marL="0" indent="0">
              <a:buNone/>
            </a:pPr>
            <a:endParaRPr lang="en-US" dirty="0" smtClean="0"/>
          </a:p>
          <a:p>
            <a:endParaRPr lang="en-US" dirty="0"/>
          </a:p>
        </p:txBody>
      </p:sp>
    </p:spTree>
    <p:extLst>
      <p:ext uri="{BB962C8B-B14F-4D97-AF65-F5344CB8AC3E}">
        <p14:creationId xmlns:p14="http://schemas.microsoft.com/office/powerpoint/2010/main" val="36807484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38779" y="255617"/>
            <a:ext cx="7315773" cy="6434945"/>
          </a:xfrm>
          <a:prstGeom prst="rect">
            <a:avLst/>
          </a:prstGeom>
        </p:spPr>
      </p:pic>
    </p:spTree>
    <p:extLst>
      <p:ext uri="{BB962C8B-B14F-4D97-AF65-F5344CB8AC3E}">
        <p14:creationId xmlns:p14="http://schemas.microsoft.com/office/powerpoint/2010/main" val="1145232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70561" y="160726"/>
            <a:ext cx="10540306" cy="6697274"/>
          </a:xfrm>
          <a:prstGeom prst="rect">
            <a:avLst/>
          </a:prstGeom>
        </p:spPr>
      </p:pic>
    </p:spTree>
    <p:extLst>
      <p:ext uri="{BB962C8B-B14F-4D97-AF65-F5344CB8AC3E}">
        <p14:creationId xmlns:p14="http://schemas.microsoft.com/office/powerpoint/2010/main" val="188739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about cost </a:t>
            </a:r>
            <a:r>
              <a:rPr lang="en-US" b="1" dirty="0" smtClean="0"/>
              <a:t>optimization</a:t>
            </a:r>
            <a:endParaRPr lang="en-US" dirty="0"/>
          </a:p>
        </p:txBody>
      </p:sp>
      <p:sp>
        <p:nvSpPr>
          <p:cNvPr id="3" name="Content Placeholder 2"/>
          <p:cNvSpPr>
            <a:spLocks noGrp="1"/>
          </p:cNvSpPr>
          <p:nvPr>
            <p:ph idx="1"/>
          </p:nvPr>
        </p:nvSpPr>
        <p:spPr/>
        <p:txBody>
          <a:bodyPr/>
          <a:lstStyle/>
          <a:p>
            <a:r>
              <a:rPr lang="en-US" dirty="0" smtClean="0"/>
              <a:t>To optimize costs and resource allocation, AWS offers a range of pricing options including Savings Plans, Amazon EC2 Capacity Reservations, and Reserved Instances (RIs).</a:t>
            </a:r>
          </a:p>
          <a:p>
            <a:r>
              <a:rPr lang="en-US" dirty="0" smtClean="0"/>
              <a:t> Each of these is tailored to meet different workload and capacity needs.</a:t>
            </a:r>
            <a:endParaRPr lang="en-US" dirty="0"/>
          </a:p>
        </p:txBody>
      </p:sp>
    </p:spTree>
    <p:extLst>
      <p:ext uri="{BB962C8B-B14F-4D97-AF65-F5344CB8AC3E}">
        <p14:creationId xmlns:p14="http://schemas.microsoft.com/office/powerpoint/2010/main" val="1906514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9475" y="2668377"/>
            <a:ext cx="4682706" cy="1325563"/>
          </a:xfrm>
        </p:spPr>
        <p:txBody>
          <a:bodyPr/>
          <a:lstStyle/>
          <a:p>
            <a:r>
              <a:rPr lang="en-US" b="1" dirty="0" smtClean="0"/>
              <a:t>Scaling Amazon EC2</a:t>
            </a:r>
            <a:endParaRPr lang="en-US" dirty="0"/>
          </a:p>
        </p:txBody>
      </p:sp>
    </p:spTree>
    <p:extLst>
      <p:ext uri="{BB962C8B-B14F-4D97-AF65-F5344CB8AC3E}">
        <p14:creationId xmlns:p14="http://schemas.microsoft.com/office/powerpoint/2010/main" val="1350957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 this lesson, you will learn:</a:t>
            </a:r>
            <a:endParaRPr lang="en-US" dirty="0"/>
          </a:p>
        </p:txBody>
      </p:sp>
      <p:sp>
        <p:nvSpPr>
          <p:cNvPr id="3" name="Content Placeholder 2"/>
          <p:cNvSpPr>
            <a:spLocks noGrp="1"/>
          </p:cNvSpPr>
          <p:nvPr>
            <p:ph idx="1"/>
          </p:nvPr>
        </p:nvSpPr>
        <p:spPr/>
        <p:txBody>
          <a:bodyPr/>
          <a:lstStyle/>
          <a:p>
            <a:r>
              <a:rPr lang="en-US" dirty="0" smtClean="0">
                <a:effectLst/>
              </a:rPr>
              <a:t>Recognize the concepts of scalability and elasticity as they apply to AWS.</a:t>
            </a:r>
          </a:p>
          <a:p>
            <a:r>
              <a:rPr lang="en-US" dirty="0" smtClean="0">
                <a:effectLst/>
              </a:rPr>
              <a:t>Describe how AWS can help businesses adjust compute capacity based on varying demands.</a:t>
            </a:r>
          </a:p>
          <a:p>
            <a:endParaRPr lang="en-US" dirty="0"/>
          </a:p>
          <a:p>
            <a:pPr lvl="1"/>
            <a:r>
              <a:rPr lang="en-US" dirty="0" smtClean="0"/>
              <a:t>If you've ever tried to access a website that wouldn't load and kept timing out, it might have been overwhelmed by more requests than it could handle. </a:t>
            </a:r>
            <a:r>
              <a:rPr lang="en-US" dirty="0"/>
              <a:t>In this lesson, you will explore how scalability helps you manage fluctuating demand by adjusting compute capacity.</a:t>
            </a:r>
            <a:endParaRPr lang="en-US" dirty="0" smtClean="0"/>
          </a:p>
          <a:p>
            <a:pPr lvl="1"/>
            <a:endParaRPr lang="en-US" dirty="0" smtClean="0">
              <a:effectLst/>
            </a:endParaRPr>
          </a:p>
          <a:p>
            <a:endParaRPr lang="en-US" dirty="0"/>
          </a:p>
        </p:txBody>
      </p:sp>
    </p:spTree>
    <p:extLst>
      <p:ext uri="{BB962C8B-B14F-4D97-AF65-F5344CB8AC3E}">
        <p14:creationId xmlns:p14="http://schemas.microsoft.com/office/powerpoint/2010/main" val="2625687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Amazon EC2 supports </a:t>
            </a:r>
            <a:r>
              <a:rPr lang="en-US" b="1" dirty="0" smtClean="0"/>
              <a:t>scalability</a:t>
            </a:r>
            <a:r>
              <a:rPr lang="en-US" dirty="0" smtClean="0"/>
              <a:t> and </a:t>
            </a:r>
            <a:r>
              <a:rPr lang="en-US" b="1" dirty="0" smtClean="0"/>
              <a:t>elasticity</a:t>
            </a:r>
            <a:r>
              <a:rPr lang="en-US" dirty="0" smtClean="0"/>
              <a:t>, allowing compute capacity to automatically adjust based on business needs. </a:t>
            </a:r>
          </a:p>
          <a:p>
            <a:r>
              <a:rPr lang="en-US" dirty="0" smtClean="0"/>
              <a:t>Instead of over-provisioning for peak usage or risking under-provisioning during demand spikes, AWS enables provisioning resources to match demand in real time.</a:t>
            </a:r>
          </a:p>
          <a:p>
            <a:r>
              <a:rPr lang="en-US" dirty="0" smtClean="0"/>
              <a:t>High availability is achieved by deploying redundant instances across multiple Availability Zones, eliminating single points of failure and ensuring uninterrupted service even if one instance or location experiences issues.</a:t>
            </a:r>
          </a:p>
          <a:p>
            <a:r>
              <a:rPr lang="en-US" dirty="0" smtClean="0"/>
              <a:t> This approach balances performance, reliability, and cost efficiency, ensuring that resources scale up during increased demand and scale down when demand decreases.</a:t>
            </a:r>
          </a:p>
          <a:p>
            <a:endParaRPr lang="en-US" dirty="0"/>
          </a:p>
        </p:txBody>
      </p:sp>
    </p:spTree>
    <p:extLst>
      <p:ext uri="{BB962C8B-B14F-4D97-AF65-F5344CB8AC3E}">
        <p14:creationId xmlns:p14="http://schemas.microsoft.com/office/powerpoint/2010/main" val="36279404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Scaling in Amazon EC2</a:t>
            </a:r>
            <a:endParaRPr lang="en-US" b="1" dirty="0"/>
          </a:p>
        </p:txBody>
      </p:sp>
      <p:sp>
        <p:nvSpPr>
          <p:cNvPr id="3" name="Content Placeholder 2"/>
          <p:cNvSpPr>
            <a:spLocks noGrp="1"/>
          </p:cNvSpPr>
          <p:nvPr>
            <p:ph idx="1"/>
          </p:nvPr>
        </p:nvSpPr>
        <p:spPr/>
        <p:txBody>
          <a:bodyPr/>
          <a:lstStyle/>
          <a:p>
            <a:r>
              <a:rPr lang="en-US" dirty="0" smtClean="0"/>
              <a:t>There are two primary ways to handle increased demand in Amazon EC2:</a:t>
            </a:r>
          </a:p>
          <a:p>
            <a:pPr lvl="1"/>
            <a:r>
              <a:rPr lang="en-US" b="1" dirty="0" smtClean="0"/>
              <a:t>Scaling Out (Horizontal Scaling):</a:t>
            </a:r>
            <a:r>
              <a:rPr lang="en-US" dirty="0" smtClean="0"/>
              <a:t> Adding more instances to handle workloads in parallel.</a:t>
            </a:r>
          </a:p>
          <a:p>
            <a:pPr lvl="1"/>
            <a:r>
              <a:rPr lang="en-US" b="1" dirty="0" smtClean="0"/>
              <a:t>Scaling Up (Vertical Scaling):</a:t>
            </a:r>
            <a:r>
              <a:rPr lang="en-US" dirty="0" smtClean="0"/>
              <a:t> Upgrading existing instances to more powerful ones.</a:t>
            </a:r>
          </a:p>
          <a:p>
            <a:endParaRPr lang="en-US" dirty="0"/>
          </a:p>
        </p:txBody>
      </p:sp>
    </p:spTree>
    <p:extLst>
      <p:ext uri="{BB962C8B-B14F-4D97-AF65-F5344CB8AC3E}">
        <p14:creationId xmlns:p14="http://schemas.microsoft.com/office/powerpoint/2010/main" val="7773770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2309" y="448574"/>
            <a:ext cx="11360989" cy="6021237"/>
          </a:xfrm>
        </p:spPr>
        <p:txBody>
          <a:bodyPr>
            <a:normAutofit/>
          </a:bodyPr>
          <a:lstStyle/>
          <a:p>
            <a:r>
              <a:rPr lang="en-US" dirty="0" smtClean="0"/>
              <a:t>Scaling out is often preferred for distributed workloads, as it allows different parts of an application to scale independently. For example, you might increase the number of instances handling requests without necessarily increasing the processing instances if they are not overloaded.</a:t>
            </a:r>
          </a:p>
          <a:p>
            <a:r>
              <a:rPr lang="en-US" b="1" dirty="0" smtClean="0"/>
              <a:t>Amazon EC2 Auto Scaling</a:t>
            </a:r>
            <a:r>
              <a:rPr lang="en-US" dirty="0" smtClean="0"/>
              <a:t> automates this process by adding instances when demand increases and removing them when demand decreases, ensuring the right amount of capacity at all times. This is driven by metrics such as CPU usage, latency, or application-specific indicators.</a:t>
            </a:r>
          </a:p>
          <a:p>
            <a:r>
              <a:rPr lang="en-US" b="1" dirty="0" smtClean="0"/>
              <a:t>Amazon </a:t>
            </a:r>
            <a:r>
              <a:rPr lang="en-US" b="1" dirty="0" err="1" smtClean="0"/>
              <a:t>CloudWatch</a:t>
            </a:r>
            <a:r>
              <a:rPr lang="en-US" dirty="0" smtClean="0"/>
              <a:t> is used to collect and monitor these metrics in real time, triggering scaling actions automatically when thresholds are met. This ensures performance consistency, cost efficiency, and the ability to respond instantly to changing workloads.</a:t>
            </a:r>
          </a:p>
          <a:p>
            <a:endParaRPr lang="en-US" dirty="0"/>
          </a:p>
        </p:txBody>
      </p:sp>
    </p:spTree>
    <p:extLst>
      <p:ext uri="{BB962C8B-B14F-4D97-AF65-F5344CB8AC3E}">
        <p14:creationId xmlns:p14="http://schemas.microsoft.com/office/powerpoint/2010/main" val="39013127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60897" y="-1"/>
            <a:ext cx="8889209" cy="6832491"/>
          </a:xfrm>
          <a:prstGeom prst="rect">
            <a:avLst/>
          </a:prstGeom>
        </p:spPr>
      </p:pic>
    </p:spTree>
    <p:extLst>
      <p:ext uri="{BB962C8B-B14F-4D97-AF65-F5344CB8AC3E}">
        <p14:creationId xmlns:p14="http://schemas.microsoft.com/office/powerpoint/2010/main" val="16090762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79484" y="126221"/>
            <a:ext cx="8389135" cy="6671148"/>
          </a:xfrm>
          <a:prstGeom prst="rect">
            <a:avLst/>
          </a:prstGeom>
        </p:spPr>
      </p:pic>
    </p:spTree>
    <p:extLst>
      <p:ext uri="{BB962C8B-B14F-4D97-AF65-F5344CB8AC3E}">
        <p14:creationId xmlns:p14="http://schemas.microsoft.com/office/powerpoint/2010/main" val="1379446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EC2 Auto </a:t>
            </a:r>
            <a:r>
              <a:rPr lang="en-US" b="1" dirty="0" smtClean="0"/>
              <a:t>Scaling</a:t>
            </a:r>
            <a:endParaRPr lang="en-US" dirty="0"/>
          </a:p>
        </p:txBody>
      </p:sp>
      <p:sp>
        <p:nvSpPr>
          <p:cNvPr id="3" name="Content Placeholder 2"/>
          <p:cNvSpPr>
            <a:spLocks noGrp="1"/>
          </p:cNvSpPr>
          <p:nvPr>
            <p:ph idx="1"/>
          </p:nvPr>
        </p:nvSpPr>
        <p:spPr/>
        <p:txBody>
          <a:bodyPr/>
          <a:lstStyle/>
          <a:p>
            <a:r>
              <a:rPr lang="en-US" dirty="0" smtClean="0"/>
              <a:t>With EC2 Auto Scaling, you maintain the desired amount of compute capacity for your application by dynamically adjusting the number of EC2 instances based on demand. You can create Auto Scaling groups, which are collections of EC2 instances that can scale in or out to meet your application’s needs. </a:t>
            </a:r>
          </a:p>
          <a:p>
            <a:r>
              <a:rPr lang="en-US" dirty="0" smtClean="0"/>
              <a:t>An Auto Scaling group is configured with the following three key settings.</a:t>
            </a:r>
          </a:p>
          <a:p>
            <a:endParaRPr lang="en-US" dirty="0"/>
          </a:p>
        </p:txBody>
      </p:sp>
    </p:spTree>
    <p:extLst>
      <p:ext uri="{BB962C8B-B14F-4D97-AF65-F5344CB8AC3E}">
        <p14:creationId xmlns:p14="http://schemas.microsoft.com/office/powerpoint/2010/main" val="21087255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08295" y="301925"/>
            <a:ext cx="6459660" cy="6230421"/>
          </a:xfrm>
          <a:prstGeom prst="rect">
            <a:avLst/>
          </a:prstGeom>
        </p:spPr>
      </p:pic>
    </p:spTree>
    <p:extLst>
      <p:ext uri="{BB962C8B-B14F-4D97-AF65-F5344CB8AC3E}">
        <p14:creationId xmlns:p14="http://schemas.microsoft.com/office/powerpoint/2010/main" val="6255331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726758" y="353683"/>
            <a:ext cx="6374109" cy="6169549"/>
          </a:xfrm>
          <a:prstGeom prst="rect">
            <a:avLst/>
          </a:prstGeom>
        </p:spPr>
      </p:pic>
    </p:spTree>
    <p:extLst>
      <p:ext uri="{BB962C8B-B14F-4D97-AF65-F5344CB8AC3E}">
        <p14:creationId xmlns:p14="http://schemas.microsoft.com/office/powerpoint/2010/main" val="30587590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609698" y="224287"/>
            <a:ext cx="6473917" cy="6300730"/>
          </a:xfrm>
          <a:prstGeom prst="rect">
            <a:avLst/>
          </a:prstGeom>
        </p:spPr>
      </p:pic>
    </p:spTree>
    <p:extLst>
      <p:ext uri="{BB962C8B-B14F-4D97-AF65-F5344CB8AC3E}">
        <p14:creationId xmlns:p14="http://schemas.microsoft.com/office/powerpoint/2010/main" val="25654581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a:t>
            </a:r>
            <a:r>
              <a:rPr lang="en-US" b="1" dirty="0" smtClean="0"/>
              <a:t>takeaways</a:t>
            </a:r>
            <a:endParaRPr lang="en-US" dirty="0"/>
          </a:p>
        </p:txBody>
      </p:sp>
      <p:sp>
        <p:nvSpPr>
          <p:cNvPr id="3" name="Content Placeholder 2"/>
          <p:cNvSpPr>
            <a:spLocks noGrp="1"/>
          </p:cNvSpPr>
          <p:nvPr>
            <p:ph idx="1"/>
          </p:nvPr>
        </p:nvSpPr>
        <p:spPr/>
        <p:txBody>
          <a:bodyPr/>
          <a:lstStyle/>
          <a:p>
            <a:r>
              <a:rPr lang="en-US" dirty="0"/>
              <a:t>Scalability is about a system’s potential to grow over time, whereas elasticity is about the dynamic, on-demand adjustment of resources.</a:t>
            </a:r>
          </a:p>
        </p:txBody>
      </p:sp>
    </p:spTree>
    <p:extLst>
      <p:ext uri="{BB962C8B-B14F-4D97-AF65-F5344CB8AC3E}">
        <p14:creationId xmlns:p14="http://schemas.microsoft.com/office/powerpoint/2010/main" val="38765362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540" y="2599367"/>
            <a:ext cx="11014494" cy="1325563"/>
          </a:xfrm>
        </p:spPr>
        <p:txBody>
          <a:bodyPr/>
          <a:lstStyle/>
          <a:p>
            <a:r>
              <a:rPr lang="en-US" b="1" dirty="0" smtClean="0"/>
              <a:t>Directing Traffic with Elastic Load Balancing (ELB)</a:t>
            </a:r>
            <a:endParaRPr lang="en-US" dirty="0"/>
          </a:p>
        </p:txBody>
      </p:sp>
    </p:spTree>
    <p:extLst>
      <p:ext uri="{BB962C8B-B14F-4D97-AF65-F5344CB8AC3E}">
        <p14:creationId xmlns:p14="http://schemas.microsoft.com/office/powerpoint/2010/main" val="33662691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Describe the challenge of traffic distribution and scalability in AWS environments.</a:t>
            </a:r>
            <a:endParaRPr lang="en-US" dirty="0" smtClean="0"/>
          </a:p>
          <a:p>
            <a:r>
              <a:rPr lang="en-US" dirty="0" smtClean="0">
                <a:effectLst/>
              </a:rPr>
              <a:t>Recognize the benefits of Elastic Load Balancing (ELB) in AWS.</a:t>
            </a:r>
            <a:endParaRPr lang="en-US" dirty="0" smtClean="0"/>
          </a:p>
          <a:p>
            <a:r>
              <a:rPr lang="en-US" dirty="0" smtClean="0">
                <a:effectLst/>
              </a:rPr>
              <a:t>Explain the relationship between Amazon EC2 Auto Scaling and ELB in managing AWS resources.</a:t>
            </a:r>
            <a:endParaRPr lang="en-US" dirty="0" smtClean="0"/>
          </a:p>
          <a:p>
            <a:pPr marL="457200" lvl="1" indent="0">
              <a:buNone/>
            </a:pPr>
            <a:endParaRPr lang="en-US" dirty="0" smtClean="0"/>
          </a:p>
          <a:p>
            <a:pPr marL="457200" lvl="1" indent="0">
              <a:buNone/>
            </a:pPr>
            <a:r>
              <a:rPr lang="en-US" dirty="0" smtClean="0"/>
              <a:t>Spreading </a:t>
            </a:r>
            <a:r>
              <a:rPr lang="en-US" dirty="0"/>
              <a:t>workloads improves the performance of your applications by preventing any single resource from having to handle the full workload on its own. In this lesson, you will learn </a:t>
            </a:r>
            <a:r>
              <a:rPr lang="en-US" dirty="0" smtClean="0"/>
              <a:t>how ELB simplifies traffic distribution and management for AWS applications.</a:t>
            </a:r>
            <a:endParaRPr lang="en-US" dirty="0"/>
          </a:p>
        </p:txBody>
      </p:sp>
    </p:spTree>
    <p:extLst>
      <p:ext uri="{BB962C8B-B14F-4D97-AF65-F5344CB8AC3E}">
        <p14:creationId xmlns:p14="http://schemas.microsoft.com/office/powerpoint/2010/main" val="10773567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While Amazon EC2 Auto Scaling solves the problem of scaling compute resources, distributing incoming traffic evenly across those resources is equally important. This is where </a:t>
            </a:r>
            <a:r>
              <a:rPr lang="en-US" b="1" dirty="0" smtClean="0"/>
              <a:t>load balancing</a:t>
            </a:r>
            <a:r>
              <a:rPr lang="en-US" dirty="0" smtClean="0"/>
              <a:t> comes into play.</a:t>
            </a:r>
          </a:p>
          <a:p>
            <a:r>
              <a:rPr lang="en-US" dirty="0" smtClean="0"/>
              <a:t>A </a:t>
            </a:r>
            <a:r>
              <a:rPr lang="en-US" b="1" dirty="0" smtClean="0"/>
              <a:t>load balancer</a:t>
            </a:r>
            <a:r>
              <a:rPr lang="en-US" dirty="0" smtClean="0"/>
              <a:t> ensures that incoming requests are distributed efficiently across multiple EC2 instances. Without a load balancer, some instances may be idle while others are overloaded, leading to inefficient use of resources and inconsistent performance.</a:t>
            </a:r>
          </a:p>
          <a:p>
            <a:r>
              <a:rPr lang="en-US" b="1" dirty="0" smtClean="0"/>
              <a:t>Elastic Load Balancing (ELB)</a:t>
            </a:r>
            <a:r>
              <a:rPr lang="en-US" dirty="0" smtClean="0"/>
              <a:t> is AWS’s managed load balancing service. It automatically distributes network traffic across multiple EC2 instances and scales with traffic demand. ELB supports both </a:t>
            </a:r>
            <a:r>
              <a:rPr lang="en-US" b="1" dirty="0" smtClean="0"/>
              <a:t>internal</a:t>
            </a:r>
            <a:r>
              <a:rPr lang="en-US" dirty="0" smtClean="0"/>
              <a:t> and </a:t>
            </a:r>
            <a:r>
              <a:rPr lang="en-US" b="1" dirty="0" smtClean="0"/>
              <a:t>external</a:t>
            </a:r>
            <a:r>
              <a:rPr lang="en-US" dirty="0" smtClean="0"/>
              <a:t> traffic and can apply various routing strategies to improve availability and performance.</a:t>
            </a:r>
            <a:endParaRPr lang="en-US" dirty="0"/>
          </a:p>
        </p:txBody>
      </p:sp>
    </p:spTree>
    <p:extLst>
      <p:ext uri="{BB962C8B-B14F-4D97-AF65-F5344CB8AC3E}">
        <p14:creationId xmlns:p14="http://schemas.microsoft.com/office/powerpoint/2010/main" val="18647471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A key advantage of ELB is its </a:t>
            </a:r>
            <a:r>
              <a:rPr lang="en-US" b="1" dirty="0" smtClean="0"/>
              <a:t>elasticity</a:t>
            </a:r>
            <a:r>
              <a:rPr lang="en-US" dirty="0" smtClean="0"/>
              <a:t>—it automatically adjusts to handle varying traffic loads without manual intervention or extra hourly costs. It also removes the complexity of maintaining your own third-party load balancers, as AWS handles scaling, patching, and failover.</a:t>
            </a:r>
          </a:p>
          <a:p>
            <a:r>
              <a:rPr lang="en-US" dirty="0" smtClean="0"/>
              <a:t>In multi-tier applications, ELB simplifies communication between tiers. Instead of having each instance track all others in different tiers, instances communicate with a single ELB endpoint. ELB manages routing traffic to the appropriate backend instance with the fewest active requests.</a:t>
            </a:r>
          </a:p>
          <a:p>
            <a:r>
              <a:rPr lang="en-US" dirty="0" smtClean="0"/>
              <a:t>This </a:t>
            </a:r>
            <a:r>
              <a:rPr lang="en-US" b="1" dirty="0" smtClean="0"/>
              <a:t>decouples system components</a:t>
            </a:r>
            <a:r>
              <a:rPr lang="en-US" dirty="0" smtClean="0"/>
              <a:t>, making each tier independently scalable and easier to manage.</a:t>
            </a:r>
          </a:p>
          <a:p>
            <a:endParaRPr lang="en-US" dirty="0"/>
          </a:p>
        </p:txBody>
      </p:sp>
    </p:spTree>
    <p:extLst>
      <p:ext uri="{BB962C8B-B14F-4D97-AF65-F5344CB8AC3E}">
        <p14:creationId xmlns:p14="http://schemas.microsoft.com/office/powerpoint/2010/main" val="7536080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takeaways: ELB </a:t>
            </a:r>
            <a:r>
              <a:rPr lang="en-US" b="1" dirty="0" smtClean="0"/>
              <a:t>benefits</a:t>
            </a:r>
            <a:endParaRPr lang="en-US" dirty="0"/>
          </a:p>
        </p:txBody>
      </p:sp>
      <p:sp>
        <p:nvSpPr>
          <p:cNvPr id="3" name="Content Placeholder 2"/>
          <p:cNvSpPr>
            <a:spLocks noGrp="1"/>
          </p:cNvSpPr>
          <p:nvPr>
            <p:ph idx="1"/>
          </p:nvPr>
        </p:nvSpPr>
        <p:spPr/>
        <p:txBody>
          <a:bodyPr/>
          <a:lstStyle/>
          <a:p>
            <a:r>
              <a:rPr lang="en-US" dirty="0" smtClean="0"/>
              <a:t>Let's review the main benefits of elastic load balancing and how it enhances the performance, scalability, and management of your AWS environment. </a:t>
            </a:r>
          </a:p>
          <a:p>
            <a:endParaRPr lang="en-US" dirty="0"/>
          </a:p>
        </p:txBody>
      </p:sp>
      <p:pic>
        <p:nvPicPr>
          <p:cNvPr id="4" name="Picture 3"/>
          <p:cNvPicPr>
            <a:picLocks noChangeAspect="1"/>
          </p:cNvPicPr>
          <p:nvPr/>
        </p:nvPicPr>
        <p:blipFill>
          <a:blip r:embed="rId2"/>
          <a:stretch>
            <a:fillRect/>
          </a:stretch>
        </p:blipFill>
        <p:spPr>
          <a:xfrm>
            <a:off x="838200" y="3187101"/>
            <a:ext cx="10452527" cy="3670899"/>
          </a:xfrm>
          <a:prstGeom prst="rect">
            <a:avLst/>
          </a:prstGeom>
        </p:spPr>
      </p:pic>
    </p:spTree>
    <p:extLst>
      <p:ext uri="{BB962C8B-B14F-4D97-AF65-F5344CB8AC3E}">
        <p14:creationId xmlns:p14="http://schemas.microsoft.com/office/powerpoint/2010/main" val="26321115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 methods</a:t>
            </a:r>
          </a:p>
        </p:txBody>
      </p:sp>
      <p:sp>
        <p:nvSpPr>
          <p:cNvPr id="3" name="Content Placeholder 2"/>
          <p:cNvSpPr>
            <a:spLocks noGrp="1"/>
          </p:cNvSpPr>
          <p:nvPr>
            <p:ph idx="1"/>
          </p:nvPr>
        </p:nvSpPr>
        <p:spPr/>
        <p:txBody>
          <a:bodyPr>
            <a:normAutofit/>
          </a:bodyPr>
          <a:lstStyle/>
          <a:p>
            <a:r>
              <a:rPr lang="en-US" sz="2400" dirty="0" smtClean="0">
                <a:effectLst/>
              </a:rPr>
              <a:t>To optimize traffic distribution, ELB uses several routing methods: </a:t>
            </a:r>
            <a:r>
              <a:rPr lang="en-US" sz="2400" b="1" dirty="0" smtClean="0">
                <a:effectLst/>
              </a:rPr>
              <a:t>Round Robin</a:t>
            </a:r>
            <a:r>
              <a:rPr lang="en-US" sz="2400" dirty="0" smtClean="0">
                <a:effectLst/>
              </a:rPr>
              <a:t>, </a:t>
            </a:r>
            <a:r>
              <a:rPr lang="en-US" sz="2400" b="1" dirty="0" smtClean="0">
                <a:effectLst/>
              </a:rPr>
              <a:t>Least Connections</a:t>
            </a:r>
            <a:r>
              <a:rPr lang="en-US" sz="2400" dirty="0" smtClean="0">
                <a:effectLst/>
              </a:rPr>
              <a:t>, </a:t>
            </a:r>
            <a:r>
              <a:rPr lang="en-US" sz="2400" b="1" dirty="0" smtClean="0">
                <a:effectLst/>
              </a:rPr>
              <a:t>IP Hash</a:t>
            </a:r>
            <a:r>
              <a:rPr lang="en-US" sz="2400" dirty="0" smtClean="0">
                <a:effectLst/>
              </a:rPr>
              <a:t>, and </a:t>
            </a:r>
            <a:r>
              <a:rPr lang="en-US" sz="2400" b="1" dirty="0" smtClean="0">
                <a:effectLst/>
              </a:rPr>
              <a:t>Least Response Time</a:t>
            </a:r>
            <a:r>
              <a:rPr lang="en-US" sz="2400" dirty="0" smtClean="0">
                <a:effectLst/>
              </a:rPr>
              <a:t>. These routing strategies work together for efficient traffic management and optimal application performance.</a:t>
            </a:r>
            <a:endParaRPr lang="en-US" sz="2400" dirty="0" smtClean="0"/>
          </a:p>
          <a:p>
            <a:endParaRPr lang="en-US" sz="2200" dirty="0"/>
          </a:p>
        </p:txBody>
      </p:sp>
      <p:pic>
        <p:nvPicPr>
          <p:cNvPr id="4" name="Picture 3"/>
          <p:cNvPicPr>
            <a:picLocks noChangeAspect="1"/>
          </p:cNvPicPr>
          <p:nvPr/>
        </p:nvPicPr>
        <p:blipFill>
          <a:blip r:embed="rId2"/>
          <a:stretch>
            <a:fillRect/>
          </a:stretch>
        </p:blipFill>
        <p:spPr>
          <a:xfrm>
            <a:off x="2758117" y="2962275"/>
            <a:ext cx="9315450" cy="3895725"/>
          </a:xfrm>
          <a:prstGeom prst="rect">
            <a:avLst/>
          </a:prstGeom>
        </p:spPr>
      </p:pic>
    </p:spTree>
    <p:extLst>
      <p:ext uri="{BB962C8B-B14F-4D97-AF65-F5344CB8AC3E}">
        <p14:creationId xmlns:p14="http://schemas.microsoft.com/office/powerpoint/2010/main" val="39546607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Elastic Load Balancing</a:t>
            </a:r>
          </a:p>
        </p:txBody>
      </p:sp>
      <p:sp>
        <p:nvSpPr>
          <p:cNvPr id="3" name="Content Placeholder 2"/>
          <p:cNvSpPr>
            <a:spLocks noGrp="1"/>
          </p:cNvSpPr>
          <p:nvPr>
            <p:ph idx="1"/>
          </p:nvPr>
        </p:nvSpPr>
        <p:spPr/>
        <p:txBody>
          <a:bodyPr/>
          <a:lstStyle/>
          <a:p>
            <a:r>
              <a:rPr lang="en-US" dirty="0" smtClean="0"/>
              <a:t>Let's look at an example to better understand how Elastic Load Balancing works in cloud computing. In the healthcare industry, particularly in hospitals and medical facilities that provide online appointment booking systems or patient portals, website traffic can vary greatly throughout the day.</a:t>
            </a:r>
            <a:endParaRPr lang="en-US" dirty="0"/>
          </a:p>
        </p:txBody>
      </p:sp>
    </p:spTree>
    <p:extLst>
      <p:ext uri="{BB962C8B-B14F-4D97-AF65-F5344CB8AC3E}">
        <p14:creationId xmlns:p14="http://schemas.microsoft.com/office/powerpoint/2010/main" val="31855086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44555" y="221112"/>
            <a:ext cx="7746426" cy="6309351"/>
          </a:xfrm>
          <a:prstGeom prst="rect">
            <a:avLst/>
          </a:prstGeom>
        </p:spPr>
      </p:pic>
    </p:spTree>
    <p:extLst>
      <p:ext uri="{BB962C8B-B14F-4D97-AF65-F5344CB8AC3E}">
        <p14:creationId xmlns:p14="http://schemas.microsoft.com/office/powerpoint/2010/main" val="604743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14194" y="202011"/>
            <a:ext cx="7338765" cy="6417896"/>
          </a:xfrm>
          <a:prstGeom prst="rect">
            <a:avLst/>
          </a:prstGeom>
        </p:spPr>
      </p:pic>
    </p:spTree>
    <p:extLst>
      <p:ext uri="{BB962C8B-B14F-4D97-AF65-F5344CB8AC3E}">
        <p14:creationId xmlns:p14="http://schemas.microsoft.com/office/powerpoint/2010/main" val="12399799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32250" y="70845"/>
            <a:ext cx="8015599" cy="6787155"/>
          </a:xfrm>
          <a:prstGeom prst="rect">
            <a:avLst/>
          </a:prstGeom>
        </p:spPr>
      </p:pic>
    </p:spTree>
    <p:extLst>
      <p:ext uri="{BB962C8B-B14F-4D97-AF65-F5344CB8AC3E}">
        <p14:creationId xmlns:p14="http://schemas.microsoft.com/office/powerpoint/2010/main" val="28781890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3264" y="2720136"/>
            <a:ext cx="5674743" cy="1325563"/>
          </a:xfrm>
        </p:spPr>
        <p:txBody>
          <a:bodyPr/>
          <a:lstStyle/>
          <a:p>
            <a:r>
              <a:rPr lang="en-US" b="1" dirty="0" smtClean="0"/>
              <a:t>Messaging and Queuing</a:t>
            </a:r>
            <a:endParaRPr lang="en-US" b="1" dirty="0"/>
          </a:p>
        </p:txBody>
      </p:sp>
    </p:spTree>
    <p:extLst>
      <p:ext uri="{BB962C8B-B14F-4D97-AF65-F5344CB8AC3E}">
        <p14:creationId xmlns:p14="http://schemas.microsoft.com/office/powerpoint/2010/main" val="15663814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effectLst/>
              </a:rPr>
              <a:t>Describe how </a:t>
            </a:r>
            <a:r>
              <a:rPr lang="en-US" dirty="0" smtClean="0"/>
              <a:t>Amazon Simple Queue Service (Amazon SQS)</a:t>
            </a:r>
            <a:r>
              <a:rPr lang="en-US" dirty="0" smtClean="0">
                <a:effectLst/>
              </a:rPr>
              <a:t> facilitates message queuing.</a:t>
            </a:r>
            <a:endParaRPr lang="en-US" dirty="0" smtClean="0"/>
          </a:p>
          <a:p>
            <a:r>
              <a:rPr lang="en-US" dirty="0" smtClean="0">
                <a:effectLst/>
              </a:rPr>
              <a:t>Explain how Amazon Simple Notification Service (Amazon SNS) uses a publish-subscribe model to distribute messages.</a:t>
            </a:r>
            <a:endParaRPr lang="en-US" dirty="0" smtClean="0"/>
          </a:p>
          <a:p>
            <a:r>
              <a:rPr lang="en-US" dirty="0" smtClean="0">
                <a:effectLst/>
              </a:rPr>
              <a:t>Identify the difference between tightly coupled and loosely coupled architectures.</a:t>
            </a:r>
            <a:endParaRPr lang="en-US" dirty="0" smtClean="0"/>
          </a:p>
          <a:p>
            <a:r>
              <a:rPr lang="en-US" dirty="0" smtClean="0">
                <a:effectLst/>
              </a:rPr>
              <a:t>Explain how message queues help improve communication between components.</a:t>
            </a:r>
          </a:p>
          <a:p>
            <a:pPr lvl="1"/>
            <a:r>
              <a:rPr lang="en-US" dirty="0"/>
              <a:t>Ever wonder how busy coffee shops keep everything running smoothly, even when the barista is on break or the cashier is overwhelmed? Well, the same principles apply to software architecture. In this lesson, you will look into how messaging and queuing help prevent slowdowns and failures.</a:t>
            </a:r>
            <a:endParaRPr lang="en-US" dirty="0" smtClean="0"/>
          </a:p>
          <a:p>
            <a:endParaRPr lang="en-US" dirty="0"/>
          </a:p>
        </p:txBody>
      </p:sp>
    </p:spTree>
    <p:extLst>
      <p:ext uri="{BB962C8B-B14F-4D97-AF65-F5344CB8AC3E}">
        <p14:creationId xmlns:p14="http://schemas.microsoft.com/office/powerpoint/2010/main" val="1086905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modern distributed systems, components often need to communicate reliably and at scale.</a:t>
            </a:r>
          </a:p>
          <a:p>
            <a:r>
              <a:rPr lang="en-US" dirty="0" smtClean="0"/>
              <a:t> If systems are </a:t>
            </a:r>
            <a:r>
              <a:rPr lang="en-US" b="1" dirty="0" smtClean="0"/>
              <a:t>tightly coupled</a:t>
            </a:r>
            <a:r>
              <a:rPr lang="en-US" dirty="0" smtClean="0"/>
              <a:t>, one component’s failure or delay can negatively impact the others.</a:t>
            </a:r>
          </a:p>
          <a:p>
            <a:r>
              <a:rPr lang="en-US" dirty="0" smtClean="0"/>
              <a:t> To improve reliability and scalability, it's best to use a </a:t>
            </a:r>
            <a:r>
              <a:rPr lang="en-US" b="1" dirty="0" smtClean="0"/>
              <a:t>loosely coupled architecture</a:t>
            </a:r>
            <a:r>
              <a:rPr lang="en-US" dirty="0" smtClean="0"/>
              <a:t>—where components communicate through </a:t>
            </a:r>
            <a:r>
              <a:rPr lang="en-US" b="1" dirty="0" smtClean="0"/>
              <a:t>message queues</a:t>
            </a:r>
            <a:r>
              <a:rPr lang="en-US" dirty="0" smtClean="0"/>
              <a:t> or </a:t>
            </a:r>
            <a:r>
              <a:rPr lang="en-US" b="1" dirty="0" smtClean="0"/>
              <a:t>notification systems</a:t>
            </a:r>
            <a:r>
              <a:rPr lang="en-US" dirty="0" smtClean="0"/>
              <a:t>.</a:t>
            </a:r>
          </a:p>
          <a:p>
            <a:r>
              <a:rPr lang="en-US" dirty="0" smtClean="0"/>
              <a:t>This is where </a:t>
            </a:r>
            <a:r>
              <a:rPr lang="en-US" b="1" dirty="0" smtClean="0"/>
              <a:t>messaging and queuing services</a:t>
            </a:r>
            <a:r>
              <a:rPr lang="en-US" dirty="0" smtClean="0"/>
              <a:t> come into play in AWS</a:t>
            </a:r>
          </a:p>
          <a:p>
            <a:endParaRPr lang="en-US" dirty="0"/>
          </a:p>
        </p:txBody>
      </p:sp>
    </p:spTree>
    <p:extLst>
      <p:ext uri="{BB962C8B-B14F-4D97-AF65-F5344CB8AC3E}">
        <p14:creationId xmlns:p14="http://schemas.microsoft.com/office/powerpoint/2010/main" val="31394745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Simple Queue Service (SQS)</a:t>
            </a:r>
            <a:endParaRPr lang="en-US" dirty="0"/>
          </a:p>
        </p:txBody>
      </p:sp>
      <p:sp>
        <p:nvSpPr>
          <p:cNvPr id="3" name="Content Placeholder 2"/>
          <p:cNvSpPr>
            <a:spLocks noGrp="1"/>
          </p:cNvSpPr>
          <p:nvPr>
            <p:ph idx="1"/>
          </p:nvPr>
        </p:nvSpPr>
        <p:spPr/>
        <p:txBody>
          <a:bodyPr/>
          <a:lstStyle/>
          <a:p>
            <a:r>
              <a:rPr lang="en-US" dirty="0" smtClean="0"/>
              <a:t>A fully managed message queuing service that allows applications to send, store, and receive messages at any volume.</a:t>
            </a:r>
          </a:p>
          <a:p>
            <a:r>
              <a:rPr lang="en-US" dirty="0" smtClean="0"/>
              <a:t>Decouples components of an application so that the failure of one does not impact the others.</a:t>
            </a:r>
          </a:p>
          <a:p>
            <a:r>
              <a:rPr lang="en-US" dirty="0" smtClean="0"/>
              <a:t>Messages are stored in a queue until the receiving component is ready to process them.</a:t>
            </a:r>
          </a:p>
          <a:p>
            <a:r>
              <a:rPr lang="en-US" dirty="0" smtClean="0"/>
              <a:t>Provides durability, scalability, and fault tolerance without requiring both sender and receiver to be online at the same time.</a:t>
            </a:r>
            <a:endParaRPr lang="en-US" dirty="0"/>
          </a:p>
        </p:txBody>
      </p:sp>
    </p:spTree>
    <p:extLst>
      <p:ext uri="{BB962C8B-B14F-4D97-AF65-F5344CB8AC3E}">
        <p14:creationId xmlns:p14="http://schemas.microsoft.com/office/powerpoint/2010/main" val="15085702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effectLst/>
              </a:rPr>
              <a:t>Amazon SQS is a message queuing service that facilitates reliable communication between software components. </a:t>
            </a:r>
          </a:p>
          <a:p>
            <a:r>
              <a:rPr lang="en-US" dirty="0" smtClean="0">
                <a:effectLst/>
              </a:rPr>
              <a:t>It can send, store, and receive messages at any scale, making sure messages are not lost and that other services don't need to be available for processing. </a:t>
            </a:r>
          </a:p>
          <a:p>
            <a:r>
              <a:rPr lang="en-US" dirty="0" smtClean="0">
                <a:effectLst/>
              </a:rPr>
              <a:t>In Amazon SQS, an application places messages into a queue, and a user or service retrieves the message, processes it, and then removes it from the queue.</a:t>
            </a:r>
            <a:endParaRPr lang="en-US" dirty="0"/>
          </a:p>
        </p:txBody>
      </p:sp>
    </p:spTree>
    <p:extLst>
      <p:ext uri="{BB962C8B-B14F-4D97-AF65-F5344CB8AC3E}">
        <p14:creationId xmlns:p14="http://schemas.microsoft.com/office/powerpoint/2010/main" val="39711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Amazon </a:t>
            </a:r>
            <a:r>
              <a:rPr lang="en-US" b="1" dirty="0" smtClean="0"/>
              <a:t>SQS</a:t>
            </a:r>
            <a:endParaRPr lang="en-US" dirty="0"/>
          </a:p>
        </p:txBody>
      </p:sp>
      <p:pic>
        <p:nvPicPr>
          <p:cNvPr id="4" name="Picture 3"/>
          <p:cNvPicPr>
            <a:picLocks noChangeAspect="1"/>
          </p:cNvPicPr>
          <p:nvPr/>
        </p:nvPicPr>
        <p:blipFill rotWithShape="1">
          <a:blip r:embed="rId2"/>
          <a:srcRect b="11813"/>
          <a:stretch/>
        </p:blipFill>
        <p:spPr>
          <a:xfrm>
            <a:off x="1" y="1458405"/>
            <a:ext cx="4328650" cy="2749670"/>
          </a:xfrm>
          <a:prstGeom prst="rect">
            <a:avLst/>
          </a:prstGeom>
        </p:spPr>
      </p:pic>
      <p:pic>
        <p:nvPicPr>
          <p:cNvPr id="5" name="Picture 4"/>
          <p:cNvPicPr>
            <a:picLocks noChangeAspect="1"/>
          </p:cNvPicPr>
          <p:nvPr/>
        </p:nvPicPr>
        <p:blipFill>
          <a:blip r:embed="rId3"/>
          <a:stretch>
            <a:fillRect/>
          </a:stretch>
        </p:blipFill>
        <p:spPr>
          <a:xfrm>
            <a:off x="4361284" y="2579840"/>
            <a:ext cx="4146328" cy="2749670"/>
          </a:xfrm>
          <a:prstGeom prst="rect">
            <a:avLst/>
          </a:prstGeom>
        </p:spPr>
      </p:pic>
      <p:pic>
        <p:nvPicPr>
          <p:cNvPr id="6" name="Picture 5"/>
          <p:cNvPicPr>
            <a:picLocks noChangeAspect="1"/>
          </p:cNvPicPr>
          <p:nvPr/>
        </p:nvPicPr>
        <p:blipFill>
          <a:blip r:embed="rId4"/>
          <a:stretch>
            <a:fillRect/>
          </a:stretch>
        </p:blipFill>
        <p:spPr>
          <a:xfrm>
            <a:off x="8540245" y="4108330"/>
            <a:ext cx="3651755" cy="2749670"/>
          </a:xfrm>
          <a:prstGeom prst="rect">
            <a:avLst/>
          </a:prstGeom>
        </p:spPr>
      </p:pic>
    </p:spTree>
    <p:extLst>
      <p:ext uri="{BB962C8B-B14F-4D97-AF65-F5344CB8AC3E}">
        <p14:creationId xmlns:p14="http://schemas.microsoft.com/office/powerpoint/2010/main" val="303772478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Simple Notification Service (SNS)</a:t>
            </a:r>
            <a:endParaRPr lang="en-US" dirty="0"/>
          </a:p>
        </p:txBody>
      </p:sp>
      <p:sp>
        <p:nvSpPr>
          <p:cNvPr id="3" name="Content Placeholder 2"/>
          <p:cNvSpPr>
            <a:spLocks noGrp="1"/>
          </p:cNvSpPr>
          <p:nvPr>
            <p:ph idx="1"/>
          </p:nvPr>
        </p:nvSpPr>
        <p:spPr/>
        <p:txBody>
          <a:bodyPr/>
          <a:lstStyle/>
          <a:p>
            <a:r>
              <a:rPr kumimoji="0" lang="en-US" altLang="en-US" b="0" i="0" u="none" strike="noStrike" cap="none" normalizeH="0" baseline="0" dirty="0" smtClean="0">
                <a:ln>
                  <a:noFill/>
                </a:ln>
                <a:solidFill>
                  <a:schemeClr val="tx1"/>
                </a:solidFill>
                <a:effectLst/>
              </a:rPr>
              <a:t>A fully managed publish/subscribe messaging service.</a:t>
            </a:r>
          </a:p>
          <a:p>
            <a:r>
              <a:rPr kumimoji="0" lang="en-US" altLang="en-US" b="0" i="0" u="none" strike="noStrike" cap="none" normalizeH="0" baseline="0" dirty="0" smtClean="0">
                <a:ln>
                  <a:noFill/>
                </a:ln>
                <a:solidFill>
                  <a:schemeClr val="tx1"/>
                </a:solidFill>
                <a:effectLst/>
              </a:rPr>
              <a:t>Sends notifications in real-time to multiple subscribers, such as applications, mobile devices, SMS, or email.</a:t>
            </a:r>
          </a:p>
          <a:p>
            <a:r>
              <a:rPr kumimoji="0" lang="en-US" altLang="en-US" b="0" i="0" u="none" strike="noStrike" cap="none" normalizeH="0" baseline="0" dirty="0" smtClean="0">
                <a:ln>
                  <a:noFill/>
                </a:ln>
                <a:solidFill>
                  <a:schemeClr val="tx1"/>
                </a:solidFill>
                <a:effectLst/>
              </a:rPr>
              <a:t>Unlike SQS, messages are not held—they're delivered immediately to all subscribers.</a:t>
            </a:r>
          </a:p>
          <a:p>
            <a:r>
              <a:rPr kumimoji="0" lang="en-US" altLang="en-US" b="0" i="0" u="none" strike="noStrike" cap="none" normalizeH="0" baseline="0" dirty="0" smtClean="0">
                <a:ln>
                  <a:noFill/>
                </a:ln>
                <a:solidFill>
                  <a:schemeClr val="tx1"/>
                </a:solidFill>
                <a:effectLst/>
              </a:rPr>
              <a:t>Useful for sending alerts, real-time updates, or broadcasting messages to multiple systems or users.</a:t>
            </a:r>
            <a:endParaRPr lang="en-US" dirty="0" smtClean="0"/>
          </a:p>
          <a:p>
            <a:endParaRPr lang="en-US" dirty="0" smtClean="0"/>
          </a:p>
          <a:p>
            <a:endParaRPr lang="en-US" dirty="0"/>
          </a:p>
        </p:txBody>
      </p:sp>
    </p:spTree>
    <p:extLst>
      <p:ext uri="{BB962C8B-B14F-4D97-AF65-F5344CB8AC3E}">
        <p14:creationId xmlns:p14="http://schemas.microsoft.com/office/powerpoint/2010/main" val="46132505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Amazon </a:t>
            </a:r>
            <a:r>
              <a:rPr lang="en-US" b="1" dirty="0" smtClean="0"/>
              <a:t>SNS</a:t>
            </a:r>
            <a:endParaRPr lang="en-US" dirty="0"/>
          </a:p>
        </p:txBody>
      </p:sp>
      <p:sp>
        <p:nvSpPr>
          <p:cNvPr id="3" name="Content Placeholder 2"/>
          <p:cNvSpPr>
            <a:spLocks noGrp="1"/>
          </p:cNvSpPr>
          <p:nvPr>
            <p:ph idx="1"/>
          </p:nvPr>
        </p:nvSpPr>
        <p:spPr/>
        <p:txBody>
          <a:bodyPr/>
          <a:lstStyle/>
          <a:p>
            <a:r>
              <a:rPr lang="en-US" dirty="0" smtClean="0"/>
              <a:t>A company that sells a variety of products is currently sending a single email to all customers with updates on various topics, such as new products, special offers, and upcoming events.</a:t>
            </a:r>
          </a:p>
          <a:p>
            <a:r>
              <a:rPr lang="en-US" dirty="0" smtClean="0"/>
              <a:t> Although this method worked initially, customers want to receive only the updates they’re interested in. </a:t>
            </a:r>
          </a:p>
          <a:p>
            <a:r>
              <a:rPr lang="en-US" dirty="0" smtClean="0"/>
              <a:t>The current email update is causing customer dissatisfaction and lower engagement.</a:t>
            </a:r>
            <a:endParaRPr lang="en-US" dirty="0"/>
          </a:p>
        </p:txBody>
      </p:sp>
    </p:spTree>
    <p:extLst>
      <p:ext uri="{BB962C8B-B14F-4D97-AF65-F5344CB8AC3E}">
        <p14:creationId xmlns:p14="http://schemas.microsoft.com/office/powerpoint/2010/main" val="42175985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5544" y="1048902"/>
            <a:ext cx="11244778" cy="4920576"/>
          </a:xfrm>
          <a:prstGeom prst="rect">
            <a:avLst/>
          </a:prstGeom>
        </p:spPr>
      </p:pic>
    </p:spTree>
    <p:extLst>
      <p:ext uri="{BB962C8B-B14F-4D97-AF65-F5344CB8AC3E}">
        <p14:creationId xmlns:p14="http://schemas.microsoft.com/office/powerpoint/2010/main" val="33487231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833" y="264244"/>
            <a:ext cx="11954775" cy="6593756"/>
          </a:xfrm>
        </p:spPr>
        <p:txBody>
          <a:bodyPr>
            <a:normAutofit/>
          </a:bodyPr>
          <a:lstStyle/>
          <a:p>
            <a:pPr marL="0" indent="0">
              <a:buNone/>
            </a:pPr>
            <a:r>
              <a:rPr lang="en-US" b="1" dirty="0" smtClean="0"/>
              <a:t>1. Segment the communication</a:t>
            </a:r>
          </a:p>
          <a:p>
            <a:pPr lvl="1"/>
            <a:r>
              <a:rPr lang="en-US" dirty="0" smtClean="0">
                <a:effectLst/>
              </a:rPr>
              <a:t>The company decides to divide the communication into three separate topics, including one for new products, one for special offers, and one for events. Each topic will focus on a specific area of interest.</a:t>
            </a:r>
            <a:endParaRPr lang="en-US" dirty="0" smtClean="0"/>
          </a:p>
          <a:p>
            <a:pPr marL="0" indent="0">
              <a:buNone/>
            </a:pPr>
            <a:r>
              <a:rPr lang="en-US" b="1" dirty="0" smtClean="0"/>
              <a:t>2. Let customers choose topics</a:t>
            </a:r>
          </a:p>
          <a:p>
            <a:pPr lvl="1"/>
            <a:r>
              <a:rPr lang="en-US" dirty="0" smtClean="0">
                <a:effectLst/>
              </a:rPr>
              <a:t>Customers can subscribe to the topics they care about, such as the following:</a:t>
            </a:r>
            <a:endParaRPr lang="en-US" dirty="0" smtClean="0"/>
          </a:p>
          <a:p>
            <a:pPr lvl="1"/>
            <a:r>
              <a:rPr lang="en-US" dirty="0" smtClean="0">
                <a:effectLst/>
              </a:rPr>
              <a:t>A customer might subscribe only to new product updates.</a:t>
            </a:r>
            <a:endParaRPr lang="en-US" dirty="0" smtClean="0"/>
          </a:p>
          <a:p>
            <a:pPr lvl="1"/>
            <a:r>
              <a:rPr lang="en-US" dirty="0" smtClean="0">
                <a:effectLst/>
              </a:rPr>
              <a:t>Another customer might opt only for event notifications.</a:t>
            </a:r>
            <a:endParaRPr lang="en-US" dirty="0" smtClean="0"/>
          </a:p>
          <a:p>
            <a:pPr lvl="1"/>
            <a:r>
              <a:rPr lang="en-US" dirty="0" smtClean="0">
                <a:effectLst/>
              </a:rPr>
              <a:t>A third customer might choose to subscribe to new product updates and special offers.</a:t>
            </a:r>
          </a:p>
          <a:p>
            <a:pPr marL="0" indent="0">
              <a:buNone/>
            </a:pPr>
            <a:r>
              <a:rPr lang="en-US" b="1" dirty="0" smtClean="0"/>
              <a:t>3. Send tailored notifications</a:t>
            </a:r>
          </a:p>
          <a:p>
            <a:pPr lvl="1"/>
            <a:r>
              <a:rPr lang="en-US" dirty="0" smtClean="0">
                <a:effectLst/>
              </a:rPr>
              <a:t>With Amazon SNS, the company can send personalized notifications to subscribers based on their specific interests. Amazon SNS makes sure that these notifications are promptly delivered to the right audience, improving the efficiency and relevance of the communication.</a:t>
            </a:r>
            <a:endParaRPr lang="en-US" dirty="0" smtClean="0"/>
          </a:p>
          <a:p>
            <a:pPr lvl="2"/>
            <a:endParaRPr lang="en-US" dirty="0" smtClean="0"/>
          </a:p>
          <a:p>
            <a:endParaRPr lang="en-US" dirty="0"/>
          </a:p>
        </p:txBody>
      </p:sp>
    </p:spTree>
    <p:extLst>
      <p:ext uri="{BB962C8B-B14F-4D97-AF65-F5344CB8AC3E}">
        <p14:creationId xmlns:p14="http://schemas.microsoft.com/office/powerpoint/2010/main" val="27451009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a:t>
            </a:r>
            <a:r>
              <a:rPr lang="en-US" b="1" dirty="0" smtClean="0"/>
              <a:t>takeaways</a:t>
            </a:r>
            <a:endParaRPr lang="en-US" dirty="0"/>
          </a:p>
        </p:txBody>
      </p:sp>
      <p:sp>
        <p:nvSpPr>
          <p:cNvPr id="3" name="Content Placeholder 2"/>
          <p:cNvSpPr>
            <a:spLocks noGrp="1"/>
          </p:cNvSpPr>
          <p:nvPr>
            <p:ph idx="1"/>
          </p:nvPr>
        </p:nvSpPr>
        <p:spPr/>
        <p:txBody>
          <a:bodyPr/>
          <a:lstStyle/>
          <a:p>
            <a:r>
              <a:rPr lang="en-US" dirty="0" smtClean="0">
                <a:effectLst/>
              </a:rPr>
              <a:t>In modern application development, reliability and resilience are important. </a:t>
            </a:r>
            <a:r>
              <a:rPr lang="en-US" dirty="0" smtClean="0"/>
              <a:t>One effective way to achieve this is by adopting a service-oriented approach.</a:t>
            </a:r>
          </a:p>
          <a:p>
            <a:r>
              <a:rPr lang="en-US" dirty="0" smtClean="0"/>
              <a:t>By using </a:t>
            </a:r>
            <a:r>
              <a:rPr lang="en-US" b="1" dirty="0" smtClean="0"/>
              <a:t>SQS for asynchronous processing</a:t>
            </a:r>
            <a:r>
              <a:rPr lang="en-US" dirty="0" smtClean="0"/>
              <a:t> and </a:t>
            </a:r>
            <a:r>
              <a:rPr lang="en-US" b="1" dirty="0" smtClean="0"/>
              <a:t>SNS for real-time alerts or fan-out messaging</a:t>
            </a:r>
            <a:r>
              <a:rPr lang="en-US" dirty="0" smtClean="0"/>
              <a:t>, AWS helps you build scalable, resilient, and loosely coupled applications.</a:t>
            </a:r>
            <a:endParaRPr lang="en-US" dirty="0"/>
          </a:p>
        </p:txBody>
      </p:sp>
    </p:spTree>
    <p:extLst>
      <p:ext uri="{BB962C8B-B14F-4D97-AF65-F5344CB8AC3E}">
        <p14:creationId xmlns:p14="http://schemas.microsoft.com/office/powerpoint/2010/main" val="91805777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Monolithic applications</a:t>
            </a:r>
            <a:endParaRPr lang="en-US" dirty="0"/>
          </a:p>
        </p:txBody>
      </p:sp>
      <p:sp>
        <p:nvSpPr>
          <p:cNvPr id="3" name="Content Placeholder 2"/>
          <p:cNvSpPr>
            <a:spLocks noGrp="1"/>
          </p:cNvSpPr>
          <p:nvPr>
            <p:ph idx="1"/>
          </p:nvPr>
        </p:nvSpPr>
        <p:spPr/>
        <p:txBody>
          <a:bodyPr/>
          <a:lstStyle/>
          <a:p>
            <a:r>
              <a:rPr lang="en-US" dirty="0"/>
              <a:t>Applications consist of multiple components that work together to transmit data, fulfill requests, and keep the application running smoothly</a:t>
            </a:r>
            <a:r>
              <a:rPr lang="en-US" dirty="0" smtClean="0"/>
              <a:t>.</a:t>
            </a:r>
          </a:p>
          <a:p>
            <a:r>
              <a:rPr lang="en-US" dirty="0" smtClean="0"/>
              <a:t> </a:t>
            </a:r>
            <a:r>
              <a:rPr lang="en-US" dirty="0" smtClean="0">
                <a:effectLst/>
              </a:rPr>
              <a:t>In a traditional approach to application architecture, the components—such as database logic, web application servers, user interfaces, and business logic—are tightly coupled.</a:t>
            </a:r>
          </a:p>
          <a:p>
            <a:r>
              <a:rPr lang="en-US" dirty="0" smtClean="0"/>
              <a:t> </a:t>
            </a:r>
            <a:r>
              <a:rPr lang="en-US" dirty="0"/>
              <a:t>This means that if one component fails, it can cause the failure of other components, potentially bringing down the entire application.</a:t>
            </a:r>
            <a:endParaRPr lang="en-US" dirty="0" smtClean="0"/>
          </a:p>
          <a:p>
            <a:endParaRPr lang="en-US" dirty="0"/>
          </a:p>
        </p:txBody>
      </p:sp>
    </p:spTree>
    <p:extLst>
      <p:ext uri="{BB962C8B-B14F-4D97-AF65-F5344CB8AC3E}">
        <p14:creationId xmlns:p14="http://schemas.microsoft.com/office/powerpoint/2010/main" val="17581903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3132" y="698739"/>
            <a:ext cx="11245448" cy="5805577"/>
          </a:xfrm>
          <a:prstGeom prst="rect">
            <a:avLst/>
          </a:prstGeom>
        </p:spPr>
      </p:pic>
    </p:spTree>
    <p:extLst>
      <p:ext uri="{BB962C8B-B14F-4D97-AF65-F5344CB8AC3E}">
        <p14:creationId xmlns:p14="http://schemas.microsoft.com/office/powerpoint/2010/main" val="5561189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Microservices</a:t>
            </a:r>
            <a:r>
              <a:rPr lang="en-US" b="1" dirty="0" smtClean="0"/>
              <a:t> architecture</a:t>
            </a:r>
            <a:endParaRPr lang="en-US" dirty="0"/>
          </a:p>
        </p:txBody>
      </p:sp>
      <p:sp>
        <p:nvSpPr>
          <p:cNvPr id="3" name="Content Placeholder 2"/>
          <p:cNvSpPr>
            <a:spLocks noGrp="1"/>
          </p:cNvSpPr>
          <p:nvPr>
            <p:ph idx="1"/>
          </p:nvPr>
        </p:nvSpPr>
        <p:spPr/>
        <p:txBody>
          <a:bodyPr/>
          <a:lstStyle/>
          <a:p>
            <a:r>
              <a:rPr lang="en-US" dirty="0"/>
              <a:t>To improve application availability and resilience, you can adopt a </a:t>
            </a:r>
            <a:r>
              <a:rPr lang="en-US" dirty="0" err="1"/>
              <a:t>microservices</a:t>
            </a:r>
            <a:r>
              <a:rPr lang="en-US" dirty="0"/>
              <a:t> architecture</a:t>
            </a:r>
            <a:r>
              <a:rPr lang="en-US" dirty="0" smtClean="0"/>
              <a:t>.</a:t>
            </a:r>
          </a:p>
          <a:p>
            <a:r>
              <a:rPr lang="en-US" dirty="0" smtClean="0"/>
              <a:t> </a:t>
            </a:r>
            <a:r>
              <a:rPr lang="en-US" dirty="0"/>
              <a:t>In this approach, application components are loosely coupled, meaning that if one component fails, the others continue to function normally. </a:t>
            </a:r>
            <a:endParaRPr lang="en-US" dirty="0" smtClean="0"/>
          </a:p>
          <a:p>
            <a:r>
              <a:rPr lang="en-US" dirty="0" smtClean="0"/>
              <a:t>The </a:t>
            </a:r>
            <a:r>
              <a:rPr lang="en-US" dirty="0"/>
              <a:t>communication between components remains intact, and the failure of a single component does not impact the entire system. This design promotes greater flexibility and reliability in the application.</a:t>
            </a:r>
          </a:p>
        </p:txBody>
      </p:sp>
    </p:spTree>
    <p:extLst>
      <p:ext uri="{BB962C8B-B14F-4D97-AF65-F5344CB8AC3E}">
        <p14:creationId xmlns:p14="http://schemas.microsoft.com/office/powerpoint/2010/main" val="37655424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08766" y="519816"/>
            <a:ext cx="11375770" cy="6226040"/>
          </a:xfrm>
          <a:prstGeom prst="rect">
            <a:avLst/>
          </a:prstGeom>
        </p:spPr>
      </p:pic>
    </p:spTree>
    <p:extLst>
      <p:ext uri="{BB962C8B-B14F-4D97-AF65-F5344CB8AC3E}">
        <p14:creationId xmlns:p14="http://schemas.microsoft.com/office/powerpoint/2010/main" val="7807021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rPr>
              <a:t>Scalable and reliable cloud communication</a:t>
            </a:r>
            <a:endParaRPr lang="en-US" dirty="0"/>
          </a:p>
        </p:txBody>
      </p:sp>
      <p:sp>
        <p:nvSpPr>
          <p:cNvPr id="3" name="Content Placeholder 2"/>
          <p:cNvSpPr>
            <a:spLocks noGrp="1"/>
          </p:cNvSpPr>
          <p:nvPr>
            <p:ph idx="1"/>
          </p:nvPr>
        </p:nvSpPr>
        <p:spPr/>
        <p:txBody>
          <a:bodyPr/>
          <a:lstStyle/>
          <a:p>
            <a:r>
              <a:rPr lang="en-US" dirty="0" smtClean="0">
                <a:effectLst/>
              </a:rPr>
              <a:t>Amazon </a:t>
            </a:r>
            <a:r>
              <a:rPr lang="en-US" b="1" dirty="0" err="1" smtClean="0">
                <a:effectLst/>
              </a:rPr>
              <a:t>EventBridge</a:t>
            </a:r>
            <a:r>
              <a:rPr lang="en-US" dirty="0" smtClean="0">
                <a:effectLst/>
              </a:rPr>
              <a:t>, </a:t>
            </a:r>
            <a:r>
              <a:rPr lang="en-US" b="1" dirty="0" smtClean="0">
                <a:effectLst/>
              </a:rPr>
              <a:t>Amazon SNS</a:t>
            </a:r>
            <a:r>
              <a:rPr lang="en-US" dirty="0" smtClean="0">
                <a:effectLst/>
              </a:rPr>
              <a:t>, and </a:t>
            </a:r>
            <a:r>
              <a:rPr lang="en-US" b="1" dirty="0" smtClean="0">
                <a:effectLst/>
              </a:rPr>
              <a:t>Amazon SQS </a:t>
            </a:r>
            <a:r>
              <a:rPr lang="en-US" dirty="0" smtClean="0">
                <a:effectLst/>
              </a:rPr>
              <a:t>are AWS services that help different parts of an application communicate effectively in the cloud.</a:t>
            </a:r>
          </a:p>
          <a:p>
            <a:r>
              <a:rPr lang="en-US" dirty="0" smtClean="0">
                <a:effectLst/>
              </a:rPr>
              <a:t> These services support building </a:t>
            </a:r>
            <a:r>
              <a:rPr lang="en-US" b="1" dirty="0" smtClean="0">
                <a:effectLst/>
              </a:rPr>
              <a:t>event-driven</a:t>
            </a:r>
            <a:r>
              <a:rPr lang="en-US" dirty="0" smtClean="0">
                <a:effectLst/>
              </a:rPr>
              <a:t> and </a:t>
            </a:r>
            <a:r>
              <a:rPr lang="en-US" b="1" dirty="0" smtClean="0">
                <a:effectLst/>
              </a:rPr>
              <a:t>message-based</a:t>
            </a:r>
            <a:r>
              <a:rPr lang="en-US" dirty="0" smtClean="0">
                <a:effectLst/>
              </a:rPr>
              <a:t> systems. </a:t>
            </a:r>
          </a:p>
          <a:p>
            <a:r>
              <a:rPr lang="en-US" dirty="0" smtClean="0"/>
              <a:t>Together, they help create scalable, reliable applications that can handle high traffic and can enhance communication between components.</a:t>
            </a:r>
            <a:endParaRPr lang="en-US" dirty="0"/>
          </a:p>
        </p:txBody>
      </p:sp>
    </p:spTree>
    <p:extLst>
      <p:ext uri="{BB962C8B-B14F-4D97-AF65-F5344CB8AC3E}">
        <p14:creationId xmlns:p14="http://schemas.microsoft.com/office/powerpoint/2010/main" val="15241487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EventBridge</a:t>
            </a:r>
            <a:endParaRPr lang="en-US" dirty="0"/>
          </a:p>
        </p:txBody>
      </p:sp>
      <p:sp>
        <p:nvSpPr>
          <p:cNvPr id="3" name="Content Placeholder 2"/>
          <p:cNvSpPr>
            <a:spLocks noGrp="1"/>
          </p:cNvSpPr>
          <p:nvPr>
            <p:ph idx="1"/>
          </p:nvPr>
        </p:nvSpPr>
        <p:spPr/>
        <p:txBody>
          <a:bodyPr/>
          <a:lstStyle/>
          <a:p>
            <a:r>
              <a:rPr lang="en-US" dirty="0" err="1" smtClean="0">
                <a:effectLst/>
              </a:rPr>
              <a:t>EventBridge</a:t>
            </a:r>
            <a:r>
              <a:rPr lang="en-US" dirty="0" smtClean="0">
                <a:effectLst/>
              </a:rPr>
              <a:t> is a </a:t>
            </a:r>
            <a:r>
              <a:rPr lang="en-US" dirty="0" err="1" smtClean="0">
                <a:effectLst/>
              </a:rPr>
              <a:t>serverless</a:t>
            </a:r>
            <a:r>
              <a:rPr lang="en-US" dirty="0" smtClean="0">
                <a:effectLst/>
              </a:rPr>
              <a:t> service that helps connect different parts of an application using events, helping to build scalable, event-driven systems.</a:t>
            </a:r>
          </a:p>
          <a:p>
            <a:r>
              <a:rPr lang="en-US" dirty="0" smtClean="0">
                <a:effectLst/>
              </a:rPr>
              <a:t> With </a:t>
            </a:r>
            <a:r>
              <a:rPr lang="en-US" dirty="0" err="1" smtClean="0">
                <a:effectLst/>
              </a:rPr>
              <a:t>EventBridge</a:t>
            </a:r>
            <a:r>
              <a:rPr lang="en-US" dirty="0" smtClean="0">
                <a:effectLst/>
              </a:rPr>
              <a:t>, you route events from sources like custom apps, AWS services, and third-party software to other applications. </a:t>
            </a:r>
          </a:p>
          <a:p>
            <a:r>
              <a:rPr lang="en-US" dirty="0" err="1" smtClean="0">
                <a:effectLst/>
              </a:rPr>
              <a:t>EventBridge</a:t>
            </a:r>
            <a:r>
              <a:rPr lang="en-US" dirty="0" smtClean="0">
                <a:effectLst/>
              </a:rPr>
              <a:t> simplifies the process of receiving, filtering, transforming, and delivering events, so you can quickly build reliable applications.</a:t>
            </a:r>
            <a:endParaRPr lang="en-US" dirty="0"/>
          </a:p>
        </p:txBody>
      </p:sp>
    </p:spTree>
    <p:extLst>
      <p:ext uri="{BB962C8B-B14F-4D97-AF65-F5344CB8AC3E}">
        <p14:creationId xmlns:p14="http://schemas.microsoft.com/office/powerpoint/2010/main" val="22544001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t>
            </a:r>
            <a:r>
              <a:rPr lang="en-US" b="1" dirty="0" err="1" smtClean="0"/>
              <a:t>EventBridge</a:t>
            </a:r>
            <a:endParaRPr lang="en-US" dirty="0"/>
          </a:p>
        </p:txBody>
      </p:sp>
      <p:sp>
        <p:nvSpPr>
          <p:cNvPr id="3" name="Content Placeholder 2"/>
          <p:cNvSpPr>
            <a:spLocks noGrp="1"/>
          </p:cNvSpPr>
          <p:nvPr>
            <p:ph idx="1"/>
          </p:nvPr>
        </p:nvSpPr>
        <p:spPr/>
        <p:txBody>
          <a:bodyPr/>
          <a:lstStyle/>
          <a:p>
            <a:r>
              <a:rPr lang="en-US" dirty="0" smtClean="0"/>
              <a:t>Customers use an online food delivery service to order meals from local restaurants through a mobile app. When a customer places an order, several steps need to happen simultaneously.</a:t>
            </a:r>
            <a:endParaRPr lang="en-US" dirty="0"/>
          </a:p>
        </p:txBody>
      </p:sp>
      <p:pic>
        <p:nvPicPr>
          <p:cNvPr id="4" name="Picture 3"/>
          <p:cNvPicPr>
            <a:picLocks noChangeAspect="1"/>
          </p:cNvPicPr>
          <p:nvPr/>
        </p:nvPicPr>
        <p:blipFill>
          <a:blip r:embed="rId2"/>
          <a:stretch>
            <a:fillRect/>
          </a:stretch>
        </p:blipFill>
        <p:spPr>
          <a:xfrm>
            <a:off x="1894397" y="3520386"/>
            <a:ext cx="8058150" cy="2543175"/>
          </a:xfrm>
          <a:prstGeom prst="rect">
            <a:avLst/>
          </a:prstGeom>
        </p:spPr>
      </p:pic>
    </p:spTree>
    <p:extLst>
      <p:ext uri="{BB962C8B-B14F-4D97-AF65-F5344CB8AC3E}">
        <p14:creationId xmlns:p14="http://schemas.microsoft.com/office/powerpoint/2010/main" val="21400064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1. Payment processing</a:t>
            </a:r>
          </a:p>
          <a:p>
            <a:pPr lvl="1"/>
            <a:r>
              <a:rPr lang="en-US" dirty="0" smtClean="0">
                <a:effectLst/>
              </a:rPr>
              <a:t>T</a:t>
            </a:r>
            <a:r>
              <a:rPr lang="en-US" dirty="0"/>
              <a:t>he payment service must verify and process the customer's </a:t>
            </a:r>
            <a:r>
              <a:rPr lang="en-US" dirty="0" smtClean="0"/>
              <a:t>payment.</a:t>
            </a:r>
          </a:p>
          <a:p>
            <a:pPr marL="0" indent="0">
              <a:buNone/>
            </a:pPr>
            <a:r>
              <a:rPr lang="en-US" b="1" dirty="0" smtClean="0"/>
              <a:t>2. Restaurant notification</a:t>
            </a:r>
          </a:p>
          <a:p>
            <a:pPr lvl="1"/>
            <a:r>
              <a:rPr lang="en-US" dirty="0" smtClean="0"/>
              <a:t>The </a:t>
            </a:r>
            <a:r>
              <a:rPr lang="en-US" dirty="0"/>
              <a:t>restaurant receives a notification to start preparing the meal</a:t>
            </a:r>
            <a:r>
              <a:rPr lang="en-US" dirty="0" smtClean="0"/>
              <a:t>.</a:t>
            </a:r>
          </a:p>
          <a:p>
            <a:pPr marL="0" indent="0">
              <a:buNone/>
            </a:pPr>
            <a:r>
              <a:rPr lang="en-US" b="1" dirty="0" smtClean="0"/>
              <a:t>3. Inventory management</a:t>
            </a:r>
          </a:p>
          <a:p>
            <a:pPr lvl="1"/>
            <a:r>
              <a:rPr lang="en-US" dirty="0"/>
              <a:t>The inventory system checks if the ingredients for the order are available</a:t>
            </a:r>
            <a:r>
              <a:rPr lang="en-US" dirty="0" smtClean="0"/>
              <a:t>.</a:t>
            </a:r>
          </a:p>
          <a:p>
            <a:pPr marL="0" indent="0">
              <a:buNone/>
            </a:pPr>
            <a:r>
              <a:rPr lang="en-US" b="1" dirty="0" smtClean="0"/>
              <a:t>4. Delivery dispatch</a:t>
            </a:r>
          </a:p>
          <a:p>
            <a:pPr lvl="1"/>
            <a:r>
              <a:rPr lang="en-US" dirty="0"/>
              <a:t>A delivery driver is notified to pick up and deliver the meal.</a:t>
            </a:r>
            <a:endParaRPr lang="en-US" dirty="0" smtClean="0"/>
          </a:p>
          <a:p>
            <a:endParaRPr lang="en-US" dirty="0"/>
          </a:p>
        </p:txBody>
      </p:sp>
    </p:spTree>
    <p:extLst>
      <p:ext uri="{BB962C8B-B14F-4D97-AF65-F5344CB8AC3E}">
        <p14:creationId xmlns:p14="http://schemas.microsoft.com/office/powerpoint/2010/main" val="5676160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a:t>
            </a:r>
            <a:r>
              <a:rPr lang="en-US" b="1" dirty="0" err="1"/>
              <a:t>EventBridge</a:t>
            </a:r>
            <a:r>
              <a:rPr lang="en-US" b="1" dirty="0"/>
              <a:t> helps</a:t>
            </a:r>
            <a:endParaRPr lang="en-US" dirty="0"/>
          </a:p>
        </p:txBody>
      </p:sp>
      <p:sp>
        <p:nvSpPr>
          <p:cNvPr id="3" name="Content Placeholder 2"/>
          <p:cNvSpPr>
            <a:spLocks noGrp="1"/>
          </p:cNvSpPr>
          <p:nvPr>
            <p:ph idx="1"/>
          </p:nvPr>
        </p:nvSpPr>
        <p:spPr/>
        <p:txBody>
          <a:bodyPr/>
          <a:lstStyle/>
          <a:p>
            <a:r>
              <a:rPr lang="en-US" dirty="0" err="1"/>
              <a:t>EventBridge</a:t>
            </a:r>
            <a:r>
              <a:rPr lang="en-US" dirty="0"/>
              <a:t> can route events, like </a:t>
            </a:r>
            <a:r>
              <a:rPr lang="en-US" i="1" dirty="0"/>
              <a:t>order placed</a:t>
            </a:r>
            <a:r>
              <a:rPr lang="en-US" dirty="0"/>
              <a:t> or </a:t>
            </a:r>
            <a:r>
              <a:rPr lang="en-US" i="1" dirty="0"/>
              <a:t>payment completed</a:t>
            </a:r>
            <a:r>
              <a:rPr lang="en-US" dirty="0"/>
              <a:t>, to the relevant services (payment, restaurant, inventory, and delivery). </a:t>
            </a:r>
            <a:endParaRPr lang="en-US" dirty="0" smtClean="0"/>
          </a:p>
          <a:p>
            <a:r>
              <a:rPr lang="en-US" dirty="0" smtClean="0"/>
              <a:t>It </a:t>
            </a:r>
            <a:r>
              <a:rPr lang="en-US" dirty="0"/>
              <a:t>can handle high volumes of events during peak times, making sure each service works independently. </a:t>
            </a:r>
            <a:endParaRPr lang="en-US" dirty="0" smtClean="0"/>
          </a:p>
          <a:p>
            <a:r>
              <a:rPr lang="en-US" dirty="0" smtClean="0"/>
              <a:t>Even </a:t>
            </a:r>
            <a:r>
              <a:rPr lang="en-US" dirty="0"/>
              <a:t>if one service fails, </a:t>
            </a:r>
            <a:r>
              <a:rPr lang="en-US" dirty="0" err="1"/>
              <a:t>EventBridge</a:t>
            </a:r>
            <a:r>
              <a:rPr lang="en-US" dirty="0"/>
              <a:t> will store the event and process it as soon as the service is available again</a:t>
            </a:r>
            <a:r>
              <a:rPr lang="en-US" dirty="0" smtClean="0"/>
              <a:t>.</a:t>
            </a:r>
          </a:p>
          <a:p>
            <a:r>
              <a:rPr lang="en-US" dirty="0" smtClean="0"/>
              <a:t> </a:t>
            </a:r>
            <a:r>
              <a:rPr lang="en-US" dirty="0" err="1" smtClean="0">
                <a:effectLst/>
              </a:rPr>
              <a:t>EventBridge</a:t>
            </a:r>
            <a:r>
              <a:rPr lang="en-US" dirty="0" smtClean="0">
                <a:effectLst/>
              </a:rPr>
              <a:t> helps provide a smooth and reliable operation across the entire system.</a:t>
            </a:r>
            <a:endParaRPr lang="en-US" dirty="0"/>
          </a:p>
        </p:txBody>
      </p:sp>
    </p:spTree>
    <p:extLst>
      <p:ext uri="{BB962C8B-B14F-4D97-AF65-F5344CB8AC3E}">
        <p14:creationId xmlns:p14="http://schemas.microsoft.com/office/powerpoint/2010/main" val="33838940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Recap</a:t>
            </a:r>
          </a:p>
        </p:txBody>
      </p:sp>
      <p:sp>
        <p:nvSpPr>
          <p:cNvPr id="3" name="Content Placeholder 2"/>
          <p:cNvSpPr>
            <a:spLocks noGrp="1"/>
          </p:cNvSpPr>
          <p:nvPr>
            <p:ph idx="1"/>
          </p:nvPr>
        </p:nvSpPr>
        <p:spPr/>
        <p:txBody>
          <a:bodyPr/>
          <a:lstStyle/>
          <a:p>
            <a:r>
              <a:rPr lang="en-US" dirty="0" smtClean="0"/>
              <a:t>In </a:t>
            </a:r>
            <a:r>
              <a:rPr lang="en-US" dirty="0"/>
              <a:t>these lessons about compute, you learned how Amazon EC2 and cloud resources help scale applications. </a:t>
            </a:r>
            <a:endParaRPr lang="en-US" dirty="0" smtClean="0"/>
          </a:p>
          <a:p>
            <a:r>
              <a:rPr lang="en-US" dirty="0" smtClean="0"/>
              <a:t>You </a:t>
            </a:r>
            <a:r>
              <a:rPr lang="en-US" dirty="0"/>
              <a:t>gained knowledge of EC2 instance types, pricing options, and how to choose the best instance types for your unique business needs</a:t>
            </a:r>
            <a:r>
              <a:rPr lang="en-US" dirty="0" smtClean="0"/>
              <a:t>.</a:t>
            </a:r>
          </a:p>
          <a:p>
            <a:r>
              <a:rPr lang="en-US" dirty="0"/>
              <a:t> You also became familiar with using AWS tools and services like Elastic Load Balancing, Amazon EC2 Auto Scaling, Amazon SQS, and Amazon SNS to manage traffic and communication.</a:t>
            </a:r>
            <a:endParaRPr lang="en-US" dirty="0" smtClean="0">
              <a:effectLst/>
            </a:endParaRPr>
          </a:p>
          <a:p>
            <a:endParaRPr lang="en-US" dirty="0"/>
          </a:p>
        </p:txBody>
      </p:sp>
    </p:spTree>
    <p:extLst>
      <p:ext uri="{BB962C8B-B14F-4D97-AF65-F5344CB8AC3E}">
        <p14:creationId xmlns:p14="http://schemas.microsoft.com/office/powerpoint/2010/main" val="317206005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Resources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71690231"/>
              </p:ext>
            </p:extLst>
          </p:nvPr>
        </p:nvGraphicFramePr>
        <p:xfrm>
          <a:off x="838200" y="1690688"/>
          <a:ext cx="5054584" cy="4779384"/>
        </p:xfrm>
        <a:graphic>
          <a:graphicData uri="http://schemas.openxmlformats.org/drawingml/2006/table">
            <a:tbl>
              <a:tblPr/>
              <a:tblGrid>
                <a:gridCol w="1793637"/>
                <a:gridCol w="3260947"/>
              </a:tblGrid>
              <a:tr h="175812">
                <a:tc>
                  <a:txBody>
                    <a:bodyPr/>
                    <a:lstStyle/>
                    <a:p>
                      <a:pPr algn="l"/>
                      <a:r>
                        <a:rPr lang="en-US" sz="900" dirty="0">
                          <a:effectLst/>
                        </a:rPr>
                        <a:t>Resource link</a:t>
                      </a:r>
                    </a:p>
                  </a:txBody>
                  <a:tcPr marL="43953" marR="43953" marT="21976" marB="21976" anchor="ctr">
                    <a:lnL>
                      <a:noFill/>
                    </a:lnL>
                    <a:lnR>
                      <a:noFill/>
                    </a:lnR>
                    <a:lnT>
                      <a:noFill/>
                    </a:lnT>
                    <a:lnB>
                      <a:noFill/>
                    </a:lnB>
                  </a:tcPr>
                </a:tc>
                <a:tc>
                  <a:txBody>
                    <a:bodyPr/>
                    <a:lstStyle/>
                    <a:p>
                      <a:pPr algn="l"/>
                      <a:r>
                        <a:rPr lang="en-US" sz="900">
                          <a:effectLst/>
                        </a:rPr>
                        <a:t>Description</a:t>
                      </a:r>
                    </a:p>
                  </a:txBody>
                  <a:tcPr marL="43953" marR="43953" marT="21976" marB="21976" anchor="ctr">
                    <a:lnL>
                      <a:noFill/>
                    </a:lnL>
                    <a:lnR>
                      <a:noFill/>
                    </a:lnR>
                    <a:lnT>
                      <a:noFill/>
                    </a:lnT>
                    <a:lnB>
                      <a:noFill/>
                    </a:lnB>
                  </a:tcPr>
                </a:tc>
              </a:tr>
              <a:tr h="307670">
                <a:tc>
                  <a:txBody>
                    <a:bodyPr/>
                    <a:lstStyle/>
                    <a:p>
                      <a:pPr algn="l"/>
                      <a:r>
                        <a:rPr lang="en-US" sz="900" dirty="0">
                          <a:effectLst/>
                          <a:hlinkClick r:id="rId2"/>
                        </a:rPr>
                        <a:t>Compute </a:t>
                      </a:r>
                      <a:r>
                        <a:rPr lang="en-US" sz="900" dirty="0" smtClean="0">
                          <a:effectLst/>
                          <a:hlinkClick r:id="rId2"/>
                        </a:rPr>
                        <a:t>on AWS</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solidFill>
                            <a:srgbClr val="0F141A"/>
                          </a:solidFill>
                          <a:effectLst/>
                        </a:rPr>
                        <a:t>This resource provides an overview of the different cloud computing services offered by AWS.</a:t>
                      </a:r>
                      <a:endParaRPr lang="en-US" sz="900">
                        <a:effectLst/>
                      </a:endParaRPr>
                    </a:p>
                  </a:txBody>
                  <a:tcPr marL="43953" marR="43953" marT="21976" marB="21976" anchor="ctr">
                    <a:lnL>
                      <a:noFill/>
                    </a:lnL>
                    <a:lnR>
                      <a:noFill/>
                    </a:lnR>
                    <a:lnT>
                      <a:noFill/>
                    </a:lnT>
                    <a:lnB>
                      <a:noFill/>
                    </a:lnB>
                    <a:solidFill>
                      <a:srgbClr val="FFFFFF"/>
                    </a:solidFill>
                  </a:tcPr>
                </a:tc>
              </a:tr>
              <a:tr h="439529">
                <a:tc>
                  <a:txBody>
                    <a:bodyPr/>
                    <a:lstStyle/>
                    <a:p>
                      <a:pPr algn="l"/>
                      <a:r>
                        <a:rPr lang="en-US" sz="900" dirty="0">
                          <a:effectLst/>
                          <a:hlinkClick r:id="rId3"/>
                        </a:rPr>
                        <a:t>AWS Compute </a:t>
                      </a:r>
                      <a:r>
                        <a:rPr lang="en-US" sz="900" dirty="0" smtClean="0">
                          <a:effectLst/>
                          <a:hlinkClick r:id="rId3"/>
                        </a:rPr>
                        <a:t>Blog</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solidFill>
                            <a:srgbClr val="0F141A"/>
                          </a:solidFill>
                          <a:effectLst/>
                        </a:rPr>
                        <a:t>This blog provides updates, tutorials, and best practices for using AWS compute services, such as Amazon EC2, AWS Lambda, Amazon ECS, and more.</a:t>
                      </a:r>
                      <a:endParaRPr lang="en-US" sz="900">
                        <a:effectLst/>
                      </a:endParaRPr>
                    </a:p>
                  </a:txBody>
                  <a:tcPr marL="43953" marR="43953" marT="21976" marB="21976" anchor="ctr">
                    <a:lnL>
                      <a:noFill/>
                    </a:lnL>
                    <a:lnR>
                      <a:noFill/>
                    </a:lnR>
                    <a:lnT>
                      <a:noFill/>
                    </a:lnT>
                    <a:lnB>
                      <a:noFill/>
                    </a:lnB>
                    <a:solidFill>
                      <a:srgbClr val="FFFFFF"/>
                    </a:solidFill>
                  </a:tcPr>
                </a:tc>
              </a:tr>
              <a:tr h="307670">
                <a:tc>
                  <a:txBody>
                    <a:bodyPr/>
                    <a:lstStyle/>
                    <a:p>
                      <a:pPr algn="l"/>
                      <a:r>
                        <a:rPr lang="en-US" sz="900" dirty="0">
                          <a:effectLst/>
                          <a:hlinkClick r:id="rId4"/>
                        </a:rPr>
                        <a:t>AWS Compute </a:t>
                      </a:r>
                      <a:r>
                        <a:rPr lang="en-US" sz="900" dirty="0" smtClean="0">
                          <a:effectLst/>
                          <a:hlinkClick r:id="rId4"/>
                        </a:rPr>
                        <a:t>Services</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This reference provides an in-depth introduction to the compute services available within the AWS Cloud.</a:t>
                      </a:r>
                    </a:p>
                  </a:txBody>
                  <a:tcPr marL="43953" marR="43953" marT="21976" marB="21976" anchor="ctr">
                    <a:lnL>
                      <a:noFill/>
                    </a:lnL>
                    <a:lnR>
                      <a:noFill/>
                    </a:lnR>
                    <a:lnT>
                      <a:noFill/>
                    </a:lnT>
                    <a:lnB>
                      <a:noFill/>
                    </a:lnB>
                    <a:solidFill>
                      <a:srgbClr val="FFFFFF"/>
                    </a:solidFill>
                  </a:tcPr>
                </a:tc>
              </a:tr>
              <a:tr h="439529">
                <a:tc>
                  <a:txBody>
                    <a:bodyPr/>
                    <a:lstStyle/>
                    <a:p>
                      <a:pPr algn="l"/>
                      <a:r>
                        <a:rPr lang="en-US" sz="900" dirty="0">
                          <a:effectLst/>
                          <a:hlinkClick r:id="rId5"/>
                        </a:rPr>
                        <a:t>Hands-On Tutorials: </a:t>
                      </a:r>
                      <a:r>
                        <a:rPr lang="en-US" sz="900" dirty="0" smtClean="0">
                          <a:effectLst/>
                          <a:hlinkClick r:id="rId5"/>
                        </a:rPr>
                        <a:t>Compute</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This resource provides practical, step-by-step tutorials designed to help users gain hands-on experience with AWS compute services. It is ideal for beginners and those new to cloud computing.</a:t>
                      </a:r>
                    </a:p>
                  </a:txBody>
                  <a:tcPr marL="43953" marR="43953" marT="21976" marB="21976" anchor="ctr">
                    <a:lnL>
                      <a:noFill/>
                    </a:lnL>
                    <a:lnR>
                      <a:noFill/>
                    </a:lnR>
                    <a:lnT>
                      <a:noFill/>
                    </a:lnT>
                    <a:lnB>
                      <a:noFill/>
                    </a:lnB>
                    <a:solidFill>
                      <a:srgbClr val="FFFFFF"/>
                    </a:solidFill>
                  </a:tcPr>
                </a:tc>
              </a:tr>
              <a:tr h="307670">
                <a:tc>
                  <a:txBody>
                    <a:bodyPr/>
                    <a:lstStyle/>
                    <a:p>
                      <a:pPr algn="l"/>
                      <a:r>
                        <a:rPr lang="en-US" sz="900" dirty="0">
                          <a:effectLst/>
                          <a:hlinkClick r:id="rId6"/>
                        </a:rPr>
                        <a:t>Amazon </a:t>
                      </a:r>
                      <a:r>
                        <a:rPr lang="en-US" sz="900" dirty="0" smtClean="0">
                          <a:effectLst/>
                          <a:hlinkClick r:id="rId6"/>
                        </a:rPr>
                        <a:t>EC2</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Amazon EC2 runs virtual servers in the cloud with flexible computing capacity.</a:t>
                      </a:r>
                    </a:p>
                  </a:txBody>
                  <a:tcPr marL="43953" marR="43953" marT="21976" marB="21976" anchor="ctr">
                    <a:lnL>
                      <a:noFill/>
                    </a:lnL>
                    <a:lnR>
                      <a:noFill/>
                    </a:lnR>
                    <a:lnT>
                      <a:noFill/>
                    </a:lnT>
                    <a:lnB>
                      <a:noFill/>
                    </a:lnB>
                    <a:solidFill>
                      <a:srgbClr val="FFFFFF"/>
                    </a:solidFill>
                  </a:tcPr>
                </a:tc>
              </a:tr>
              <a:tr h="571388">
                <a:tc>
                  <a:txBody>
                    <a:bodyPr/>
                    <a:lstStyle/>
                    <a:p>
                      <a:pPr algn="l"/>
                      <a:r>
                        <a:rPr lang="en-US" sz="900" dirty="0">
                          <a:effectLst/>
                          <a:hlinkClick r:id="rId7"/>
                        </a:rPr>
                        <a:t>Amazon EC2 </a:t>
                      </a:r>
                      <a:r>
                        <a:rPr lang="en-US" sz="900" dirty="0" smtClean="0">
                          <a:effectLst/>
                          <a:hlinkClick r:id="rId7"/>
                        </a:rPr>
                        <a:t>Instance</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This guide provides detailed information about the different types of EC2 instances, including their specifications, capabilities, and use cases. It helps you choose the right instance type based on your workload needs, such as compute, memory, and storage requirements.</a:t>
                      </a:r>
                    </a:p>
                  </a:txBody>
                  <a:tcPr marL="43953" marR="43953" marT="21976" marB="21976" anchor="ctr">
                    <a:lnL>
                      <a:noFill/>
                    </a:lnL>
                    <a:lnR>
                      <a:noFill/>
                    </a:lnR>
                    <a:lnT>
                      <a:noFill/>
                    </a:lnT>
                    <a:lnB>
                      <a:noFill/>
                    </a:lnB>
                    <a:solidFill>
                      <a:srgbClr val="FFFFFF"/>
                    </a:solidFill>
                  </a:tcPr>
                </a:tc>
              </a:tr>
              <a:tr h="439529">
                <a:tc>
                  <a:txBody>
                    <a:bodyPr/>
                    <a:lstStyle/>
                    <a:p>
                      <a:pPr algn="l"/>
                      <a:r>
                        <a:rPr lang="en-US" sz="900" dirty="0">
                          <a:effectLst/>
                          <a:hlinkClick r:id="rId8"/>
                        </a:rPr>
                        <a:t>Amazon EC2 </a:t>
                      </a:r>
                      <a:r>
                        <a:rPr lang="en-US" sz="900" dirty="0" smtClean="0">
                          <a:effectLst/>
                          <a:hlinkClick r:id="rId8"/>
                        </a:rPr>
                        <a:t>Pricing</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This guide explains the different pricing models for EC2 instances, including On-Demand, Reserved Instances, and Spot Instances, so you can choose the best option based on your usage.</a:t>
                      </a:r>
                    </a:p>
                  </a:txBody>
                  <a:tcPr marL="43953" marR="43953" marT="21976" marB="21976" anchor="ctr">
                    <a:lnL>
                      <a:noFill/>
                    </a:lnL>
                    <a:lnR>
                      <a:noFill/>
                    </a:lnR>
                    <a:lnT>
                      <a:noFill/>
                    </a:lnT>
                    <a:lnB>
                      <a:noFill/>
                    </a:lnB>
                    <a:solidFill>
                      <a:srgbClr val="FFFFFF"/>
                    </a:solidFill>
                  </a:tcPr>
                </a:tc>
              </a:tr>
              <a:tr h="307670">
                <a:tc>
                  <a:txBody>
                    <a:bodyPr/>
                    <a:lstStyle/>
                    <a:p>
                      <a:pPr algn="l"/>
                      <a:r>
                        <a:rPr lang="en-US" sz="900" dirty="0">
                          <a:effectLst/>
                          <a:hlinkClick r:id="rId9"/>
                        </a:rPr>
                        <a:t>Amazon EC2 </a:t>
                      </a:r>
                      <a:r>
                        <a:rPr lang="en-US" sz="900" dirty="0" smtClean="0">
                          <a:effectLst/>
                          <a:hlinkClick r:id="rId9"/>
                        </a:rPr>
                        <a:t>Auto</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Amazon EC2 Auto Scaling automatically adjusts instance count based on demand for high availability and cost-efficiency.</a:t>
                      </a:r>
                    </a:p>
                  </a:txBody>
                  <a:tcPr marL="43953" marR="43953" marT="21976" marB="21976" anchor="ctr">
                    <a:lnL>
                      <a:noFill/>
                    </a:lnL>
                    <a:lnR>
                      <a:noFill/>
                    </a:lnR>
                    <a:lnT>
                      <a:noFill/>
                    </a:lnT>
                    <a:lnB>
                      <a:noFill/>
                    </a:lnB>
                    <a:solidFill>
                      <a:srgbClr val="FFFFFF"/>
                    </a:solidFill>
                  </a:tcPr>
                </a:tc>
              </a:tr>
              <a:tr h="439529">
                <a:tc>
                  <a:txBody>
                    <a:bodyPr/>
                    <a:lstStyle/>
                    <a:p>
                      <a:pPr algn="l"/>
                      <a:r>
                        <a:rPr lang="en-US" sz="900" dirty="0">
                          <a:effectLst/>
                          <a:hlinkClick r:id="rId10"/>
                        </a:rPr>
                        <a:t>Elastic </a:t>
                      </a:r>
                      <a:r>
                        <a:rPr lang="en-US" sz="900" dirty="0" smtClean="0">
                          <a:effectLst/>
                          <a:hlinkClick r:id="rId10"/>
                        </a:rPr>
                        <a:t>Load</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Elastic Load Balancing automatically distributes incoming application traffic across multiple EC2 instances for high availability and fault tolerance.</a:t>
                      </a:r>
                    </a:p>
                  </a:txBody>
                  <a:tcPr marL="43953" marR="43953" marT="21976" marB="21976" anchor="ctr">
                    <a:lnL>
                      <a:noFill/>
                    </a:lnL>
                    <a:lnR>
                      <a:noFill/>
                    </a:lnR>
                    <a:lnT>
                      <a:noFill/>
                    </a:lnT>
                    <a:lnB>
                      <a:noFill/>
                    </a:lnB>
                    <a:solidFill>
                      <a:srgbClr val="FFFFFF"/>
                    </a:solidFill>
                  </a:tcPr>
                </a:tc>
              </a:tr>
              <a:tr h="307670">
                <a:tc>
                  <a:txBody>
                    <a:bodyPr/>
                    <a:lstStyle/>
                    <a:p>
                      <a:pPr algn="l"/>
                      <a:r>
                        <a:rPr lang="en-US" sz="900" dirty="0">
                          <a:effectLst/>
                          <a:hlinkClick r:id="rId11"/>
                        </a:rPr>
                        <a:t>Amazon Simple Notification </a:t>
                      </a:r>
                      <a:r>
                        <a:rPr lang="en-US" sz="900" dirty="0" smtClean="0">
                          <a:effectLst/>
                          <a:hlinkClick r:id="rId11"/>
                        </a:rPr>
                        <a:t>Service</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a:effectLst/>
                        </a:rPr>
                        <a:t>Amazon SNS is a messaging service for sending notifications to users or other applications through SMS, email, or mobile push notifications.</a:t>
                      </a:r>
                    </a:p>
                  </a:txBody>
                  <a:tcPr marL="43953" marR="43953" marT="21976" marB="21976" anchor="ctr">
                    <a:lnL>
                      <a:noFill/>
                    </a:lnL>
                    <a:lnR>
                      <a:noFill/>
                    </a:lnR>
                    <a:lnT>
                      <a:noFill/>
                    </a:lnT>
                    <a:lnB>
                      <a:noFill/>
                    </a:lnB>
                    <a:solidFill>
                      <a:srgbClr val="FFFFFF"/>
                    </a:solidFill>
                  </a:tcPr>
                </a:tc>
              </a:tr>
              <a:tr h="307670">
                <a:tc>
                  <a:txBody>
                    <a:bodyPr/>
                    <a:lstStyle/>
                    <a:p>
                      <a:pPr algn="l"/>
                      <a:r>
                        <a:rPr lang="en-US" sz="900" dirty="0">
                          <a:effectLst/>
                          <a:hlinkClick r:id="rId12"/>
                        </a:rPr>
                        <a:t>Amazon Simple Queue </a:t>
                      </a:r>
                      <a:r>
                        <a:rPr lang="en-US" sz="900" dirty="0" smtClean="0">
                          <a:effectLst/>
                          <a:hlinkClick r:id="rId12"/>
                        </a:rPr>
                        <a:t>Service</a:t>
                      </a:r>
                      <a:endParaRPr lang="en-US" sz="900" dirty="0">
                        <a:effectLst/>
                      </a:endParaRPr>
                    </a:p>
                  </a:txBody>
                  <a:tcPr marL="43953" marR="43953" marT="21976" marB="21976" anchor="ctr">
                    <a:lnL>
                      <a:noFill/>
                    </a:lnL>
                    <a:lnR>
                      <a:noFill/>
                    </a:lnR>
                    <a:lnT>
                      <a:noFill/>
                    </a:lnT>
                    <a:lnB>
                      <a:noFill/>
                    </a:lnB>
                    <a:solidFill>
                      <a:srgbClr val="FFFFFF"/>
                    </a:solidFill>
                  </a:tcPr>
                </a:tc>
                <a:tc>
                  <a:txBody>
                    <a:bodyPr/>
                    <a:lstStyle/>
                    <a:p>
                      <a:pPr algn="l"/>
                      <a:r>
                        <a:rPr lang="en-US" sz="900" dirty="0">
                          <a:effectLst/>
                        </a:rPr>
                        <a:t>Amazon SQS decouples application components through message queuing, storing and processing messages reliably.</a:t>
                      </a:r>
                    </a:p>
                  </a:txBody>
                  <a:tcPr marL="43953" marR="43953" marT="21976" marB="21976"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35232581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1197</TotalTime>
  <Words>3642</Words>
  <Application>Microsoft Office PowerPoint</Application>
  <PresentationFormat>Widescreen</PresentationFormat>
  <Paragraphs>284</Paragraphs>
  <Slides>88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88</vt:i4>
      </vt:variant>
    </vt:vector>
  </HeadingPairs>
  <TitlesOfParts>
    <vt:vector size="92" baseType="lpstr">
      <vt:lpstr>Arial</vt:lpstr>
      <vt:lpstr>Calibri</vt:lpstr>
      <vt:lpstr>Calibri Light</vt:lpstr>
      <vt:lpstr>Office Theme</vt:lpstr>
      <vt:lpstr>Module 2</vt:lpstr>
      <vt:lpstr>Outline</vt:lpstr>
      <vt:lpstr>AWS EC2</vt:lpstr>
      <vt:lpstr>PowerPoint Presentation</vt:lpstr>
      <vt:lpstr>Key points</vt:lpstr>
      <vt:lpstr>Challenges of on-premises resources</vt:lpstr>
      <vt:lpstr>Benefits of using Cloud Resources</vt:lpstr>
      <vt:lpstr>How Amazon EC2 works</vt:lpstr>
      <vt:lpstr>How Amazon EC2 works</vt:lpstr>
      <vt:lpstr>How Amazon EC2 works</vt:lpstr>
      <vt:lpstr>Amazon EC2 Instance Types</vt:lpstr>
      <vt:lpstr>In this lesson, you will learn:</vt:lpstr>
      <vt:lpstr>PowerPoint Presentation</vt:lpstr>
      <vt:lpstr>The main EC2 instance families</vt:lpstr>
      <vt:lpstr>Key takeaway</vt:lpstr>
      <vt:lpstr>How to Provision AWS Resources</vt:lpstr>
      <vt:lpstr>In this lesson, you will learn:</vt:lpstr>
      <vt:lpstr>PowerPoint Presentation</vt:lpstr>
      <vt:lpstr>PowerPoint Presentation</vt:lpstr>
      <vt:lpstr>The three main ways to call AWS APIs:</vt:lpstr>
      <vt:lpstr>PowerPoint Presentation</vt:lpstr>
      <vt:lpstr>PowerPoint Presentation</vt:lpstr>
      <vt:lpstr>Key Takeaway:</vt:lpstr>
      <vt:lpstr>Compute and shared responsibility</vt:lpstr>
      <vt:lpstr>PowerPoint Presentation</vt:lpstr>
      <vt:lpstr>Demo: Launching an Amazon EC2 Instance</vt:lpstr>
      <vt:lpstr>In this lesson, you will learn:</vt:lpstr>
      <vt:lpstr>Launching an EC2 Instance via the AWS Management Console</vt:lpstr>
      <vt:lpstr>PowerPoint Presentation</vt:lpstr>
      <vt:lpstr>PowerPoint Presentation</vt:lpstr>
      <vt:lpstr>PowerPoint Presentation</vt:lpstr>
      <vt:lpstr>PowerPoint Presentation</vt:lpstr>
      <vt:lpstr>Amazon EC2 Pricing</vt:lpstr>
      <vt:lpstr>In this lesson, you will learn</vt:lpstr>
      <vt:lpstr>Amazon EC2 Pricing Options</vt:lpstr>
      <vt:lpstr>PowerPoint Presentation</vt:lpstr>
      <vt:lpstr>PowerPoint Presentation</vt:lpstr>
      <vt:lpstr>PowerPoint Presentation</vt:lpstr>
      <vt:lpstr>PowerPoint Presentation</vt:lpstr>
      <vt:lpstr>PowerPoint Presentation</vt:lpstr>
      <vt:lpstr>Key Takeaway</vt:lpstr>
      <vt:lpstr>PowerPoint Presentation</vt:lpstr>
      <vt:lpstr>PowerPoint Presentation</vt:lpstr>
      <vt:lpstr>More about cost optimization</vt:lpstr>
      <vt:lpstr>Scaling Amazon EC2</vt:lpstr>
      <vt:lpstr>In this lesson, you will learn:</vt:lpstr>
      <vt:lpstr>PowerPoint Presentation</vt:lpstr>
      <vt:lpstr>Scaling in Amazon EC2</vt:lpstr>
      <vt:lpstr>PowerPoint Presentation</vt:lpstr>
      <vt:lpstr>PowerPoint Presentation</vt:lpstr>
      <vt:lpstr>PowerPoint Presentation</vt:lpstr>
      <vt:lpstr>Amazon EC2 Auto Scaling</vt:lpstr>
      <vt:lpstr>PowerPoint Presentation</vt:lpstr>
      <vt:lpstr>PowerPoint Presentation</vt:lpstr>
      <vt:lpstr>PowerPoint Presentation</vt:lpstr>
      <vt:lpstr>Key takeaways</vt:lpstr>
      <vt:lpstr>Directing Traffic with Elastic Load Balancing (ELB)</vt:lpstr>
      <vt:lpstr>In this lesson, you will learn:</vt:lpstr>
      <vt:lpstr>PowerPoint Presentation</vt:lpstr>
      <vt:lpstr>PowerPoint Presentation</vt:lpstr>
      <vt:lpstr>Key takeaways: ELB benefits</vt:lpstr>
      <vt:lpstr>Routing methods</vt:lpstr>
      <vt:lpstr>Example: Elastic Load Balancing</vt:lpstr>
      <vt:lpstr>PowerPoint Presentation</vt:lpstr>
      <vt:lpstr>PowerPoint Presentation</vt:lpstr>
      <vt:lpstr>PowerPoint Presentation</vt:lpstr>
      <vt:lpstr>Messaging and Queuing</vt:lpstr>
      <vt:lpstr>In this lesson, you will learn: </vt:lpstr>
      <vt:lpstr>PowerPoint Presentation</vt:lpstr>
      <vt:lpstr>Amazon Simple Queue Service (SQS)</vt:lpstr>
      <vt:lpstr>PowerPoint Presentation</vt:lpstr>
      <vt:lpstr>Example: Amazon SQS</vt:lpstr>
      <vt:lpstr>Amazon Simple Notification Service (SNS)</vt:lpstr>
      <vt:lpstr>Example: Amazon SNS</vt:lpstr>
      <vt:lpstr>PowerPoint Presentation</vt:lpstr>
      <vt:lpstr>PowerPoint Presentation</vt:lpstr>
      <vt:lpstr>Key takeaways</vt:lpstr>
      <vt:lpstr>Monolithic applications</vt:lpstr>
      <vt:lpstr>PowerPoint Presentation</vt:lpstr>
      <vt:lpstr>Microservices architecture</vt:lpstr>
      <vt:lpstr>PowerPoint Presentation</vt:lpstr>
      <vt:lpstr>Scalable and reliable cloud communication</vt:lpstr>
      <vt:lpstr>EventBridge</vt:lpstr>
      <vt:lpstr>Example: EventBridge</vt:lpstr>
      <vt:lpstr>PowerPoint Presentation</vt:lpstr>
      <vt:lpstr>How EventBridge helps</vt:lpstr>
      <vt:lpstr>Recap</vt:lpstr>
      <vt:lpstr>Resources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EC2</dc:title>
  <dc:creator>Microsoft account</dc:creator>
  <cp:lastModifiedBy>Microsoft account</cp:lastModifiedBy>
  <cp:revision>26</cp:revision>
  <dcterms:created xsi:type="dcterms:W3CDTF">2025-08-07T17:57:07Z</dcterms:created>
  <dcterms:modified xsi:type="dcterms:W3CDTF">2025-08-25T21:04:20Z</dcterms:modified>
</cp:coreProperties>
</file>