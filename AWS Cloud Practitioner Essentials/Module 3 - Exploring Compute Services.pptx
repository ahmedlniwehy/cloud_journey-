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7" r:id="rId31"/>
    <p:sldId id="284" r:id="rId32"/>
    <p:sldId id="285"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29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6D5805B-BD36-4861-97C5-D80697DFA18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87093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5805B-BD36-4861-97C5-D80697DFA18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659217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D5805B-BD36-4861-97C5-D80697DFA18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549768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D5805B-BD36-4861-97C5-D80697DFA18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1371830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D5805B-BD36-4861-97C5-D80697DFA18B}"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4015997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6D5805B-BD36-4861-97C5-D80697DFA18B}"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1453252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D5805B-BD36-4861-97C5-D80697DFA18B}"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3105414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D5805B-BD36-4861-97C5-D80697DFA18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2850500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D5805B-BD36-4861-97C5-D80697DFA18B}"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4157637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5805B-BD36-4861-97C5-D80697DFA18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1257150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D5805B-BD36-4861-97C5-D80697DFA18B}"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67E5A5-B354-457C-ADFA-913C9189C480}" type="slidenum">
              <a:rPr lang="en-US" smtClean="0"/>
              <a:t>‹#›</a:t>
            </a:fld>
            <a:endParaRPr lang="en-US"/>
          </a:p>
        </p:txBody>
      </p:sp>
    </p:spTree>
    <p:extLst>
      <p:ext uri="{BB962C8B-B14F-4D97-AF65-F5344CB8AC3E}">
        <p14:creationId xmlns:p14="http://schemas.microsoft.com/office/powerpoint/2010/main" val="833822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5805B-BD36-4861-97C5-D80697DFA18B}" type="datetimeFigureOut">
              <a:rPr lang="en-US" smtClean="0"/>
              <a:t>8/26/2025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7E5A5-B354-457C-ADFA-913C9189C480}" type="slidenum">
              <a:rPr lang="en-US" smtClean="0"/>
              <a:t>‹#›</a:t>
            </a:fld>
            <a:endParaRPr lang="en-US"/>
          </a:p>
        </p:txBody>
      </p:sp>
    </p:spTree>
    <p:extLst>
      <p:ext uri="{BB962C8B-B14F-4D97-AF65-F5344CB8AC3E}">
        <p14:creationId xmlns:p14="http://schemas.microsoft.com/office/powerpoint/2010/main" val="31989967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hyperlink" Target="https://aws.amazon.com/batch/" TargetMode="External"/><Relationship Id="rId3" Type="http://schemas.openxmlformats.org/officeDocument/2006/relationships/hyperlink" Target="https://aws.amazon.com/ecr/" TargetMode="External"/><Relationship Id="rId7" Type="http://schemas.openxmlformats.org/officeDocument/2006/relationships/hyperlink" Target="https://aws.amazon.com/elasticbeanstalk/?gclid=EAIaIQobChMIpb-UsKDfjAMVfWJHAR2d6xQ1EAAYASAAEgLN5PD_BwE&amp;trk=b1c3dd7d-1b94-4b82-99e3-c1505e3a55fb&amp;sc_channel=ps&amp;ef_id=EAIaIQobChMIpb-UsKDfjAMVfWJHAR2d6xQ1EAAYASAAEgLN5PD_BwE:G:s&amp;s_kwcid=AL!4422!3!651737511569!e!!g!!elastic%20bean%20stalk!19845796021!146736269029" TargetMode="External"/><Relationship Id="rId2" Type="http://schemas.openxmlformats.org/officeDocument/2006/relationships/hyperlink" Target="https://aws.amazon.com/containers/services/" TargetMode="External"/><Relationship Id="rId1" Type="http://schemas.openxmlformats.org/officeDocument/2006/relationships/slideLayout" Target="../slideLayouts/slideLayout2.xml"/><Relationship Id="rId6" Type="http://schemas.openxmlformats.org/officeDocument/2006/relationships/hyperlink" Target="https://aws.amazon.com/fargate/" TargetMode="External"/><Relationship Id="rId11" Type="http://schemas.openxmlformats.org/officeDocument/2006/relationships/hyperlink" Target="https://docs.aws.amazon.com/decision-guides/latest/modern-apps-strategy-on-aws-how-to-choose/modern-apps-strategy-on-aws-how-to-choose.html" TargetMode="External"/><Relationship Id="rId5" Type="http://schemas.openxmlformats.org/officeDocument/2006/relationships/hyperlink" Target="https://aws.amazon.com/eks/" TargetMode="External"/><Relationship Id="rId10" Type="http://schemas.openxmlformats.org/officeDocument/2006/relationships/hyperlink" Target="https://docs.aws.amazon.com/outposts/latest/server-userguide/what-is-outposts.html" TargetMode="External"/><Relationship Id="rId4" Type="http://schemas.openxmlformats.org/officeDocument/2006/relationships/hyperlink" Target="https://aws.amazon.com/ecs/" TargetMode="External"/><Relationship Id="rId9" Type="http://schemas.openxmlformats.org/officeDocument/2006/relationships/hyperlink" Target="https://docs.aws.amazon.com/lightsail/latest/userguide/what-is-amazon-lightsai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Module 3</a:t>
            </a:r>
            <a:endParaRPr lang="en-US" b="1" dirty="0"/>
          </a:p>
        </p:txBody>
      </p:sp>
      <p:sp>
        <p:nvSpPr>
          <p:cNvPr id="3" name="Subtitle 2"/>
          <p:cNvSpPr>
            <a:spLocks noGrp="1"/>
          </p:cNvSpPr>
          <p:nvPr>
            <p:ph type="subTitle" idx="1"/>
          </p:nvPr>
        </p:nvSpPr>
        <p:spPr/>
        <p:txBody>
          <a:bodyPr/>
          <a:lstStyle/>
          <a:p>
            <a:r>
              <a:rPr lang="en-US" b="1" dirty="0" smtClean="0"/>
              <a:t>Exploring Compute Services</a:t>
            </a:r>
          </a:p>
          <a:p>
            <a:endParaRPr lang="en-US" dirty="0"/>
          </a:p>
        </p:txBody>
      </p:sp>
    </p:spTree>
    <p:extLst>
      <p:ext uri="{BB962C8B-B14F-4D97-AF65-F5344CB8AC3E}">
        <p14:creationId xmlns:p14="http://schemas.microsoft.com/office/powerpoint/2010/main" val="1906946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Outline</a:t>
            </a:r>
            <a:endParaRPr lang="en-US" b="1" dirty="0"/>
          </a:p>
        </p:txBody>
      </p:sp>
      <p:sp>
        <p:nvSpPr>
          <p:cNvPr id="3" name="Content Placeholder 2"/>
          <p:cNvSpPr>
            <a:spLocks noGrp="1"/>
          </p:cNvSpPr>
          <p:nvPr>
            <p:ph idx="1"/>
          </p:nvPr>
        </p:nvSpPr>
        <p:spPr/>
        <p:txBody>
          <a:bodyPr/>
          <a:lstStyle/>
          <a:p>
            <a:pPr marL="0" indent="0">
              <a:buNone/>
            </a:pPr>
            <a:r>
              <a:rPr lang="en-US" b="1" dirty="0" smtClean="0"/>
              <a:t>1. MODULE 3 INTRODUCTION</a:t>
            </a:r>
          </a:p>
          <a:p>
            <a:pPr lvl="1"/>
            <a:r>
              <a:rPr lang="en-US" dirty="0" smtClean="0">
                <a:effectLst/>
              </a:rPr>
              <a:t>Introduction to </a:t>
            </a:r>
            <a:r>
              <a:rPr lang="en-US" dirty="0" err="1" smtClean="0">
                <a:effectLst/>
              </a:rPr>
              <a:t>Serverless</a:t>
            </a:r>
            <a:r>
              <a:rPr lang="en-US" dirty="0" smtClean="0">
                <a:effectLst/>
              </a:rPr>
              <a:t> Computing</a:t>
            </a:r>
          </a:p>
          <a:p>
            <a:pPr marL="0" indent="0">
              <a:buNone/>
            </a:pPr>
            <a:r>
              <a:rPr lang="en-US" b="1" dirty="0" smtClean="0"/>
              <a:t>2. AWS SERVERLESS, CONTAINERS, AND SOLUTIONS OVERVIEW</a:t>
            </a:r>
          </a:p>
          <a:p>
            <a:pPr lvl="1"/>
            <a:r>
              <a:rPr lang="en-US" dirty="0" smtClean="0">
                <a:effectLst/>
              </a:rPr>
              <a:t>AWS Lambda</a:t>
            </a:r>
          </a:p>
          <a:p>
            <a:pPr lvl="1"/>
            <a:r>
              <a:rPr lang="en-US" dirty="0" smtClean="0">
                <a:effectLst/>
              </a:rPr>
              <a:t>Containers and Orchestration on AWS</a:t>
            </a:r>
          </a:p>
          <a:p>
            <a:pPr lvl="1"/>
            <a:r>
              <a:rPr lang="en-US" dirty="0" smtClean="0">
                <a:effectLst/>
              </a:rPr>
              <a:t>Additional Compute Services</a:t>
            </a:r>
          </a:p>
          <a:p>
            <a:endParaRPr lang="en-US" dirty="0"/>
          </a:p>
        </p:txBody>
      </p:sp>
    </p:spTree>
    <p:extLst>
      <p:ext uri="{BB962C8B-B14F-4D97-AF65-F5344CB8AC3E}">
        <p14:creationId xmlns:p14="http://schemas.microsoft.com/office/powerpoint/2010/main" val="1522513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effectLst/>
              </a:rPr>
              <a:t>With </a:t>
            </a:r>
            <a:r>
              <a:rPr lang="en-US" dirty="0" err="1" smtClean="0">
                <a:effectLst/>
              </a:rPr>
              <a:t>serverless</a:t>
            </a:r>
            <a:r>
              <a:rPr lang="en-US" dirty="0" smtClean="0">
                <a:effectLst/>
              </a:rPr>
              <a:t> computing, you run applications without managing the underlying infrastructure. </a:t>
            </a:r>
          </a:p>
          <a:p>
            <a:r>
              <a:rPr lang="en-US" dirty="0" smtClean="0">
                <a:effectLst/>
              </a:rPr>
              <a:t>In the following lessons, you learn how to take full advantage of it with powerful compute services.</a:t>
            </a:r>
          </a:p>
          <a:p>
            <a:r>
              <a:rPr lang="en-US" dirty="0" smtClean="0">
                <a:effectLst/>
              </a:rPr>
              <a:t> You explore AWS </a:t>
            </a:r>
            <a:r>
              <a:rPr lang="en-US" b="1" dirty="0" smtClean="0">
                <a:effectLst/>
              </a:rPr>
              <a:t>Lambda</a:t>
            </a:r>
            <a:r>
              <a:rPr lang="en-US" dirty="0" smtClean="0">
                <a:effectLst/>
              </a:rPr>
              <a:t>, a </a:t>
            </a:r>
            <a:r>
              <a:rPr lang="en-US" dirty="0" err="1" smtClean="0">
                <a:effectLst/>
              </a:rPr>
              <a:t>serverless</a:t>
            </a:r>
            <a:r>
              <a:rPr lang="en-US" dirty="0" smtClean="0">
                <a:effectLst/>
              </a:rPr>
              <a:t> solution that automatically handles scaling, availability, and maintenance. </a:t>
            </a:r>
          </a:p>
          <a:p>
            <a:r>
              <a:rPr lang="en-US" dirty="0" smtClean="0">
                <a:effectLst/>
              </a:rPr>
              <a:t>You also discover services like Amazon </a:t>
            </a:r>
            <a:r>
              <a:rPr lang="en-US" b="1" dirty="0" smtClean="0">
                <a:effectLst/>
              </a:rPr>
              <a:t>Elastic Container Service </a:t>
            </a:r>
            <a:r>
              <a:rPr lang="en-US" dirty="0" smtClean="0">
                <a:effectLst/>
              </a:rPr>
              <a:t>(Amazon ECS), Amazon </a:t>
            </a:r>
            <a:r>
              <a:rPr lang="en-US" b="1" dirty="0" smtClean="0">
                <a:effectLst/>
              </a:rPr>
              <a:t>Elastic Kubernetes Service </a:t>
            </a:r>
            <a:r>
              <a:rPr lang="en-US" dirty="0" smtClean="0">
                <a:effectLst/>
              </a:rPr>
              <a:t>(Amazon EKS), and AWS </a:t>
            </a:r>
            <a:r>
              <a:rPr lang="en-US" b="1" dirty="0" smtClean="0">
                <a:effectLst/>
              </a:rPr>
              <a:t>Elastic Beanstalk</a:t>
            </a:r>
            <a:r>
              <a:rPr lang="en-US" dirty="0" smtClean="0">
                <a:effectLst/>
              </a:rPr>
              <a:t>, which make container management and application deployment more manageable. </a:t>
            </a:r>
          </a:p>
          <a:p>
            <a:r>
              <a:rPr lang="en-US" dirty="0" smtClean="0">
                <a:effectLst/>
              </a:rPr>
              <a:t>After completing these lessons, you will be ready to choose the best one for your needs.</a:t>
            </a:r>
          </a:p>
          <a:p>
            <a:endParaRPr lang="en-US" dirty="0"/>
          </a:p>
        </p:txBody>
      </p:sp>
    </p:spTree>
    <p:extLst>
      <p:ext uri="{BB962C8B-B14F-4D97-AF65-F5344CB8AC3E}">
        <p14:creationId xmlns:p14="http://schemas.microsoft.com/office/powerpoint/2010/main" val="2643678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3728" y="2568829"/>
            <a:ext cx="8589264" cy="1325563"/>
          </a:xfrm>
        </p:spPr>
        <p:txBody>
          <a:bodyPr/>
          <a:lstStyle/>
          <a:p>
            <a:r>
              <a:rPr lang="en-US" b="1" dirty="0" smtClean="0"/>
              <a:t>Introduction to </a:t>
            </a:r>
            <a:r>
              <a:rPr lang="en-US" b="1" dirty="0" err="1" smtClean="0"/>
              <a:t>Serverless</a:t>
            </a:r>
            <a:r>
              <a:rPr lang="en-US" b="1" dirty="0" smtClean="0"/>
              <a:t> Computing</a:t>
            </a:r>
            <a:endParaRPr lang="en-US" b="1" dirty="0"/>
          </a:p>
        </p:txBody>
      </p:sp>
    </p:spTree>
    <p:extLst>
      <p:ext uri="{BB962C8B-B14F-4D97-AF65-F5344CB8AC3E}">
        <p14:creationId xmlns:p14="http://schemas.microsoft.com/office/powerpoint/2010/main" val="110274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Describe the differences between unmanaged, managed, and </a:t>
            </a:r>
            <a:r>
              <a:rPr lang="en-US" dirty="0" err="1" smtClean="0">
                <a:effectLst/>
              </a:rPr>
              <a:t>serverless</a:t>
            </a:r>
            <a:r>
              <a:rPr lang="en-US" dirty="0" smtClean="0">
                <a:effectLst/>
              </a:rPr>
              <a:t> compute services in AWS.</a:t>
            </a:r>
            <a:endParaRPr lang="en-US" dirty="0" smtClean="0"/>
          </a:p>
          <a:p>
            <a:r>
              <a:rPr lang="en-US" dirty="0" smtClean="0"/>
              <a:t>Describe the customer and AWS responsibilities regarding </a:t>
            </a:r>
            <a:r>
              <a:rPr lang="en-US" dirty="0" err="1" smtClean="0"/>
              <a:t>serverless</a:t>
            </a:r>
            <a:r>
              <a:rPr lang="en-US" dirty="0" smtClean="0"/>
              <a:t> computing.</a:t>
            </a:r>
          </a:p>
          <a:p>
            <a:endParaRPr lang="en-US" dirty="0"/>
          </a:p>
        </p:txBody>
      </p:sp>
    </p:spTree>
    <p:extLst>
      <p:ext uri="{BB962C8B-B14F-4D97-AF65-F5344CB8AC3E}">
        <p14:creationId xmlns:p14="http://schemas.microsoft.com/office/powerpoint/2010/main" val="25514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Quick Recap: EC2</a:t>
            </a:r>
            <a:endParaRPr lang="en-US" b="1" dirty="0"/>
          </a:p>
        </p:txBody>
      </p:sp>
      <p:sp>
        <p:nvSpPr>
          <p:cNvPr id="3" name="Content Placeholder 2"/>
          <p:cNvSpPr>
            <a:spLocks noGrp="1"/>
          </p:cNvSpPr>
          <p:nvPr>
            <p:ph idx="1"/>
          </p:nvPr>
        </p:nvSpPr>
        <p:spPr>
          <a:xfrm>
            <a:off x="545592" y="2029016"/>
            <a:ext cx="10515600" cy="4351338"/>
          </a:xfrm>
        </p:spPr>
        <p:txBody>
          <a:bodyPr>
            <a:normAutofit/>
          </a:bodyPr>
          <a:lstStyle/>
          <a:p>
            <a:r>
              <a:rPr kumimoji="0" lang="en-US" altLang="en-US" sz="3000" b="1" i="0" u="none" strike="noStrike" cap="none" normalizeH="0" baseline="0" dirty="0" smtClean="0">
                <a:ln>
                  <a:noFill/>
                </a:ln>
                <a:solidFill>
                  <a:schemeClr val="tx1"/>
                </a:solidFill>
                <a:effectLst/>
              </a:rPr>
              <a:t>Amazon EC2 (Elastic Compute Cloud)</a:t>
            </a:r>
            <a:r>
              <a:rPr kumimoji="0" lang="en-US" altLang="en-US" sz="3000" b="0" i="0" u="none" strike="noStrike" cap="none" normalizeH="0" baseline="0" dirty="0" smtClean="0">
                <a:ln>
                  <a:noFill/>
                </a:ln>
                <a:solidFill>
                  <a:schemeClr val="tx1"/>
                </a:solidFill>
                <a:effectLst/>
              </a:rPr>
              <a:t> provides </a:t>
            </a:r>
            <a:r>
              <a:rPr kumimoji="0" lang="en-US" altLang="en-US" sz="3000" b="1" i="0" u="none" strike="noStrike" cap="none" normalizeH="0" baseline="0" dirty="0" smtClean="0">
                <a:ln>
                  <a:noFill/>
                </a:ln>
                <a:solidFill>
                  <a:schemeClr val="tx1"/>
                </a:solidFill>
                <a:effectLst/>
              </a:rPr>
              <a:t>virtual machines (instances)</a:t>
            </a:r>
            <a:r>
              <a:rPr kumimoji="0" lang="en-US" altLang="en-US" sz="3000" b="0" i="0" u="none" strike="noStrike" cap="none" normalizeH="0" baseline="0" dirty="0" smtClean="0">
                <a:ln>
                  <a:noFill/>
                </a:ln>
                <a:solidFill>
                  <a:schemeClr val="tx1"/>
                </a:solidFill>
                <a:effectLst/>
              </a:rPr>
              <a:t> in the AWS Cloud.</a:t>
            </a:r>
          </a:p>
          <a:p>
            <a:r>
              <a:rPr kumimoji="0" lang="en-US" altLang="en-US" sz="3000" b="0" i="0" u="none" strike="noStrike" cap="none" normalizeH="0" baseline="0" dirty="0" smtClean="0">
                <a:ln>
                  <a:noFill/>
                </a:ln>
                <a:solidFill>
                  <a:schemeClr val="tx1"/>
                </a:solidFill>
                <a:effectLst/>
              </a:rPr>
              <a:t>Suitable for a wide range of workloads: from basic web servers to high-performance computing.</a:t>
            </a:r>
          </a:p>
          <a:p>
            <a:r>
              <a:rPr kumimoji="0" lang="en-US" altLang="en-US" sz="3000" b="1" i="0" u="none" strike="noStrike" cap="none" normalizeH="0" baseline="0" dirty="0" smtClean="0">
                <a:ln>
                  <a:noFill/>
                </a:ln>
                <a:solidFill>
                  <a:schemeClr val="tx1"/>
                </a:solidFill>
                <a:effectLst/>
              </a:rPr>
              <a:t>Unmanaged service</a:t>
            </a:r>
            <a:r>
              <a:rPr kumimoji="0" lang="en-US" altLang="en-US" sz="3000" b="0" i="0" u="none" strike="noStrike" cap="none" normalizeH="0" baseline="0" dirty="0" smtClean="0">
                <a:ln>
                  <a:noFill/>
                </a:ln>
                <a:solidFill>
                  <a:schemeClr val="tx1"/>
                </a:solidFill>
                <a:effectLst/>
              </a:rPr>
              <a:t>: You manage operating systems, patching, scaling, and configurations.</a:t>
            </a:r>
          </a:p>
          <a:p>
            <a:pPr marL="0" lvl="0" indent="0" eaLnBrk="0" fontAlgn="base" hangingPunct="0">
              <a:lnSpc>
                <a:spcPct val="100000"/>
              </a:lnSpc>
              <a:spcBef>
                <a:spcPct val="0"/>
              </a:spcBef>
              <a:spcAft>
                <a:spcPct val="0"/>
              </a:spcAft>
              <a:buFontTx/>
              <a:buChar char="•"/>
            </a:pPr>
            <a:r>
              <a:rPr kumimoji="0" lang="en-US" altLang="en-US" sz="3000" b="0" i="0" u="none" strike="noStrike" cap="none" normalizeH="0" baseline="0" dirty="0" smtClean="0">
                <a:ln>
                  <a:noFill/>
                </a:ln>
                <a:solidFill>
                  <a:schemeClr val="tx1"/>
                </a:solidFill>
                <a:effectLst/>
              </a:rPr>
              <a:t> Operates under the </a:t>
            </a:r>
            <a:r>
              <a:rPr kumimoji="0" lang="en-US" altLang="en-US" sz="3000" b="1" i="0" u="none" strike="noStrike" cap="none" normalizeH="0" baseline="0" dirty="0" smtClean="0">
                <a:ln>
                  <a:noFill/>
                </a:ln>
                <a:solidFill>
                  <a:schemeClr val="tx1"/>
                </a:solidFill>
                <a:effectLst/>
              </a:rPr>
              <a:t>Shared Responsibility Model</a:t>
            </a:r>
            <a:r>
              <a:rPr kumimoji="0" lang="en-US" altLang="en-US" sz="3000" b="0" i="0" u="none" strike="noStrike" cap="none" normalizeH="0" baseline="0" dirty="0" smtClean="0">
                <a:ln>
                  <a:noFill/>
                </a:ln>
                <a:solidFill>
                  <a:schemeClr val="tx1"/>
                </a:solidFill>
                <a:effectLst/>
              </a:rPr>
              <a:t>:</a:t>
            </a:r>
          </a:p>
          <a:p>
            <a:pPr marL="457200" lvl="1" indent="0" eaLnBrk="0" fontAlgn="base" hangingPunct="0">
              <a:lnSpc>
                <a:spcPct val="100000"/>
              </a:lnSpc>
              <a:spcBef>
                <a:spcPct val="0"/>
              </a:spcBef>
              <a:spcAft>
                <a:spcPct val="0"/>
              </a:spcAft>
              <a:buFontTx/>
              <a:buChar char="•"/>
            </a:pPr>
            <a:r>
              <a:rPr kumimoji="0" lang="en-US" altLang="en-US" sz="2600" b="1" i="0" u="none" strike="noStrike" cap="none" normalizeH="0" baseline="0" dirty="0" smtClean="0">
                <a:ln>
                  <a:noFill/>
                </a:ln>
                <a:solidFill>
                  <a:schemeClr val="tx1"/>
                </a:solidFill>
                <a:effectLst/>
              </a:rPr>
              <a:t> AWS</a:t>
            </a:r>
            <a:r>
              <a:rPr kumimoji="0" lang="en-US" altLang="en-US" sz="2600" b="0" i="0" u="none" strike="noStrike" cap="none" normalizeH="0" baseline="0" dirty="0" smtClean="0">
                <a:ln>
                  <a:noFill/>
                </a:ln>
                <a:solidFill>
                  <a:schemeClr val="tx1"/>
                </a:solidFill>
                <a:effectLst/>
              </a:rPr>
              <a:t>: Security </a:t>
            </a:r>
            <a:r>
              <a:rPr kumimoji="0" lang="en-US" altLang="en-US" sz="2600" b="0" i="1" u="none" strike="noStrike" cap="none" normalizeH="0" baseline="0" dirty="0" smtClean="0">
                <a:ln>
                  <a:noFill/>
                </a:ln>
                <a:solidFill>
                  <a:schemeClr val="tx1"/>
                </a:solidFill>
                <a:effectLst/>
              </a:rPr>
              <a:t>of</a:t>
            </a:r>
            <a:r>
              <a:rPr kumimoji="0" lang="en-US" altLang="en-US" sz="2600" b="0" i="0" u="none" strike="noStrike" cap="none" normalizeH="0" baseline="0" dirty="0" smtClean="0">
                <a:ln>
                  <a:noFill/>
                </a:ln>
                <a:solidFill>
                  <a:schemeClr val="tx1"/>
                </a:solidFill>
                <a:effectLst/>
              </a:rPr>
              <a:t> the cloud (infrastructure).</a:t>
            </a:r>
          </a:p>
          <a:p>
            <a:pPr marL="457200" lvl="1" indent="0" eaLnBrk="0" fontAlgn="base" hangingPunct="0">
              <a:lnSpc>
                <a:spcPct val="100000"/>
              </a:lnSpc>
              <a:spcBef>
                <a:spcPct val="0"/>
              </a:spcBef>
              <a:spcAft>
                <a:spcPct val="0"/>
              </a:spcAft>
              <a:buFontTx/>
              <a:buChar char="•"/>
            </a:pPr>
            <a:r>
              <a:rPr kumimoji="0" lang="en-US" altLang="en-US" sz="2600" b="1" i="0" u="none" strike="noStrike" cap="none" normalizeH="0" baseline="0" dirty="0" smtClean="0">
                <a:ln>
                  <a:noFill/>
                </a:ln>
                <a:solidFill>
                  <a:schemeClr val="tx1"/>
                </a:solidFill>
                <a:effectLst/>
              </a:rPr>
              <a:t> You</a:t>
            </a:r>
            <a:r>
              <a:rPr kumimoji="0" lang="en-US" altLang="en-US" sz="2600" b="0" i="0" u="none" strike="noStrike" cap="none" normalizeH="0" baseline="0" dirty="0" smtClean="0">
                <a:ln>
                  <a:noFill/>
                </a:ln>
                <a:solidFill>
                  <a:schemeClr val="tx1"/>
                </a:solidFill>
                <a:effectLst/>
              </a:rPr>
              <a:t>: Security </a:t>
            </a:r>
            <a:r>
              <a:rPr kumimoji="0" lang="en-US" altLang="en-US" sz="2600" b="0" i="1" u="none" strike="noStrike" cap="none" normalizeH="0" baseline="0" dirty="0" smtClean="0">
                <a:ln>
                  <a:noFill/>
                </a:ln>
                <a:solidFill>
                  <a:schemeClr val="tx1"/>
                </a:solidFill>
                <a:effectLst/>
              </a:rPr>
              <a:t>in</a:t>
            </a:r>
            <a:r>
              <a:rPr kumimoji="0" lang="en-US" altLang="en-US" sz="2600" b="0" i="0" u="none" strike="noStrike" cap="none" normalizeH="0" baseline="0" dirty="0" smtClean="0">
                <a:ln>
                  <a:noFill/>
                </a:ln>
                <a:solidFill>
                  <a:schemeClr val="tx1"/>
                </a:solidFill>
                <a:effectLst/>
              </a:rPr>
              <a:t> the cloud (OS, apps, data, access control, etc.</a:t>
            </a:r>
          </a:p>
          <a:p>
            <a:endParaRPr kumimoji="0" lang="en-US" altLang="en-US" b="0" i="0" u="none" strike="noStrike" cap="none" normalizeH="0" baseline="0" dirty="0" smtClean="0">
              <a:ln>
                <a:noFill/>
              </a:ln>
              <a:solidFill>
                <a:schemeClr val="tx1"/>
              </a:solidFill>
              <a:effectLst/>
              <a:latin typeface="Arial" panose="020B0604020202020204" pitchFamily="34" charset="0"/>
            </a:endParaRPr>
          </a:p>
          <a:p>
            <a:endParaRPr lang="en-US" dirty="0" smtClean="0"/>
          </a:p>
          <a:p>
            <a:endParaRPr lang="en-US" dirty="0"/>
          </a:p>
        </p:txBody>
      </p:sp>
    </p:spTree>
    <p:extLst>
      <p:ext uri="{BB962C8B-B14F-4D97-AF65-F5344CB8AC3E}">
        <p14:creationId xmlns:p14="http://schemas.microsoft.com/office/powerpoint/2010/main" val="865989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Managed vs. Unmanaged Services</a:t>
            </a:r>
            <a:endParaRPr lang="en-US" dirty="0"/>
          </a:p>
        </p:txBody>
      </p:sp>
      <p:sp>
        <p:nvSpPr>
          <p:cNvPr id="3" name="Content Placeholder 2"/>
          <p:cNvSpPr>
            <a:spLocks noGrp="1"/>
          </p:cNvSpPr>
          <p:nvPr>
            <p:ph idx="1"/>
          </p:nvPr>
        </p:nvSpPr>
        <p:spPr/>
        <p:txBody>
          <a:bodyPr/>
          <a:lstStyle/>
          <a:p>
            <a:r>
              <a:rPr lang="en-US" dirty="0" smtClean="0">
                <a:effectLst/>
              </a:rPr>
              <a:t>With </a:t>
            </a:r>
            <a:r>
              <a:rPr lang="en-US" b="1" dirty="0" smtClean="0">
                <a:effectLst/>
              </a:rPr>
              <a:t>unmanaged compute services </a:t>
            </a:r>
            <a:r>
              <a:rPr lang="en-US" dirty="0" smtClean="0">
                <a:effectLst/>
              </a:rPr>
              <a:t>like Amazon EC2, AWS takes care of the underlying physical infrastructure, but you're responsible for setting up, securing, and maintaining the operating system, network configurations, and applications on your instances.</a:t>
            </a:r>
          </a:p>
          <a:p>
            <a:r>
              <a:rPr lang="en-US" dirty="0" smtClean="0">
                <a:effectLst/>
              </a:rPr>
              <a:t> </a:t>
            </a:r>
            <a:r>
              <a:rPr lang="en-US" b="1" dirty="0" smtClean="0">
                <a:effectLst/>
              </a:rPr>
              <a:t>Managed services</a:t>
            </a:r>
            <a:r>
              <a:rPr lang="en-US" dirty="0" smtClean="0">
                <a:effectLst/>
              </a:rPr>
              <a:t>, on the other hand, reduce the amount of infrastructure you need to manage. While AWS handles much of the operational overhead, you might still need to perform some provisioning or configuration depending on the service.</a:t>
            </a:r>
            <a:endParaRPr lang="en-US" dirty="0"/>
          </a:p>
        </p:txBody>
      </p:sp>
    </p:spTree>
    <p:extLst>
      <p:ext uri="{BB962C8B-B14F-4D97-AF65-F5344CB8AC3E}">
        <p14:creationId xmlns:p14="http://schemas.microsoft.com/office/powerpoint/2010/main" val="1327646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42097" y="960914"/>
            <a:ext cx="8289965" cy="5074126"/>
          </a:xfrm>
          <a:prstGeom prst="rect">
            <a:avLst/>
          </a:prstGeom>
        </p:spPr>
      </p:pic>
    </p:spTree>
    <p:extLst>
      <p:ext uri="{BB962C8B-B14F-4D97-AF65-F5344CB8AC3E}">
        <p14:creationId xmlns:p14="http://schemas.microsoft.com/office/powerpoint/2010/main" val="257869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Fully-managed services</a:t>
            </a:r>
            <a:endParaRPr lang="en-US" dirty="0"/>
          </a:p>
        </p:txBody>
      </p:sp>
      <p:sp>
        <p:nvSpPr>
          <p:cNvPr id="3" name="Content Placeholder 2"/>
          <p:cNvSpPr>
            <a:spLocks noGrp="1"/>
          </p:cNvSpPr>
          <p:nvPr>
            <p:ph idx="1"/>
          </p:nvPr>
        </p:nvSpPr>
        <p:spPr/>
        <p:txBody>
          <a:bodyPr/>
          <a:lstStyle/>
          <a:p>
            <a:r>
              <a:rPr lang="en-US" b="1" dirty="0" smtClean="0">
                <a:effectLst/>
              </a:rPr>
              <a:t>Fully-managed services</a:t>
            </a:r>
            <a:r>
              <a:rPr lang="en-US" dirty="0" smtClean="0">
                <a:effectLst/>
              </a:rPr>
              <a:t>—like </a:t>
            </a:r>
            <a:r>
              <a:rPr lang="en-US" dirty="0" err="1" smtClean="0">
                <a:effectLst/>
              </a:rPr>
              <a:t>serverless</a:t>
            </a:r>
            <a:r>
              <a:rPr lang="en-US" dirty="0" smtClean="0">
                <a:effectLst/>
              </a:rPr>
              <a:t> ones—take abstraction even further, eliminating the need to provision or manage any servers at all. </a:t>
            </a:r>
          </a:p>
          <a:p>
            <a:r>
              <a:rPr lang="en-US" dirty="0" smtClean="0">
                <a:effectLst/>
              </a:rPr>
              <a:t>The underlying infrastructure is fully managed by AWS, so you can focus entirely on writing and deploying code. </a:t>
            </a:r>
          </a:p>
          <a:p>
            <a:r>
              <a:rPr lang="en-US" dirty="0" smtClean="0">
                <a:effectLst/>
              </a:rPr>
              <a:t>Later in this module, you will explore Lambda. </a:t>
            </a:r>
          </a:p>
          <a:p>
            <a:r>
              <a:rPr lang="en-US" b="1" dirty="0" smtClean="0">
                <a:effectLst/>
              </a:rPr>
              <a:t>Lambda</a:t>
            </a:r>
            <a:r>
              <a:rPr lang="en-US" dirty="0" smtClean="0">
                <a:effectLst/>
              </a:rPr>
              <a:t> is a </a:t>
            </a:r>
            <a:r>
              <a:rPr lang="en-US" dirty="0" err="1" smtClean="0">
                <a:effectLst/>
              </a:rPr>
              <a:t>serverless</a:t>
            </a:r>
            <a:r>
              <a:rPr lang="en-US" dirty="0" smtClean="0">
                <a:effectLst/>
              </a:rPr>
              <a:t> compute service where AWS handles the infrastructure, scaling, and availability, while you remain responsible for securing and managing your application code.</a:t>
            </a:r>
            <a:endParaRPr lang="en-US" dirty="0"/>
          </a:p>
        </p:txBody>
      </p:sp>
    </p:spTree>
    <p:extLst>
      <p:ext uri="{BB962C8B-B14F-4D97-AF65-F5344CB8AC3E}">
        <p14:creationId xmlns:p14="http://schemas.microsoft.com/office/powerpoint/2010/main" val="1925471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27925" y="1070642"/>
            <a:ext cx="9872839" cy="5302726"/>
          </a:xfrm>
          <a:prstGeom prst="rect">
            <a:avLst/>
          </a:prstGeom>
        </p:spPr>
      </p:pic>
    </p:spTree>
    <p:extLst>
      <p:ext uri="{BB962C8B-B14F-4D97-AF65-F5344CB8AC3E}">
        <p14:creationId xmlns:p14="http://schemas.microsoft.com/office/powerpoint/2010/main" val="375001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7160" y="2660269"/>
            <a:ext cx="3340608" cy="1325563"/>
          </a:xfrm>
        </p:spPr>
        <p:txBody>
          <a:bodyPr/>
          <a:lstStyle/>
          <a:p>
            <a:r>
              <a:rPr lang="en-US" b="1" dirty="0" smtClean="0"/>
              <a:t>AWS Lambda</a:t>
            </a:r>
            <a:endParaRPr lang="en-US" b="1" dirty="0"/>
          </a:p>
        </p:txBody>
      </p:sp>
    </p:spTree>
    <p:extLst>
      <p:ext uri="{BB962C8B-B14F-4D97-AF65-F5344CB8AC3E}">
        <p14:creationId xmlns:p14="http://schemas.microsoft.com/office/powerpoint/2010/main" val="1836387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effectLst/>
              </a:rPr>
              <a:t>Recall what Lambda is and its core functionality as a </a:t>
            </a:r>
            <a:r>
              <a:rPr lang="en-US" dirty="0" err="1" smtClean="0">
                <a:effectLst/>
              </a:rPr>
              <a:t>serverless</a:t>
            </a:r>
            <a:r>
              <a:rPr lang="en-US" dirty="0" smtClean="0">
                <a:effectLst/>
              </a:rPr>
              <a:t> compute service.</a:t>
            </a:r>
            <a:endParaRPr lang="en-US" dirty="0" smtClean="0"/>
          </a:p>
          <a:p>
            <a:r>
              <a:rPr lang="en-US" dirty="0" smtClean="0">
                <a:effectLst/>
              </a:rPr>
              <a:t>Identify the key components of Lambda, such as triggers, functions, and scaling.</a:t>
            </a:r>
            <a:endParaRPr lang="en-US" dirty="0" smtClean="0"/>
          </a:p>
          <a:p>
            <a:r>
              <a:rPr lang="en-US" dirty="0" smtClean="0"/>
              <a:t>learn about AWS Lambda, a </a:t>
            </a:r>
            <a:r>
              <a:rPr lang="en-US" dirty="0" err="1" smtClean="0"/>
              <a:t>serverless</a:t>
            </a:r>
            <a:r>
              <a:rPr lang="en-US" dirty="0" smtClean="0"/>
              <a:t> compute service that runs code without managing servers.</a:t>
            </a:r>
          </a:p>
          <a:p>
            <a:endParaRPr lang="en-US" dirty="0"/>
          </a:p>
        </p:txBody>
      </p:sp>
    </p:spTree>
    <p:extLst>
      <p:ext uri="{BB962C8B-B14F-4D97-AF65-F5344CB8AC3E}">
        <p14:creationId xmlns:p14="http://schemas.microsoft.com/office/powerpoint/2010/main" val="541448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Lambda</a:t>
            </a:r>
            <a:endParaRPr lang="en-US" b="1" dirty="0"/>
          </a:p>
        </p:txBody>
      </p:sp>
      <p:sp>
        <p:nvSpPr>
          <p:cNvPr id="3" name="Content Placeholder 2"/>
          <p:cNvSpPr>
            <a:spLocks noGrp="1"/>
          </p:cNvSpPr>
          <p:nvPr>
            <p:ph idx="1"/>
          </p:nvPr>
        </p:nvSpPr>
        <p:spPr/>
        <p:txBody>
          <a:bodyPr/>
          <a:lstStyle/>
          <a:p>
            <a:r>
              <a:rPr lang="en-US" dirty="0" smtClean="0"/>
              <a:t>Lambda is a </a:t>
            </a:r>
            <a:r>
              <a:rPr lang="en-US" dirty="0" err="1" smtClean="0"/>
              <a:t>serverless</a:t>
            </a:r>
            <a:r>
              <a:rPr lang="en-US" dirty="0" smtClean="0"/>
              <a:t> compute service that runs code in response to events without the need to provision or manage servers.</a:t>
            </a:r>
          </a:p>
          <a:p>
            <a:r>
              <a:rPr lang="en-US" dirty="0" smtClean="0">
                <a:effectLst/>
              </a:rPr>
              <a:t> It automatically manages the underlying infrastructure, scaling resources based on the volume of requests. </a:t>
            </a:r>
          </a:p>
          <a:p>
            <a:r>
              <a:rPr lang="en-US" dirty="0" smtClean="0">
                <a:effectLst/>
              </a:rPr>
              <a:t>You are charged only for the compute time consumed, down to the millisecond.</a:t>
            </a:r>
          </a:p>
          <a:p>
            <a:r>
              <a:rPr lang="en-US" dirty="0" smtClean="0">
                <a:effectLst/>
              </a:rPr>
              <a:t> Lambda handles execution, scaling, and resource allocation.</a:t>
            </a:r>
          </a:p>
          <a:p>
            <a:r>
              <a:rPr lang="en-US" dirty="0" smtClean="0">
                <a:effectLst/>
              </a:rPr>
              <a:t> You can optimize performance by configuring the appropriate memory size for your function.</a:t>
            </a:r>
            <a:endParaRPr lang="en-US" dirty="0"/>
          </a:p>
        </p:txBody>
      </p:sp>
    </p:spTree>
    <p:extLst>
      <p:ext uri="{BB962C8B-B14F-4D97-AF65-F5344CB8AC3E}">
        <p14:creationId xmlns:p14="http://schemas.microsoft.com/office/powerpoint/2010/main" val="91085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About Lambda</a:t>
            </a:r>
            <a:endParaRPr lang="en-US" b="1" dirty="0"/>
          </a:p>
        </p:txBody>
      </p:sp>
      <p:sp>
        <p:nvSpPr>
          <p:cNvPr id="3" name="Content Placeholder 2"/>
          <p:cNvSpPr>
            <a:spLocks noGrp="1"/>
          </p:cNvSpPr>
          <p:nvPr>
            <p:ph idx="1"/>
          </p:nvPr>
        </p:nvSpPr>
        <p:spPr/>
        <p:txBody>
          <a:bodyPr/>
          <a:lstStyle/>
          <a:p>
            <a:r>
              <a:rPr lang="en-US" dirty="0" smtClean="0"/>
              <a:t>Lambda represents the Function as a Service (</a:t>
            </a:r>
            <a:r>
              <a:rPr lang="en-US" dirty="0" err="1" smtClean="0"/>
              <a:t>FaaS</a:t>
            </a:r>
            <a:r>
              <a:rPr lang="en-US" dirty="0" smtClean="0"/>
              <a:t>) model. You upload a function (code), set a trigger, and it runs only when needed.</a:t>
            </a:r>
          </a:p>
          <a:p>
            <a:r>
              <a:rPr lang="en-US" dirty="0" smtClean="0"/>
              <a:t>AWS handles infrastructure, scaling, patching, and availability. You just focus on writing the function code.</a:t>
            </a:r>
          </a:p>
          <a:p>
            <a:r>
              <a:rPr lang="en-US" dirty="0" smtClean="0"/>
              <a:t>Lambda automatically scales to meet demand. 1 request or 1,000? Lambda handles it.</a:t>
            </a:r>
          </a:p>
          <a:p>
            <a:r>
              <a:rPr lang="en-US" dirty="0" smtClean="0"/>
              <a:t>Max execution time is </a:t>
            </a:r>
            <a:r>
              <a:rPr lang="en-US" b="1" dirty="0" smtClean="0"/>
              <a:t>15 minutes</a:t>
            </a:r>
            <a:r>
              <a:rPr lang="en-US" dirty="0" smtClean="0"/>
              <a:t> per function invocation.</a:t>
            </a:r>
          </a:p>
          <a:p>
            <a:r>
              <a:rPr lang="en-US" dirty="0" smtClean="0"/>
              <a:t>Built-in: Python, JavaScript (Node.js), Java, Go, C#, Ruby, etc. You can also bring your </a:t>
            </a:r>
            <a:r>
              <a:rPr lang="en-US" b="1" dirty="0" smtClean="0"/>
              <a:t>custom runtime</a:t>
            </a:r>
            <a:r>
              <a:rPr lang="en-US" dirty="0" smtClean="0"/>
              <a:t>.</a:t>
            </a:r>
          </a:p>
          <a:p>
            <a:endParaRPr lang="en-US" dirty="0" smtClean="0"/>
          </a:p>
          <a:p>
            <a:endParaRPr lang="en-US" dirty="0"/>
          </a:p>
        </p:txBody>
      </p:sp>
    </p:spTree>
    <p:extLst>
      <p:ext uri="{BB962C8B-B14F-4D97-AF65-F5344CB8AC3E}">
        <p14:creationId xmlns:p14="http://schemas.microsoft.com/office/powerpoint/2010/main" val="510023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Lambda </a:t>
            </a:r>
            <a:r>
              <a:rPr lang="en-US" b="1" dirty="0" smtClean="0"/>
              <a:t>works</a:t>
            </a:r>
            <a:endParaRPr lang="en-US" dirty="0"/>
          </a:p>
        </p:txBody>
      </p:sp>
      <p:pic>
        <p:nvPicPr>
          <p:cNvPr id="4" name="Content Placeholder 3"/>
          <p:cNvPicPr>
            <a:picLocks noGrp="1" noChangeAspect="1"/>
          </p:cNvPicPr>
          <p:nvPr>
            <p:ph idx="1"/>
          </p:nvPr>
        </p:nvPicPr>
        <p:blipFill>
          <a:blip r:embed="rId2"/>
          <a:stretch>
            <a:fillRect/>
          </a:stretch>
        </p:blipFill>
        <p:spPr>
          <a:xfrm>
            <a:off x="838200" y="1957013"/>
            <a:ext cx="10515600" cy="3942257"/>
          </a:xfrm>
          <a:prstGeom prst="rect">
            <a:avLst/>
          </a:prstGeom>
        </p:spPr>
      </p:pic>
    </p:spTree>
    <p:extLst>
      <p:ext uri="{BB962C8B-B14F-4D97-AF65-F5344CB8AC3E}">
        <p14:creationId xmlns:p14="http://schemas.microsoft.com/office/powerpoint/2010/main" val="2767973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Lambda </a:t>
            </a:r>
            <a:r>
              <a:rPr lang="en-US" b="1" dirty="0" smtClean="0"/>
              <a:t>works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1. Upload code to Lambda</a:t>
            </a:r>
          </a:p>
          <a:p>
            <a:pPr lvl="1"/>
            <a:r>
              <a:rPr lang="en-US" dirty="0" smtClean="0">
                <a:effectLst/>
              </a:rPr>
              <a:t>First, upload the code to Lambda, which </a:t>
            </a:r>
            <a:r>
              <a:rPr lang="en-US" dirty="0"/>
              <a:t>uploads as a </a:t>
            </a:r>
            <a:r>
              <a:rPr lang="en-US" i="1" dirty="0"/>
              <a:t>Lambda function</a:t>
            </a:r>
            <a:r>
              <a:rPr lang="en-US" dirty="0"/>
              <a:t>.</a:t>
            </a:r>
            <a:endParaRPr lang="en-US" dirty="0" smtClean="0"/>
          </a:p>
          <a:p>
            <a:pPr marL="0" indent="0">
              <a:buNone/>
            </a:pPr>
            <a:r>
              <a:rPr lang="en-US" b="1" dirty="0" smtClean="0"/>
              <a:t>2. Set code to trigger from an event source</a:t>
            </a:r>
          </a:p>
          <a:p>
            <a:pPr lvl="1"/>
            <a:r>
              <a:rPr lang="en-US" dirty="0" smtClean="0">
                <a:effectLst/>
              </a:rPr>
              <a:t>Next, configure your code to be triggered by events, like AWS services, mobile apps, or HTTP requests.</a:t>
            </a:r>
            <a:endParaRPr lang="en-US" dirty="0" smtClean="0"/>
          </a:p>
          <a:p>
            <a:pPr marL="0" indent="0">
              <a:buNone/>
            </a:pPr>
            <a:r>
              <a:rPr lang="en-US" b="1" dirty="0" smtClean="0"/>
              <a:t>3. Run code when triggered</a:t>
            </a:r>
          </a:p>
          <a:p>
            <a:pPr lvl="1"/>
            <a:r>
              <a:rPr lang="en-US" dirty="0" smtClean="0">
                <a:effectLst/>
              </a:rPr>
              <a:t>Your code runs only when an event occurs, like a file upload or user action.</a:t>
            </a:r>
          </a:p>
          <a:p>
            <a:pPr lvl="1"/>
            <a:r>
              <a:rPr lang="en-US" dirty="0" smtClean="0">
                <a:effectLst/>
              </a:rPr>
              <a:t> Lambda automatically handles all the server management, scaling, and infrastructure. </a:t>
            </a:r>
          </a:p>
          <a:p>
            <a:pPr lvl="1"/>
            <a:r>
              <a:rPr lang="en-US" dirty="0" smtClean="0">
                <a:effectLst/>
              </a:rPr>
              <a:t>The Lambda runtime executes your function code using the event data passed to it.</a:t>
            </a:r>
          </a:p>
          <a:p>
            <a:pPr lvl="1"/>
            <a:r>
              <a:rPr lang="en-US" dirty="0" smtClean="0">
                <a:effectLst/>
              </a:rPr>
              <a:t>This way, your code runs reliably, securely, and efficiently—without you managing the servers or environment it runs in.</a:t>
            </a:r>
          </a:p>
          <a:p>
            <a:pPr lvl="1"/>
            <a:endParaRPr lang="en-US" dirty="0"/>
          </a:p>
          <a:p>
            <a:pPr marL="0" indent="0">
              <a:buNone/>
            </a:pPr>
            <a:r>
              <a:rPr lang="en-US" b="1" dirty="0" smtClean="0"/>
              <a:t>4. Pay only for the compute time used</a:t>
            </a:r>
          </a:p>
          <a:p>
            <a:pPr lvl="1"/>
            <a:r>
              <a:rPr lang="en-US" dirty="0" smtClean="0">
                <a:effectLst/>
              </a:rPr>
              <a:t>You are charged only for the compute time consumed, down to the millisecond. The price depends on the amount of memory that you allocate to your function.</a:t>
            </a:r>
            <a:endParaRPr lang="en-US" dirty="0" smtClean="0"/>
          </a:p>
          <a:p>
            <a:pPr lvl="1"/>
            <a:endParaRPr lang="en-US" dirty="0" smtClean="0"/>
          </a:p>
          <a:p>
            <a:endParaRPr lang="en-US" dirty="0"/>
          </a:p>
        </p:txBody>
      </p:sp>
    </p:spTree>
    <p:extLst>
      <p:ext uri="{BB962C8B-B14F-4D97-AF65-F5344CB8AC3E}">
        <p14:creationId xmlns:p14="http://schemas.microsoft.com/office/powerpoint/2010/main" val="115139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Lambda use </a:t>
            </a:r>
            <a:r>
              <a:rPr lang="en-US" b="1" dirty="0" smtClean="0"/>
              <a:t>cases</a:t>
            </a:r>
            <a:endParaRPr lang="en-US" dirty="0"/>
          </a:p>
        </p:txBody>
      </p:sp>
      <p:sp>
        <p:nvSpPr>
          <p:cNvPr id="3" name="Content Placeholder 2"/>
          <p:cNvSpPr>
            <a:spLocks noGrp="1"/>
          </p:cNvSpPr>
          <p:nvPr>
            <p:ph idx="1"/>
          </p:nvPr>
        </p:nvSpPr>
        <p:spPr/>
        <p:txBody>
          <a:bodyPr/>
          <a:lstStyle/>
          <a:p>
            <a:r>
              <a:rPr lang="en-US" dirty="0" smtClean="0"/>
              <a:t>Lambda is ideal for building responsive, event-driven applications across a wide range of industries.</a:t>
            </a:r>
          </a:p>
          <a:p>
            <a:r>
              <a:rPr lang="en-US" dirty="0" smtClean="0"/>
              <a:t> Here are three real-world examples that show how Lambda helps companies scale efficiently, reduce operational overhead, and only pay for what they use.</a:t>
            </a:r>
          </a:p>
          <a:p>
            <a:pPr lvl="1"/>
            <a:r>
              <a:rPr lang="en-US" b="1" dirty="0" smtClean="0"/>
              <a:t>Real-time image processing for social media app</a:t>
            </a:r>
          </a:p>
          <a:p>
            <a:pPr lvl="1"/>
            <a:r>
              <a:rPr lang="en-US" b="1" dirty="0" smtClean="0"/>
              <a:t>Personalized content delivery for a news aggregator</a:t>
            </a:r>
          </a:p>
          <a:p>
            <a:pPr lvl="1"/>
            <a:r>
              <a:rPr lang="en-US" b="1" dirty="0" smtClean="0"/>
              <a:t>Real-time event handling for an online game</a:t>
            </a:r>
            <a:endParaRPr lang="en-US" dirty="0" smtClean="0"/>
          </a:p>
          <a:p>
            <a:endParaRPr lang="en-US" dirty="0"/>
          </a:p>
        </p:txBody>
      </p:sp>
    </p:spTree>
    <p:extLst>
      <p:ext uri="{BB962C8B-B14F-4D97-AF65-F5344CB8AC3E}">
        <p14:creationId xmlns:p14="http://schemas.microsoft.com/office/powerpoint/2010/main" val="146736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Real-time image processing for social media app</a:t>
            </a:r>
            <a:endParaRPr lang="en-US" b="1" dirty="0"/>
          </a:p>
        </p:txBody>
      </p:sp>
      <p:sp>
        <p:nvSpPr>
          <p:cNvPr id="3" name="Content Placeholder 2"/>
          <p:cNvSpPr>
            <a:spLocks noGrp="1"/>
          </p:cNvSpPr>
          <p:nvPr>
            <p:ph idx="1"/>
          </p:nvPr>
        </p:nvSpPr>
        <p:spPr/>
        <p:txBody>
          <a:bodyPr>
            <a:normAutofit/>
          </a:bodyPr>
          <a:lstStyle/>
          <a:p>
            <a:r>
              <a:rPr lang="en-US" dirty="0"/>
              <a:t>A social media company uses Lambda to process images uploaded by users. </a:t>
            </a:r>
            <a:endParaRPr lang="en-US" dirty="0" smtClean="0"/>
          </a:p>
          <a:p>
            <a:r>
              <a:rPr lang="en-US" dirty="0" smtClean="0"/>
              <a:t>When </a:t>
            </a:r>
            <a:r>
              <a:rPr lang="en-US" dirty="0"/>
              <a:t>a photo is uploaded, Lambda is triggered to resize the image, apply filters, and save it in an optimized format to storage. </a:t>
            </a:r>
            <a:endParaRPr lang="en-US" dirty="0" smtClean="0"/>
          </a:p>
          <a:p>
            <a:r>
              <a:rPr lang="en-US" dirty="0" smtClean="0"/>
              <a:t>This </a:t>
            </a:r>
            <a:r>
              <a:rPr lang="en-US" dirty="0"/>
              <a:t>event-driven, </a:t>
            </a:r>
            <a:r>
              <a:rPr lang="en-US" dirty="0" err="1"/>
              <a:t>serverless</a:t>
            </a:r>
            <a:r>
              <a:rPr lang="en-US" dirty="0"/>
              <a:t> approach makes sure that the application can handle high volumes of uploads without needing to manage infrastructure</a:t>
            </a:r>
            <a:r>
              <a:rPr lang="en-US" dirty="0" smtClean="0"/>
              <a:t>.</a:t>
            </a:r>
            <a:endParaRPr lang="en-US" dirty="0"/>
          </a:p>
          <a:p>
            <a:r>
              <a:rPr lang="en-US" b="1" dirty="0" smtClean="0"/>
              <a:t>Why Lambda</a:t>
            </a:r>
            <a:r>
              <a:rPr lang="en-US" dirty="0" smtClean="0"/>
              <a:t>: It automatically scales based on uploads and charges only for the time spent processing each image.</a:t>
            </a:r>
            <a:r>
              <a:rPr lang="en-US" dirty="0"/>
              <a:t/>
            </a:r>
            <a:br>
              <a:rPr lang="en-US" dirty="0"/>
            </a:br>
            <a:endParaRPr lang="en-US" dirty="0"/>
          </a:p>
        </p:txBody>
      </p:sp>
    </p:spTree>
    <p:extLst>
      <p:ext uri="{BB962C8B-B14F-4D97-AF65-F5344CB8AC3E}">
        <p14:creationId xmlns:p14="http://schemas.microsoft.com/office/powerpoint/2010/main" val="2197936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Personalized content delivery for a news aggregator</a:t>
            </a:r>
            <a:endParaRPr lang="en-US" b="1" dirty="0"/>
          </a:p>
        </p:txBody>
      </p:sp>
      <p:sp>
        <p:nvSpPr>
          <p:cNvPr id="3" name="Content Placeholder 2"/>
          <p:cNvSpPr>
            <a:spLocks noGrp="1"/>
          </p:cNvSpPr>
          <p:nvPr>
            <p:ph idx="1"/>
          </p:nvPr>
        </p:nvSpPr>
        <p:spPr/>
        <p:txBody>
          <a:bodyPr/>
          <a:lstStyle/>
          <a:p>
            <a:r>
              <a:rPr lang="en-US" dirty="0"/>
              <a:t>A news aggregator uses Lambda to fetch and process news articles from multiple sources, then it tailors recommendations based on user preferences</a:t>
            </a:r>
            <a:r>
              <a:rPr lang="en-US" dirty="0" smtClean="0"/>
              <a:t>.</a:t>
            </a:r>
          </a:p>
          <a:p>
            <a:r>
              <a:rPr lang="en-US" dirty="0" smtClean="0"/>
              <a:t> </a:t>
            </a:r>
            <a:r>
              <a:rPr lang="en-US" dirty="0"/>
              <a:t>When a user opens the application or performs a search, Lambda functions are triggered to retrieve data, run personalization logic, and return relevant content.</a:t>
            </a:r>
            <a:endParaRPr lang="en-US" dirty="0" smtClean="0">
              <a:effectLst/>
            </a:endParaRPr>
          </a:p>
          <a:p>
            <a:r>
              <a:rPr lang="en-US" b="1" dirty="0" smtClean="0"/>
              <a:t>Why </a:t>
            </a:r>
            <a:r>
              <a:rPr lang="en-US" b="1" dirty="0"/>
              <a:t>Lambda</a:t>
            </a:r>
            <a:r>
              <a:rPr lang="en-US" dirty="0"/>
              <a:t>: It automatically scales with user traffic and reduces costs by running code only when users interact.</a:t>
            </a:r>
            <a:endParaRPr lang="en-US" dirty="0" smtClean="0">
              <a:effectLst/>
            </a:endParaRPr>
          </a:p>
          <a:p>
            <a:endParaRPr lang="en-US" dirty="0"/>
          </a:p>
        </p:txBody>
      </p:sp>
    </p:spTree>
    <p:extLst>
      <p:ext uri="{BB962C8B-B14F-4D97-AF65-F5344CB8AC3E}">
        <p14:creationId xmlns:p14="http://schemas.microsoft.com/office/powerpoint/2010/main" val="3830069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Real-time event handling for an online game</a:t>
            </a:r>
            <a:endParaRPr lang="en-US" b="1" dirty="0"/>
          </a:p>
        </p:txBody>
      </p:sp>
      <p:sp>
        <p:nvSpPr>
          <p:cNvPr id="3" name="Content Placeholder 2"/>
          <p:cNvSpPr>
            <a:spLocks noGrp="1"/>
          </p:cNvSpPr>
          <p:nvPr>
            <p:ph idx="1"/>
          </p:nvPr>
        </p:nvSpPr>
        <p:spPr/>
        <p:txBody>
          <a:bodyPr/>
          <a:lstStyle/>
          <a:p>
            <a:r>
              <a:rPr lang="en-US" dirty="0"/>
              <a:t>A gaming company uses Lambda to handle in-game events like player actions, game state changes, and real-time leader board updates. </a:t>
            </a:r>
            <a:endParaRPr lang="en-US" dirty="0" smtClean="0"/>
          </a:p>
          <a:p>
            <a:r>
              <a:rPr lang="en-US" dirty="0" smtClean="0"/>
              <a:t>Each </a:t>
            </a:r>
            <a:r>
              <a:rPr lang="en-US" dirty="0"/>
              <a:t>event (like scoring a point or unlocking an achievement) triggers a Lambda function that updates player data and game status.</a:t>
            </a:r>
            <a:endParaRPr lang="en-US" dirty="0" smtClean="0">
              <a:effectLst/>
            </a:endParaRPr>
          </a:p>
          <a:p>
            <a:r>
              <a:rPr lang="en-US" b="1" dirty="0"/>
              <a:t>Why Lambda</a:t>
            </a:r>
            <a:r>
              <a:rPr lang="en-US" dirty="0"/>
              <a:t>: It handles thousands of events, in real-time, with no need to manage servers. Costs scale with usage, which is ideal for peak gaming times.</a:t>
            </a:r>
            <a:endParaRPr lang="en-US" dirty="0" smtClean="0">
              <a:effectLst/>
            </a:endParaRPr>
          </a:p>
          <a:p>
            <a:endParaRPr lang="en-US" dirty="0"/>
          </a:p>
        </p:txBody>
      </p:sp>
    </p:spTree>
    <p:extLst>
      <p:ext uri="{BB962C8B-B14F-4D97-AF65-F5344CB8AC3E}">
        <p14:creationId xmlns:p14="http://schemas.microsoft.com/office/powerpoint/2010/main" val="1826290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Lab Time</a:t>
            </a:r>
            <a:endParaRPr lang="en-US" dirty="0"/>
          </a:p>
        </p:txBody>
      </p:sp>
      <p:pic>
        <p:nvPicPr>
          <p:cNvPr id="4" name="Content Placeholder 3"/>
          <p:cNvPicPr>
            <a:picLocks noGrp="1" noChangeAspect="1"/>
          </p:cNvPicPr>
          <p:nvPr>
            <p:ph idx="1"/>
          </p:nvPr>
        </p:nvPicPr>
        <p:blipFill>
          <a:blip r:embed="rId2"/>
          <a:stretch>
            <a:fillRect/>
          </a:stretch>
        </p:blipFill>
        <p:spPr>
          <a:xfrm>
            <a:off x="1478280" y="3483864"/>
            <a:ext cx="8916048" cy="3374136"/>
          </a:xfrm>
          <a:prstGeom prst="rect">
            <a:avLst/>
          </a:prstGeom>
        </p:spPr>
      </p:pic>
      <p:sp>
        <p:nvSpPr>
          <p:cNvPr id="5" name="TextBox 4"/>
          <p:cNvSpPr txBox="1"/>
          <p:nvPr/>
        </p:nvSpPr>
        <p:spPr>
          <a:xfrm>
            <a:off x="838200" y="1360206"/>
            <a:ext cx="10366248" cy="2123658"/>
          </a:xfrm>
          <a:prstGeom prst="rect">
            <a:avLst/>
          </a:prstGeom>
          <a:noFill/>
        </p:spPr>
        <p:txBody>
          <a:bodyPr wrap="square" rtlCol="0">
            <a:spAutoFit/>
          </a:bodyPr>
          <a:lstStyle/>
          <a:p>
            <a:r>
              <a:rPr lang="en-US" sz="2200" dirty="0" smtClean="0"/>
              <a:t>Set up a </a:t>
            </a:r>
            <a:r>
              <a:rPr lang="en-US" sz="2200" b="1" dirty="0" err="1" smtClean="0"/>
              <a:t>serverless</a:t>
            </a:r>
            <a:r>
              <a:rPr lang="en-US" sz="2200" b="1" dirty="0" smtClean="0"/>
              <a:t> event-driven architecture</a:t>
            </a:r>
            <a:r>
              <a:rPr lang="en-US" sz="2200" dirty="0" smtClean="0"/>
              <a:t> using:</a:t>
            </a:r>
          </a:p>
          <a:p>
            <a:pPr marL="342900" indent="-342900">
              <a:buFont typeface="Arial" panose="020B0604020202020204" pitchFamily="34" charset="0"/>
              <a:buChar char="•"/>
            </a:pPr>
            <a:r>
              <a:rPr lang="en-US" sz="2200" b="1" dirty="0" smtClean="0"/>
              <a:t>Amazon SQS (Simple Queue Service):</a:t>
            </a:r>
            <a:r>
              <a:rPr lang="en-US" sz="2200" dirty="0" smtClean="0"/>
              <a:t/>
            </a:r>
            <a:br>
              <a:rPr lang="en-US" sz="2200" dirty="0" smtClean="0"/>
            </a:br>
            <a:r>
              <a:rPr lang="en-US" sz="2200" dirty="0" smtClean="0"/>
              <a:t>	Used to hold messages sent by producers until they’re processed.</a:t>
            </a:r>
          </a:p>
          <a:p>
            <a:pPr marL="342900" indent="-342900">
              <a:buFont typeface="Arial" panose="020B0604020202020204" pitchFamily="34" charset="0"/>
              <a:buChar char="•"/>
            </a:pPr>
            <a:r>
              <a:rPr lang="en-US" sz="2200" b="1" dirty="0" smtClean="0"/>
              <a:t>AWS Lambda Function ("Lambert"):</a:t>
            </a:r>
            <a:r>
              <a:rPr lang="en-US" sz="2200" dirty="0" smtClean="0"/>
              <a:t/>
            </a:r>
            <a:br>
              <a:rPr lang="en-US" sz="2200" dirty="0" smtClean="0"/>
            </a:br>
            <a:r>
              <a:rPr lang="en-US" sz="2200" dirty="0" smtClean="0"/>
              <a:t>	Automatically triggered when messages are added to the SQS queue. It reads, 	logs, and processes them.</a:t>
            </a:r>
            <a:endParaRPr lang="en-US" sz="2200" dirty="0"/>
          </a:p>
        </p:txBody>
      </p:sp>
    </p:spTree>
    <p:extLst>
      <p:ext uri="{BB962C8B-B14F-4D97-AF65-F5344CB8AC3E}">
        <p14:creationId xmlns:p14="http://schemas.microsoft.com/office/powerpoint/2010/main" val="3524688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560" y="2641981"/>
            <a:ext cx="8717280" cy="1325563"/>
          </a:xfrm>
        </p:spPr>
        <p:txBody>
          <a:bodyPr/>
          <a:lstStyle/>
          <a:p>
            <a:r>
              <a:rPr lang="en-US" b="1" dirty="0" smtClean="0"/>
              <a:t>Containers and Orchestration on AWS</a:t>
            </a:r>
            <a:endParaRPr lang="en-US" dirty="0"/>
          </a:p>
        </p:txBody>
      </p:sp>
    </p:spTree>
    <p:extLst>
      <p:ext uri="{BB962C8B-B14F-4D97-AF65-F5344CB8AC3E}">
        <p14:creationId xmlns:p14="http://schemas.microsoft.com/office/powerpoint/2010/main" val="2432448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how containers create a consistent and portable runtime environment across different systems.</a:t>
            </a:r>
          </a:p>
          <a:p>
            <a:r>
              <a:rPr lang="en-US" dirty="0" smtClean="0"/>
              <a:t>Explain how Amazon </a:t>
            </a:r>
            <a:r>
              <a:rPr lang="en-US" b="1" dirty="0" smtClean="0"/>
              <a:t>Elastic Container Registry </a:t>
            </a:r>
            <a:r>
              <a:rPr lang="en-US" dirty="0" smtClean="0"/>
              <a:t>(Amazon </a:t>
            </a:r>
            <a:r>
              <a:rPr lang="en-US" b="1" dirty="0" smtClean="0"/>
              <a:t>ECR</a:t>
            </a:r>
            <a:r>
              <a:rPr lang="en-US" dirty="0" smtClean="0"/>
              <a:t>) is used to store, manage, and version container images.</a:t>
            </a:r>
          </a:p>
          <a:p>
            <a:r>
              <a:rPr lang="en-US" dirty="0" smtClean="0"/>
              <a:t>Identify how </a:t>
            </a:r>
            <a:r>
              <a:rPr lang="en-US" dirty="0" smtClean="0">
                <a:effectLst/>
              </a:rPr>
              <a:t>Amazon </a:t>
            </a:r>
            <a:r>
              <a:rPr lang="en-US" b="1" dirty="0" smtClean="0">
                <a:effectLst/>
              </a:rPr>
              <a:t>ECS</a:t>
            </a:r>
            <a:r>
              <a:rPr lang="en-US" dirty="0" smtClean="0"/>
              <a:t> and </a:t>
            </a:r>
            <a:r>
              <a:rPr lang="en-US" dirty="0" smtClean="0">
                <a:effectLst/>
              </a:rPr>
              <a:t>Amazon </a:t>
            </a:r>
            <a:r>
              <a:rPr lang="en-US" b="1" dirty="0" smtClean="0">
                <a:effectLst/>
              </a:rPr>
              <a:t>EKS</a:t>
            </a:r>
            <a:r>
              <a:rPr lang="en-US" dirty="0" smtClean="0"/>
              <a:t> orchestrate containers to deploy, scale, and manage applications.</a:t>
            </a:r>
          </a:p>
          <a:p>
            <a:r>
              <a:rPr lang="en-US" dirty="0" smtClean="0"/>
              <a:t>Describe how AWS </a:t>
            </a:r>
            <a:r>
              <a:rPr lang="en-US" b="1" dirty="0" err="1" smtClean="0"/>
              <a:t>Fargate</a:t>
            </a:r>
            <a:r>
              <a:rPr lang="en-US" dirty="0" smtClean="0"/>
              <a:t> runs containers without the need to provision or manage servers.</a:t>
            </a:r>
          </a:p>
          <a:p>
            <a:endParaRPr lang="en-US" dirty="0"/>
          </a:p>
        </p:txBody>
      </p:sp>
    </p:spTree>
    <p:extLst>
      <p:ext uri="{BB962C8B-B14F-4D97-AF65-F5344CB8AC3E}">
        <p14:creationId xmlns:p14="http://schemas.microsoft.com/office/powerpoint/2010/main" val="4208496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Containers</a:t>
            </a:r>
            <a:endParaRPr lang="en-US" dirty="0"/>
          </a:p>
        </p:txBody>
      </p:sp>
      <p:sp>
        <p:nvSpPr>
          <p:cNvPr id="3" name="Content Placeholder 2"/>
          <p:cNvSpPr>
            <a:spLocks noGrp="1"/>
          </p:cNvSpPr>
          <p:nvPr>
            <p:ph idx="1"/>
          </p:nvPr>
        </p:nvSpPr>
        <p:spPr/>
        <p:txBody>
          <a:bodyPr/>
          <a:lstStyle/>
          <a:p>
            <a:r>
              <a:rPr lang="en-US" b="1" dirty="0" smtClean="0"/>
              <a:t>Containers</a:t>
            </a:r>
            <a:r>
              <a:rPr lang="en-US" dirty="0" smtClean="0"/>
              <a:t> provide a reliable way to package your application’s code and dependencies into a single, portable unit, making them ideal for workflows that require high security, reliability, and scalability.</a:t>
            </a:r>
          </a:p>
          <a:p>
            <a:r>
              <a:rPr lang="en-US" b="1" dirty="0" smtClean="0"/>
              <a:t>Why Containers?</a:t>
            </a:r>
            <a:endParaRPr lang="en-US" dirty="0" smtClean="0"/>
          </a:p>
          <a:p>
            <a:pPr lvl="1"/>
            <a:r>
              <a:rPr lang="en-US" dirty="0" smtClean="0"/>
              <a:t>Solve the "works on my machine" problem</a:t>
            </a:r>
          </a:p>
          <a:p>
            <a:pPr lvl="1"/>
            <a:r>
              <a:rPr lang="en-US" dirty="0" smtClean="0"/>
              <a:t>Faster startup and better resource efficiency</a:t>
            </a:r>
          </a:p>
          <a:p>
            <a:pPr lvl="1"/>
            <a:r>
              <a:rPr lang="en-US" dirty="0" smtClean="0"/>
              <a:t>Isolation for improved reliability</a:t>
            </a:r>
          </a:p>
          <a:p>
            <a:endParaRPr lang="en-US" dirty="0" smtClean="0"/>
          </a:p>
          <a:p>
            <a:endParaRPr lang="en-US" dirty="0"/>
          </a:p>
        </p:txBody>
      </p:sp>
    </p:spTree>
    <p:extLst>
      <p:ext uri="{BB962C8B-B14F-4D97-AF65-F5344CB8AC3E}">
        <p14:creationId xmlns:p14="http://schemas.microsoft.com/office/powerpoint/2010/main" val="483433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Containers and VMs</a:t>
            </a:r>
            <a:endParaRPr lang="en-US" dirty="0"/>
          </a:p>
        </p:txBody>
      </p:sp>
      <p:sp>
        <p:nvSpPr>
          <p:cNvPr id="3" name="Content Placeholder 2"/>
          <p:cNvSpPr>
            <a:spLocks noGrp="1"/>
          </p:cNvSpPr>
          <p:nvPr>
            <p:ph idx="1"/>
          </p:nvPr>
        </p:nvSpPr>
        <p:spPr/>
        <p:txBody>
          <a:bodyPr>
            <a:normAutofit/>
          </a:bodyPr>
          <a:lstStyle/>
          <a:p>
            <a:r>
              <a:rPr lang="en-US" sz="2400" dirty="0" smtClean="0">
                <a:effectLst/>
              </a:rPr>
              <a:t>A container packages your application with everything it needs to run, so it works the same on any computer. </a:t>
            </a:r>
          </a:p>
          <a:p>
            <a:r>
              <a:rPr lang="en-US" sz="2400" dirty="0" smtClean="0">
                <a:effectLst/>
              </a:rPr>
              <a:t>This helps to move, update, and manage.</a:t>
            </a:r>
          </a:p>
          <a:p>
            <a:r>
              <a:rPr lang="en-US" sz="2400" dirty="0" smtClean="0">
                <a:effectLst/>
              </a:rPr>
              <a:t> Containers are faster and lighter than virtual machines (VMs) because they share the host computer’s operating system.</a:t>
            </a:r>
          </a:p>
          <a:p>
            <a:r>
              <a:rPr lang="en-US" sz="2400" dirty="0" smtClean="0">
                <a:effectLst/>
              </a:rPr>
              <a:t> VMs use a hypervisor to run full, separate operating systems, which makes them less resource-efficient and have                                                                                                longer startup times.</a:t>
            </a:r>
            <a:endParaRPr lang="en-US" sz="24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4334" y="4290409"/>
            <a:ext cx="7094658" cy="2567591"/>
          </a:xfrm>
          <a:prstGeom prst="rect">
            <a:avLst/>
          </a:prstGeom>
        </p:spPr>
      </p:pic>
    </p:spTree>
    <p:extLst>
      <p:ext uri="{BB962C8B-B14F-4D97-AF65-F5344CB8AC3E}">
        <p14:creationId xmlns:p14="http://schemas.microsoft.com/office/powerpoint/2010/main" val="1234010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Deployment consistency with containers</a:t>
            </a:r>
            <a:endParaRPr lang="en-US" dirty="0"/>
          </a:p>
        </p:txBody>
      </p:sp>
      <p:sp>
        <p:nvSpPr>
          <p:cNvPr id="3" name="Content Placeholder 2"/>
          <p:cNvSpPr>
            <a:spLocks noGrp="1"/>
          </p:cNvSpPr>
          <p:nvPr>
            <p:ph idx="1"/>
          </p:nvPr>
        </p:nvSpPr>
        <p:spPr/>
        <p:txBody>
          <a:bodyPr/>
          <a:lstStyle/>
          <a:p>
            <a:r>
              <a:rPr lang="en-US" dirty="0" smtClean="0">
                <a:effectLst/>
              </a:rPr>
              <a:t>When a developer’s environment differs from staging or production, deployments can fail and become difficult to debug. </a:t>
            </a:r>
          </a:p>
          <a:p>
            <a:r>
              <a:rPr lang="en-US" dirty="0" smtClean="0">
                <a:effectLst/>
              </a:rPr>
              <a:t>Containers solve this by keeping the application’s environment consistent everywhere, making deployments smoother and assisting troubleshooting.</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9453" y="4412774"/>
            <a:ext cx="9852327" cy="2310606"/>
          </a:xfrm>
          <a:prstGeom prst="rect">
            <a:avLst/>
          </a:prstGeom>
        </p:spPr>
      </p:pic>
    </p:spTree>
    <p:extLst>
      <p:ext uri="{BB962C8B-B14F-4D97-AF65-F5344CB8AC3E}">
        <p14:creationId xmlns:p14="http://schemas.microsoft.com/office/powerpoint/2010/main" val="186512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Scaling containers with orchestration</a:t>
            </a:r>
            <a:endParaRPr lang="en-US" dirty="0"/>
          </a:p>
        </p:txBody>
      </p:sp>
      <p:sp>
        <p:nvSpPr>
          <p:cNvPr id="3" name="Content Placeholder 2"/>
          <p:cNvSpPr>
            <a:spLocks noGrp="1"/>
          </p:cNvSpPr>
          <p:nvPr>
            <p:ph idx="1"/>
          </p:nvPr>
        </p:nvSpPr>
        <p:spPr/>
        <p:txBody>
          <a:bodyPr/>
          <a:lstStyle/>
          <a:p>
            <a:r>
              <a:rPr lang="en-US" dirty="0" smtClean="0">
                <a:effectLst/>
              </a:rPr>
              <a:t>As containerized applications scale, managing them becomes more complex. </a:t>
            </a:r>
          </a:p>
          <a:p>
            <a:r>
              <a:rPr lang="en-US" dirty="0" smtClean="0">
                <a:effectLst/>
              </a:rPr>
              <a:t>A setup that began with a few containers on a single host can quickly grow into hundreds or thousands of containers across multiple hosts.</a:t>
            </a:r>
          </a:p>
          <a:p>
            <a:r>
              <a:rPr lang="en-US" dirty="0" smtClean="0">
                <a:effectLst/>
              </a:rPr>
              <a:t> At that scale, manually handling container lifecycle, monitoring, and general operations becomes unsustainable. </a:t>
            </a:r>
          </a:p>
          <a:p>
            <a:r>
              <a:rPr lang="en-US" dirty="0" smtClean="0">
                <a:effectLst/>
              </a:rPr>
              <a:t>This is where orchestration tools come in. </a:t>
            </a:r>
          </a:p>
          <a:p>
            <a:r>
              <a:rPr lang="en-US" dirty="0" smtClean="0">
                <a:effectLst/>
              </a:rPr>
              <a:t>They automate deployment, scaling, and management to keep everything running smoothly.</a:t>
            </a:r>
            <a:endParaRPr lang="en-US" dirty="0"/>
          </a:p>
        </p:txBody>
      </p:sp>
    </p:spTree>
    <p:extLst>
      <p:ext uri="{BB962C8B-B14F-4D97-AF65-F5344CB8AC3E}">
        <p14:creationId xmlns:p14="http://schemas.microsoft.com/office/powerpoint/2010/main" val="3741740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78326" y="1516952"/>
            <a:ext cx="10769934" cy="4179760"/>
          </a:xfrm>
        </p:spPr>
      </p:pic>
    </p:spTree>
    <p:extLst>
      <p:ext uri="{BB962C8B-B14F-4D97-AF65-F5344CB8AC3E}">
        <p14:creationId xmlns:p14="http://schemas.microsoft.com/office/powerpoint/2010/main" val="1731744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AWS Container Building Blocks</a:t>
            </a:r>
            <a:endParaRPr lang="en-US" b="1" dirty="0"/>
          </a:p>
        </p:txBody>
      </p:sp>
      <p:sp>
        <p:nvSpPr>
          <p:cNvPr id="3" name="Content Placeholder 2"/>
          <p:cNvSpPr>
            <a:spLocks noGrp="1"/>
          </p:cNvSpPr>
          <p:nvPr>
            <p:ph idx="1"/>
          </p:nvPr>
        </p:nvSpPr>
        <p:spPr/>
        <p:txBody>
          <a:bodyPr/>
          <a:lstStyle/>
          <a:p>
            <a:pPr marL="0" indent="0">
              <a:buNone/>
            </a:pPr>
            <a:r>
              <a:rPr kumimoji="0" lang="en-US" altLang="en-US" b="1" i="0" u="none" strike="noStrike" cap="none" normalizeH="0" baseline="0" dirty="0" smtClean="0">
                <a:ln>
                  <a:noFill/>
                </a:ln>
                <a:solidFill>
                  <a:schemeClr val="tx1"/>
                </a:solidFill>
                <a:effectLst/>
                <a:latin typeface="Arial" panose="020B0604020202020204" pitchFamily="34" charset="0"/>
              </a:rPr>
              <a:t>1.  Amazon ECR</a:t>
            </a:r>
            <a:r>
              <a:rPr kumimoji="0" lang="en-US" altLang="en-US" b="0" i="0" u="none" strike="noStrike" cap="none" normalizeH="0" baseline="0" dirty="0" smtClean="0">
                <a:ln>
                  <a:noFill/>
                </a:ln>
                <a:solidFill>
                  <a:schemeClr val="tx1"/>
                </a:solidFill>
                <a:effectLst/>
                <a:latin typeface="Arial" panose="020B0604020202020204" pitchFamily="34" charset="0"/>
              </a:rPr>
              <a:t> </a:t>
            </a:r>
          </a:p>
          <a:p>
            <a:pPr marL="457200" lvl="1" indent="0">
              <a:buNone/>
            </a:pPr>
            <a:r>
              <a:rPr kumimoji="0" lang="en-US" altLang="en-US" b="0" i="0" u="none" strike="noStrike" cap="none" normalizeH="0" baseline="0" dirty="0" smtClean="0">
                <a:ln>
                  <a:noFill/>
                </a:ln>
                <a:solidFill>
                  <a:schemeClr val="tx1"/>
                </a:solidFill>
                <a:effectLst/>
                <a:latin typeface="Arial" panose="020B0604020202020204" pitchFamily="34" charset="0"/>
              </a:rPr>
              <a:t>Secure, fully managed container image storage.</a:t>
            </a:r>
          </a:p>
          <a:p>
            <a:pPr marL="0" indent="0">
              <a:buNone/>
            </a:pPr>
            <a:r>
              <a:rPr lang="en-US" b="1" dirty="0" smtClean="0"/>
              <a:t>2.  Orchestration Services</a:t>
            </a:r>
            <a:endParaRPr lang="en-US" dirty="0" smtClean="0"/>
          </a:p>
          <a:p>
            <a:pPr lvl="1"/>
            <a:r>
              <a:rPr lang="en-US" b="1" dirty="0" smtClean="0"/>
              <a:t>Amazon ECS</a:t>
            </a:r>
            <a:r>
              <a:rPr lang="en-US" dirty="0" smtClean="0"/>
              <a:t> – AWS-native, simplified container orchestration.</a:t>
            </a:r>
          </a:p>
          <a:p>
            <a:pPr lvl="1"/>
            <a:r>
              <a:rPr lang="en-US" b="1" dirty="0" smtClean="0"/>
              <a:t>Amazon EKS</a:t>
            </a:r>
            <a:r>
              <a:rPr lang="en-US" dirty="0" smtClean="0"/>
              <a:t> – Managed Kubernetes with full flexibility and control.</a:t>
            </a:r>
          </a:p>
          <a:p>
            <a:pPr marL="0" indent="0">
              <a:buNone/>
            </a:pPr>
            <a:r>
              <a:rPr lang="en-US" b="1" dirty="0" smtClean="0"/>
              <a:t>3.  Compute Options</a:t>
            </a:r>
            <a:endParaRPr lang="en-US" dirty="0" smtClean="0"/>
          </a:p>
          <a:p>
            <a:pPr lvl="1"/>
            <a:r>
              <a:rPr lang="en-US" b="1" dirty="0" smtClean="0"/>
              <a:t>Amazon EC2</a:t>
            </a:r>
            <a:r>
              <a:rPr lang="en-US" dirty="0" smtClean="0"/>
              <a:t> – Full control over infrastructure.</a:t>
            </a:r>
          </a:p>
          <a:p>
            <a:pPr lvl="1"/>
            <a:r>
              <a:rPr lang="en-US" b="1" dirty="0" smtClean="0"/>
              <a:t>AWS </a:t>
            </a:r>
            <a:r>
              <a:rPr lang="en-US" b="1" dirty="0" err="1" smtClean="0"/>
              <a:t>Fargate</a:t>
            </a:r>
            <a:r>
              <a:rPr lang="en-US" dirty="0" smtClean="0"/>
              <a:t> – </a:t>
            </a:r>
            <a:r>
              <a:rPr lang="en-US" dirty="0" err="1" smtClean="0"/>
              <a:t>Serverless</a:t>
            </a:r>
            <a:r>
              <a:rPr lang="en-US" dirty="0" smtClean="0"/>
              <a:t>, AWS manages the underlying servers.</a:t>
            </a:r>
          </a:p>
          <a:p>
            <a:endParaRPr lang="en-US" dirty="0"/>
          </a:p>
        </p:txBody>
      </p:sp>
    </p:spTree>
    <p:extLst>
      <p:ext uri="{BB962C8B-B14F-4D97-AF65-F5344CB8AC3E}">
        <p14:creationId xmlns:p14="http://schemas.microsoft.com/office/powerpoint/2010/main" val="1544489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It Fits Together</a:t>
            </a:r>
            <a:endParaRPr lang="en-US" b="1" dirty="0"/>
          </a:p>
        </p:txBody>
      </p:sp>
      <p:sp>
        <p:nvSpPr>
          <p:cNvPr id="3" name="Content Placeholder 2"/>
          <p:cNvSpPr>
            <a:spLocks noGrp="1"/>
          </p:cNvSpPr>
          <p:nvPr>
            <p:ph idx="1"/>
          </p:nvPr>
        </p:nvSpPr>
        <p:spPr/>
        <p:txBody>
          <a:bodyPr/>
          <a:lstStyle/>
          <a:p>
            <a:pPr marL="514350" indent="-514350">
              <a:buAutoNum type="arabicPeriod"/>
            </a:pPr>
            <a:r>
              <a:rPr lang="en-US" dirty="0" smtClean="0"/>
              <a:t>Build and store container images in </a:t>
            </a:r>
            <a:r>
              <a:rPr lang="en-US" b="1" dirty="0" smtClean="0"/>
              <a:t>ECR</a:t>
            </a:r>
          </a:p>
          <a:p>
            <a:pPr marL="514350" indent="-514350">
              <a:buAutoNum type="arabicPeriod"/>
            </a:pPr>
            <a:r>
              <a:rPr lang="en-US" dirty="0" smtClean="0"/>
              <a:t>Deploy using </a:t>
            </a:r>
            <a:r>
              <a:rPr lang="en-US" b="1" dirty="0" smtClean="0"/>
              <a:t>ECS</a:t>
            </a:r>
            <a:r>
              <a:rPr lang="en-US" dirty="0" smtClean="0"/>
              <a:t> or </a:t>
            </a:r>
            <a:r>
              <a:rPr lang="en-US" b="1" dirty="0" smtClean="0"/>
              <a:t>EKS</a:t>
            </a:r>
          </a:p>
          <a:p>
            <a:pPr marL="514350" indent="-514350">
              <a:buAutoNum type="arabicPeriod"/>
            </a:pPr>
            <a:r>
              <a:rPr lang="en-US" dirty="0" smtClean="0"/>
              <a:t>Run containers on </a:t>
            </a:r>
            <a:r>
              <a:rPr lang="en-US" b="1" dirty="0" smtClean="0"/>
              <a:t>EC2</a:t>
            </a:r>
            <a:r>
              <a:rPr lang="en-US" dirty="0" smtClean="0"/>
              <a:t> or </a:t>
            </a:r>
            <a:r>
              <a:rPr lang="en-US" b="1" dirty="0" err="1" smtClean="0"/>
              <a:t>Fargate</a:t>
            </a:r>
            <a:endParaRPr lang="en-US" dirty="0"/>
          </a:p>
        </p:txBody>
      </p:sp>
    </p:spTree>
    <p:extLst>
      <p:ext uri="{BB962C8B-B14F-4D97-AF65-F5344CB8AC3E}">
        <p14:creationId xmlns:p14="http://schemas.microsoft.com/office/powerpoint/2010/main" val="5528513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66416" y="2276221"/>
            <a:ext cx="5782056" cy="1325563"/>
          </a:xfrm>
        </p:spPr>
        <p:txBody>
          <a:bodyPr/>
          <a:lstStyle/>
          <a:p>
            <a:r>
              <a:rPr lang="en-US" b="1" dirty="0" smtClean="0"/>
              <a:t>AWS container services</a:t>
            </a:r>
            <a:endParaRPr lang="en-US" dirty="0"/>
          </a:p>
        </p:txBody>
      </p:sp>
      <p:sp>
        <p:nvSpPr>
          <p:cNvPr id="3" name="Content Placeholder 2"/>
          <p:cNvSpPr>
            <a:spLocks noGrp="1"/>
          </p:cNvSpPr>
          <p:nvPr>
            <p:ph idx="1"/>
          </p:nvPr>
        </p:nvSpPr>
        <p:spPr>
          <a:xfrm>
            <a:off x="1024128" y="4203065"/>
            <a:ext cx="11167872" cy="1054735"/>
          </a:xfrm>
        </p:spPr>
        <p:txBody>
          <a:bodyPr/>
          <a:lstStyle/>
          <a:p>
            <a:r>
              <a:rPr lang="en-US" dirty="0" smtClean="0"/>
              <a:t>AWS has a set of tools for managing containers that fits into three categories: </a:t>
            </a:r>
            <a:r>
              <a:rPr lang="en-US" b="1" dirty="0" smtClean="0"/>
              <a:t>orchestration</a:t>
            </a:r>
            <a:r>
              <a:rPr lang="en-US" dirty="0" smtClean="0"/>
              <a:t>, </a:t>
            </a:r>
            <a:r>
              <a:rPr lang="en-US" b="1" dirty="0" smtClean="0"/>
              <a:t>registry</a:t>
            </a:r>
            <a:r>
              <a:rPr lang="en-US" dirty="0" smtClean="0"/>
              <a:t>, and </a:t>
            </a:r>
            <a:r>
              <a:rPr lang="en-US" b="1" dirty="0" smtClean="0"/>
              <a:t>compute</a:t>
            </a:r>
            <a:r>
              <a:rPr lang="en-US" dirty="0" smtClean="0"/>
              <a:t>.</a:t>
            </a:r>
          </a:p>
          <a:p>
            <a:endParaRPr lang="en-US" dirty="0"/>
          </a:p>
        </p:txBody>
      </p:sp>
    </p:spTree>
    <p:extLst>
      <p:ext uri="{BB962C8B-B14F-4D97-AF65-F5344CB8AC3E}">
        <p14:creationId xmlns:p14="http://schemas.microsoft.com/office/powerpoint/2010/main" val="3339222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ECS</a:t>
            </a:r>
            <a:endParaRPr lang="en-US" dirty="0"/>
          </a:p>
        </p:txBody>
      </p:sp>
      <p:sp>
        <p:nvSpPr>
          <p:cNvPr id="3" name="Content Placeholder 2"/>
          <p:cNvSpPr>
            <a:spLocks noGrp="1"/>
          </p:cNvSpPr>
          <p:nvPr>
            <p:ph idx="1"/>
          </p:nvPr>
        </p:nvSpPr>
        <p:spPr/>
        <p:txBody>
          <a:bodyPr/>
          <a:lstStyle/>
          <a:p>
            <a:r>
              <a:rPr lang="en-US" dirty="0" smtClean="0">
                <a:effectLst/>
              </a:rPr>
              <a:t>Amazon Elastic Container Service (Amazon ECS) is a scalable container orchestration service for running and managing containers on AWS, like Docker containers.</a:t>
            </a:r>
          </a:p>
          <a:p>
            <a:r>
              <a:rPr lang="en-US" dirty="0" smtClean="0"/>
              <a:t> </a:t>
            </a:r>
            <a:r>
              <a:rPr lang="en-US" dirty="0"/>
              <a:t>Docker is a software platform for building, testing, and deploying applications quickly.</a:t>
            </a:r>
          </a:p>
        </p:txBody>
      </p:sp>
    </p:spTree>
    <p:extLst>
      <p:ext uri="{BB962C8B-B14F-4D97-AF65-F5344CB8AC3E}">
        <p14:creationId xmlns:p14="http://schemas.microsoft.com/office/powerpoint/2010/main" val="41593668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ECS launch types</a:t>
            </a:r>
          </a:p>
        </p:txBody>
      </p:sp>
      <p:sp>
        <p:nvSpPr>
          <p:cNvPr id="3" name="Content Placeholder 2"/>
          <p:cNvSpPr>
            <a:spLocks noGrp="1"/>
          </p:cNvSpPr>
          <p:nvPr>
            <p:ph idx="1"/>
          </p:nvPr>
        </p:nvSpPr>
        <p:spPr/>
        <p:txBody>
          <a:bodyPr>
            <a:normAutofit/>
          </a:bodyPr>
          <a:lstStyle/>
          <a:p>
            <a:r>
              <a:rPr lang="en-US" b="1" dirty="0" smtClean="0">
                <a:effectLst/>
              </a:rPr>
              <a:t>Amazon ECS with Amazon EC2 </a:t>
            </a:r>
          </a:p>
          <a:p>
            <a:pPr lvl="1"/>
            <a:r>
              <a:rPr lang="en-US" dirty="0"/>
              <a:t>I</a:t>
            </a:r>
            <a:r>
              <a:rPr lang="en-US" dirty="0" smtClean="0">
                <a:effectLst/>
              </a:rPr>
              <a:t>s ideal for small-to-medium businesses that need full control over infrastructure.</a:t>
            </a:r>
          </a:p>
          <a:p>
            <a:pPr lvl="1"/>
            <a:r>
              <a:rPr lang="en-US" dirty="0" smtClean="0">
                <a:effectLst/>
              </a:rPr>
              <a:t> Suitable for custom applications requiring specific hardware or networking configurations, with the flexibility of Amazon EC2 and the simplicity of Amazon ECS.</a:t>
            </a:r>
            <a:endParaRPr lang="en-US" dirty="0" smtClean="0"/>
          </a:p>
          <a:p>
            <a:r>
              <a:rPr lang="en-US" b="1" dirty="0" smtClean="0">
                <a:effectLst/>
              </a:rPr>
              <a:t>Amazon ECS with AWS </a:t>
            </a:r>
            <a:r>
              <a:rPr lang="en-US" b="1" dirty="0" err="1" smtClean="0">
                <a:effectLst/>
              </a:rPr>
              <a:t>Fargate</a:t>
            </a:r>
            <a:r>
              <a:rPr lang="en-US" dirty="0" smtClean="0">
                <a:effectLst/>
              </a:rPr>
              <a:t> </a:t>
            </a:r>
          </a:p>
          <a:p>
            <a:pPr lvl="1"/>
            <a:r>
              <a:rPr lang="en-US" dirty="0"/>
              <a:t>I</a:t>
            </a:r>
            <a:r>
              <a:rPr lang="en-US" dirty="0" smtClean="0">
                <a:effectLst/>
              </a:rPr>
              <a:t>s perfect for startups or small teams building web applications with variable traffic.</a:t>
            </a:r>
          </a:p>
          <a:p>
            <a:pPr lvl="1"/>
            <a:r>
              <a:rPr lang="en-US" dirty="0" smtClean="0">
                <a:effectLst/>
              </a:rPr>
              <a:t> It's a </a:t>
            </a:r>
            <a:r>
              <a:rPr lang="en-US" dirty="0" err="1" smtClean="0">
                <a:effectLst/>
              </a:rPr>
              <a:t>serverless</a:t>
            </a:r>
            <a:r>
              <a:rPr lang="en-US" dirty="0" smtClean="0">
                <a:effectLst/>
              </a:rPr>
              <a:t> option—no server management required—so teams can focus on development while Amazon ECS handles scaling and orchestration.</a:t>
            </a:r>
            <a:endParaRPr lang="en-US" dirty="0" smtClean="0"/>
          </a:p>
          <a:p>
            <a:endParaRPr lang="en-US" dirty="0"/>
          </a:p>
        </p:txBody>
      </p:sp>
    </p:spTree>
    <p:extLst>
      <p:ext uri="{BB962C8B-B14F-4D97-AF65-F5344CB8AC3E}">
        <p14:creationId xmlns:p14="http://schemas.microsoft.com/office/powerpoint/2010/main" val="1453966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EKS</a:t>
            </a:r>
            <a:endParaRPr lang="en-US" dirty="0"/>
          </a:p>
        </p:txBody>
      </p:sp>
      <p:sp>
        <p:nvSpPr>
          <p:cNvPr id="3" name="Content Placeholder 2"/>
          <p:cNvSpPr>
            <a:spLocks noGrp="1"/>
          </p:cNvSpPr>
          <p:nvPr>
            <p:ph idx="1"/>
          </p:nvPr>
        </p:nvSpPr>
        <p:spPr/>
        <p:txBody>
          <a:bodyPr/>
          <a:lstStyle/>
          <a:p>
            <a:r>
              <a:rPr lang="en-US" dirty="0" smtClean="0">
                <a:effectLst/>
              </a:rPr>
              <a:t>Amazon Elastic Kubernetes Service (Amazon EKS) is a fully managed service for running Kubernetes on AWS. </a:t>
            </a:r>
          </a:p>
          <a:p>
            <a:r>
              <a:rPr lang="en-US" dirty="0" smtClean="0">
                <a:effectLst/>
              </a:rPr>
              <a:t>It simplifies deploying, managing, and scaling containerized applications using open-source Kubernetes, with ongoing support and updates from the broader community.</a:t>
            </a:r>
            <a:endParaRPr lang="en-US" dirty="0"/>
          </a:p>
        </p:txBody>
      </p:sp>
    </p:spTree>
    <p:extLst>
      <p:ext uri="{BB962C8B-B14F-4D97-AF65-F5344CB8AC3E}">
        <p14:creationId xmlns:p14="http://schemas.microsoft.com/office/powerpoint/2010/main" val="4182036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EKS launch types</a:t>
            </a:r>
          </a:p>
        </p:txBody>
      </p:sp>
      <p:sp>
        <p:nvSpPr>
          <p:cNvPr id="3" name="Content Placeholder 2"/>
          <p:cNvSpPr>
            <a:spLocks noGrp="1"/>
          </p:cNvSpPr>
          <p:nvPr>
            <p:ph idx="1"/>
          </p:nvPr>
        </p:nvSpPr>
        <p:spPr/>
        <p:txBody>
          <a:bodyPr/>
          <a:lstStyle/>
          <a:p>
            <a:r>
              <a:rPr lang="en-US" b="1" dirty="0" smtClean="0">
                <a:effectLst/>
              </a:rPr>
              <a:t>Amazon EKS with Amazon EC2</a:t>
            </a:r>
            <a:r>
              <a:rPr lang="en-US" dirty="0" smtClean="0">
                <a:effectLst/>
              </a:rPr>
              <a:t>:</a:t>
            </a:r>
          </a:p>
          <a:p>
            <a:pPr lvl="1"/>
            <a:r>
              <a:rPr lang="en-US" dirty="0" smtClean="0">
                <a:effectLst/>
              </a:rPr>
              <a:t> This is best for enterprises needing full control over infrastructure.</a:t>
            </a:r>
          </a:p>
          <a:p>
            <a:pPr lvl="1"/>
            <a:r>
              <a:rPr lang="en-US" dirty="0" smtClean="0">
                <a:effectLst/>
              </a:rPr>
              <a:t> It offers deep customization of EC2 instances alongside Kubernetes scalability—ideal for complex, large-scale workloads.</a:t>
            </a:r>
            <a:endParaRPr lang="en-US" dirty="0" smtClean="0"/>
          </a:p>
          <a:p>
            <a:r>
              <a:rPr lang="en-US" b="1" dirty="0" smtClean="0">
                <a:effectLst/>
              </a:rPr>
              <a:t>Amazon EKS with AWS </a:t>
            </a:r>
            <a:r>
              <a:rPr lang="en-US" b="1" dirty="0" err="1" smtClean="0">
                <a:effectLst/>
              </a:rPr>
              <a:t>Fargate</a:t>
            </a:r>
            <a:r>
              <a:rPr lang="en-US" dirty="0" smtClean="0">
                <a:effectLst/>
              </a:rPr>
              <a:t>: </a:t>
            </a:r>
          </a:p>
          <a:p>
            <a:pPr lvl="1"/>
            <a:r>
              <a:rPr lang="en-US" dirty="0" smtClean="0">
                <a:effectLst/>
              </a:rPr>
              <a:t>This is great for teams wanting Kubernetes flexibility without managing servers.</a:t>
            </a:r>
          </a:p>
          <a:p>
            <a:pPr lvl="1"/>
            <a:r>
              <a:rPr lang="en-US" dirty="0" smtClean="0">
                <a:effectLst/>
              </a:rPr>
              <a:t> It combines Kubernetes power with </a:t>
            </a:r>
            <a:r>
              <a:rPr lang="en-US" dirty="0" err="1" smtClean="0">
                <a:effectLst/>
              </a:rPr>
              <a:t>serverless</a:t>
            </a:r>
            <a:r>
              <a:rPr lang="en-US" dirty="0" smtClean="0">
                <a:effectLst/>
              </a:rPr>
              <a:t> simplicity, helping to scale applications quickly across various use cases.</a:t>
            </a:r>
            <a:endParaRPr lang="en-US" dirty="0" smtClean="0"/>
          </a:p>
          <a:p>
            <a:endParaRPr lang="en-US" dirty="0"/>
          </a:p>
        </p:txBody>
      </p:sp>
    </p:spTree>
    <p:extLst>
      <p:ext uri="{BB962C8B-B14F-4D97-AF65-F5344CB8AC3E}">
        <p14:creationId xmlns:p14="http://schemas.microsoft.com/office/powerpoint/2010/main" val="39683537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ECR</a:t>
            </a:r>
            <a:endParaRPr lang="en-US" dirty="0"/>
          </a:p>
        </p:txBody>
      </p:sp>
      <p:sp>
        <p:nvSpPr>
          <p:cNvPr id="3" name="Content Placeholder 2"/>
          <p:cNvSpPr>
            <a:spLocks noGrp="1"/>
          </p:cNvSpPr>
          <p:nvPr>
            <p:ph idx="1"/>
          </p:nvPr>
        </p:nvSpPr>
        <p:spPr/>
        <p:txBody>
          <a:bodyPr/>
          <a:lstStyle/>
          <a:p>
            <a:r>
              <a:rPr lang="en-US" dirty="0"/>
              <a:t>Amazon Elastic Container Registry (Amazon ECR) is where you can store, manage, and deploy container images. </a:t>
            </a:r>
            <a:endParaRPr lang="en-US" dirty="0" smtClean="0"/>
          </a:p>
          <a:p>
            <a:r>
              <a:rPr lang="en-US" dirty="0" smtClean="0">
                <a:effectLst/>
              </a:rPr>
              <a:t>It supports container images that follow the </a:t>
            </a:r>
            <a:r>
              <a:rPr lang="en-US" b="1" dirty="0" smtClean="0">
                <a:effectLst/>
              </a:rPr>
              <a:t>Open Container Initiative</a:t>
            </a:r>
            <a:r>
              <a:rPr lang="en-US" dirty="0" smtClean="0">
                <a:effectLst/>
              </a:rPr>
              <a:t> (</a:t>
            </a:r>
            <a:r>
              <a:rPr lang="en-US" b="1" dirty="0" smtClean="0">
                <a:effectLst/>
              </a:rPr>
              <a:t>OCI</a:t>
            </a:r>
            <a:r>
              <a:rPr lang="en-US" dirty="0" smtClean="0">
                <a:effectLst/>
              </a:rPr>
              <a:t>) standards. </a:t>
            </a:r>
          </a:p>
          <a:p>
            <a:r>
              <a:rPr lang="en-US" dirty="0" smtClean="0">
                <a:effectLst/>
              </a:rPr>
              <a:t>You can push, pull, and manage images in your Amazon ECR repositories using standard container tooling and command line interfaces (CLIs).</a:t>
            </a:r>
            <a:endParaRPr lang="en-US" dirty="0"/>
          </a:p>
        </p:txBody>
      </p:sp>
    </p:spTree>
    <p:extLst>
      <p:ext uri="{BB962C8B-B14F-4D97-AF65-F5344CB8AC3E}">
        <p14:creationId xmlns:p14="http://schemas.microsoft.com/office/powerpoint/2010/main" val="7130492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Fargate</a:t>
            </a:r>
            <a:endParaRPr lang="en-US" dirty="0"/>
          </a:p>
        </p:txBody>
      </p:sp>
      <p:sp>
        <p:nvSpPr>
          <p:cNvPr id="3" name="Content Placeholder 2"/>
          <p:cNvSpPr>
            <a:spLocks noGrp="1"/>
          </p:cNvSpPr>
          <p:nvPr>
            <p:ph idx="1"/>
          </p:nvPr>
        </p:nvSpPr>
        <p:spPr/>
        <p:txBody>
          <a:bodyPr/>
          <a:lstStyle/>
          <a:p>
            <a:r>
              <a:rPr lang="en-US" dirty="0" smtClean="0">
                <a:effectLst/>
              </a:rPr>
              <a:t>AWS </a:t>
            </a:r>
            <a:r>
              <a:rPr lang="en-US" dirty="0" err="1" smtClean="0">
                <a:effectLst/>
              </a:rPr>
              <a:t>Fargate</a:t>
            </a:r>
            <a:r>
              <a:rPr lang="en-US" dirty="0" smtClean="0">
                <a:effectLst/>
              </a:rPr>
              <a:t> is a </a:t>
            </a:r>
            <a:r>
              <a:rPr lang="en-US" dirty="0" err="1" smtClean="0">
                <a:effectLst/>
              </a:rPr>
              <a:t>serverless</a:t>
            </a:r>
            <a:r>
              <a:rPr lang="en-US" dirty="0" smtClean="0">
                <a:effectLst/>
              </a:rPr>
              <a:t> compute engine for containers.</a:t>
            </a:r>
          </a:p>
          <a:p>
            <a:r>
              <a:rPr lang="en-US" dirty="0" smtClean="0">
                <a:effectLst/>
              </a:rPr>
              <a:t> It works with both Amazon ECS and Amazon EKS. </a:t>
            </a:r>
          </a:p>
          <a:p>
            <a:r>
              <a:rPr lang="en-US" dirty="0" err="1" smtClean="0">
                <a:effectLst/>
              </a:rPr>
              <a:t>Fargate</a:t>
            </a:r>
            <a:r>
              <a:rPr lang="en-US" dirty="0" smtClean="0">
                <a:effectLst/>
              </a:rPr>
              <a:t> is a container hosting platform, unlike Amazon ECS and Amazon EKS, which are both container orchestration services.</a:t>
            </a:r>
            <a:endParaRPr lang="en-US" dirty="0" smtClean="0"/>
          </a:p>
          <a:p>
            <a:r>
              <a:rPr lang="en-US" dirty="0" smtClean="0">
                <a:effectLst/>
              </a:rPr>
              <a:t>When using </a:t>
            </a:r>
            <a:r>
              <a:rPr lang="en-US" dirty="0" err="1" smtClean="0">
                <a:effectLst/>
              </a:rPr>
              <a:t>Fargate</a:t>
            </a:r>
            <a:r>
              <a:rPr lang="en-US" dirty="0" smtClean="0">
                <a:effectLst/>
              </a:rPr>
              <a:t>, you do not need to provision or manage servers. </a:t>
            </a:r>
          </a:p>
          <a:p>
            <a:r>
              <a:rPr lang="en-US" dirty="0" err="1" smtClean="0">
                <a:effectLst/>
              </a:rPr>
              <a:t>Fargate</a:t>
            </a:r>
            <a:r>
              <a:rPr lang="en-US" dirty="0" smtClean="0">
                <a:effectLst/>
              </a:rPr>
              <a:t> manages your server infrastructure for you. </a:t>
            </a:r>
          </a:p>
          <a:p>
            <a:r>
              <a:rPr lang="en-US" dirty="0" smtClean="0">
                <a:effectLst/>
              </a:rPr>
              <a:t>You can focus more on innovating and developing your applications, and you pay only for the resources that are required to run your containers.</a:t>
            </a:r>
            <a:endParaRPr lang="en-US" dirty="0" smtClean="0"/>
          </a:p>
          <a:p>
            <a:endParaRPr lang="en-US" dirty="0"/>
          </a:p>
        </p:txBody>
      </p:sp>
    </p:spTree>
    <p:extLst>
      <p:ext uri="{BB962C8B-B14F-4D97-AF65-F5344CB8AC3E}">
        <p14:creationId xmlns:p14="http://schemas.microsoft.com/office/powerpoint/2010/main" val="3438487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4664" y="2596261"/>
            <a:ext cx="6605016" cy="1325563"/>
          </a:xfrm>
        </p:spPr>
        <p:txBody>
          <a:bodyPr/>
          <a:lstStyle/>
          <a:p>
            <a:r>
              <a:rPr lang="en-US" b="1" dirty="0" smtClean="0"/>
              <a:t>Additional Compute Services</a:t>
            </a:r>
            <a:endParaRPr lang="en-US" dirty="0"/>
          </a:p>
        </p:txBody>
      </p:sp>
    </p:spTree>
    <p:extLst>
      <p:ext uri="{BB962C8B-B14F-4D97-AF65-F5344CB8AC3E}">
        <p14:creationId xmlns:p14="http://schemas.microsoft.com/office/powerpoint/2010/main" val="3347268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how </a:t>
            </a:r>
            <a:r>
              <a:rPr lang="en-US" b="1" dirty="0" smtClean="0"/>
              <a:t>Elastic Beanstalk </a:t>
            </a:r>
            <a:r>
              <a:rPr lang="en-US" dirty="0" smtClean="0"/>
              <a:t>streamlines environment provisioning and management.</a:t>
            </a:r>
          </a:p>
          <a:p>
            <a:r>
              <a:rPr lang="en-US" dirty="0" smtClean="0"/>
              <a:t>Explain how </a:t>
            </a:r>
            <a:r>
              <a:rPr lang="en-US" b="1" dirty="0" smtClean="0"/>
              <a:t>AWS Batch </a:t>
            </a:r>
            <a:r>
              <a:rPr lang="en-US" dirty="0" smtClean="0"/>
              <a:t>manages large-scale computing tasks and automatically adjusts resources based on demand.</a:t>
            </a:r>
          </a:p>
          <a:p>
            <a:r>
              <a:rPr lang="en-US" dirty="0" smtClean="0"/>
              <a:t>Identify how </a:t>
            </a:r>
            <a:r>
              <a:rPr lang="en-US" b="1" dirty="0" smtClean="0"/>
              <a:t>Amazon </a:t>
            </a:r>
            <a:r>
              <a:rPr lang="en-US" b="1" dirty="0" err="1" smtClean="0"/>
              <a:t>Lightsail</a:t>
            </a:r>
            <a:r>
              <a:rPr lang="en-US" b="1" dirty="0" smtClean="0"/>
              <a:t> </a:t>
            </a:r>
            <a:r>
              <a:rPr lang="en-US" dirty="0" smtClean="0"/>
              <a:t>streamlines web application setup and management without the need for complex infrastructure.</a:t>
            </a:r>
          </a:p>
          <a:p>
            <a:r>
              <a:rPr lang="en-US" dirty="0" smtClean="0"/>
              <a:t>Describe how </a:t>
            </a:r>
            <a:r>
              <a:rPr lang="en-US" b="1" dirty="0" smtClean="0"/>
              <a:t>AWS Outposts </a:t>
            </a:r>
            <a:r>
              <a:rPr lang="en-US" dirty="0" smtClean="0"/>
              <a:t>extends AWS services to on-premises environments, supporting hybrid cloud architectures.</a:t>
            </a:r>
          </a:p>
          <a:p>
            <a:endParaRPr lang="en-US" dirty="0"/>
          </a:p>
        </p:txBody>
      </p:sp>
    </p:spTree>
    <p:extLst>
      <p:ext uri="{BB962C8B-B14F-4D97-AF65-F5344CB8AC3E}">
        <p14:creationId xmlns:p14="http://schemas.microsoft.com/office/powerpoint/2010/main" val="2994725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Elastic Beanstalk</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effectLst/>
              </a:rPr>
              <a:t>Elastic Beanstalk </a:t>
            </a:r>
            <a:r>
              <a:rPr lang="en-US" dirty="0" smtClean="0">
                <a:effectLst/>
              </a:rPr>
              <a:t>is a fully managed service that streamlines the deployment, management, and scaling of web applications. </a:t>
            </a:r>
          </a:p>
          <a:p>
            <a:r>
              <a:rPr lang="en-US" dirty="0" smtClean="0">
                <a:effectLst/>
              </a:rPr>
              <a:t>Developers can upload their code, and Elastic Beanstalk automatically handles the provisioning of infrastructure, scaling, load balancing, and application health monitoring.</a:t>
            </a:r>
          </a:p>
          <a:p>
            <a:r>
              <a:rPr lang="en-US" dirty="0" smtClean="0">
                <a:effectLst/>
              </a:rPr>
              <a:t> It supports various programming languages and frameworks, such as Java, .NET, Python, Node.js, Docker, and more. </a:t>
            </a:r>
          </a:p>
          <a:p>
            <a:r>
              <a:rPr lang="en-US" dirty="0" smtClean="0">
                <a:effectLst/>
              </a:rPr>
              <a:t>It provides full control over the underlying AWS resources while automating many operational tasks.</a:t>
            </a:r>
          </a:p>
          <a:p>
            <a:r>
              <a:rPr lang="en-US" b="1" dirty="0"/>
              <a:t>Good for: </a:t>
            </a:r>
            <a:r>
              <a:rPr lang="en-US" dirty="0"/>
              <a:t>Deploying and managing web applications, RESTful APIs, mobile backend services, and </a:t>
            </a:r>
            <a:r>
              <a:rPr lang="en-US" dirty="0" err="1"/>
              <a:t>microservices</a:t>
            </a:r>
            <a:r>
              <a:rPr lang="en-US" dirty="0"/>
              <a:t> architectures, with automated scaling and simplified infrastructure management</a:t>
            </a:r>
            <a:endParaRPr lang="en-US" dirty="0" smtClean="0"/>
          </a:p>
          <a:p>
            <a:endParaRPr lang="en-US" dirty="0"/>
          </a:p>
        </p:txBody>
      </p:sp>
    </p:spTree>
    <p:extLst>
      <p:ext uri="{BB962C8B-B14F-4D97-AF65-F5344CB8AC3E}">
        <p14:creationId xmlns:p14="http://schemas.microsoft.com/office/powerpoint/2010/main" val="31204031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Batch</a:t>
            </a:r>
            <a:endParaRPr lang="en-US" dirty="0"/>
          </a:p>
        </p:txBody>
      </p:sp>
      <p:sp>
        <p:nvSpPr>
          <p:cNvPr id="3" name="Content Placeholder 2"/>
          <p:cNvSpPr>
            <a:spLocks noGrp="1"/>
          </p:cNvSpPr>
          <p:nvPr>
            <p:ph idx="1"/>
          </p:nvPr>
        </p:nvSpPr>
        <p:spPr/>
        <p:txBody>
          <a:bodyPr/>
          <a:lstStyle/>
          <a:p>
            <a:r>
              <a:rPr lang="en-US" b="1" dirty="0" smtClean="0">
                <a:effectLst/>
              </a:rPr>
              <a:t>AWS Batch </a:t>
            </a:r>
            <a:r>
              <a:rPr lang="en-US" dirty="0" smtClean="0">
                <a:effectLst/>
              </a:rPr>
              <a:t>is a fully managed service that you can use to run batch computing workloads on AWS.</a:t>
            </a:r>
          </a:p>
          <a:p>
            <a:r>
              <a:rPr lang="en-US" dirty="0" smtClean="0">
                <a:effectLst/>
              </a:rPr>
              <a:t> It automatically schedules, manages, and scales compute resources for batch jobs, optimizing resource allocation based on job requirements.</a:t>
            </a:r>
          </a:p>
          <a:p>
            <a:r>
              <a:rPr lang="en-US" dirty="0" smtClean="0"/>
              <a:t>Ideal for compute-heavy workloads.</a:t>
            </a:r>
            <a:endParaRPr lang="en-US" dirty="0" smtClean="0">
              <a:effectLst/>
            </a:endParaRPr>
          </a:p>
          <a:p>
            <a:r>
              <a:rPr lang="en-US" b="1" dirty="0"/>
              <a:t>Good for</a:t>
            </a:r>
            <a:r>
              <a:rPr lang="en-US" dirty="0" smtClean="0">
                <a:effectLst/>
              </a:rPr>
              <a:t>: Processing large-scale, parallel workloads in areas like scientific computing, financial risk analysis, media transcoding, big data processing, machine learning training, and genomics research</a:t>
            </a:r>
            <a:endParaRPr lang="en-US" dirty="0"/>
          </a:p>
        </p:txBody>
      </p:sp>
    </p:spTree>
    <p:extLst>
      <p:ext uri="{BB962C8B-B14F-4D97-AF65-F5344CB8AC3E}">
        <p14:creationId xmlns:p14="http://schemas.microsoft.com/office/powerpoint/2010/main" val="2820276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Lightsail</a:t>
            </a:r>
            <a:endParaRPr lang="en-US" dirty="0"/>
          </a:p>
        </p:txBody>
      </p:sp>
      <p:sp>
        <p:nvSpPr>
          <p:cNvPr id="3" name="Content Placeholder 2"/>
          <p:cNvSpPr>
            <a:spLocks noGrp="1"/>
          </p:cNvSpPr>
          <p:nvPr>
            <p:ph idx="1"/>
          </p:nvPr>
        </p:nvSpPr>
        <p:spPr/>
        <p:txBody>
          <a:bodyPr/>
          <a:lstStyle/>
          <a:p>
            <a:r>
              <a:rPr lang="en-US" b="1" dirty="0"/>
              <a:t>Amazon </a:t>
            </a:r>
            <a:r>
              <a:rPr lang="en-US" b="1" dirty="0" err="1"/>
              <a:t>Lightsail</a:t>
            </a:r>
            <a:r>
              <a:rPr lang="en-US" b="1" dirty="0"/>
              <a:t> </a:t>
            </a:r>
            <a:r>
              <a:rPr lang="en-US" dirty="0"/>
              <a:t>is a cloud service offering virtual private servers (VPSs), storage, databases, and networking at a predictable monthly price. </a:t>
            </a:r>
            <a:endParaRPr lang="en-US" dirty="0" smtClean="0"/>
          </a:p>
          <a:p>
            <a:r>
              <a:rPr lang="en-US" dirty="0" smtClean="0"/>
              <a:t>It’s </a:t>
            </a:r>
            <a:r>
              <a:rPr lang="en-US" dirty="0"/>
              <a:t>ideal for small businesses, basic workloads, and developers seeking a straightforward AWS experience without the complexity of the full AWS Management Console</a:t>
            </a:r>
            <a:r>
              <a:rPr lang="en-US" dirty="0" smtClean="0"/>
              <a:t>.</a:t>
            </a:r>
          </a:p>
          <a:p>
            <a:r>
              <a:rPr lang="en-US" b="1" dirty="0"/>
              <a:t>Good for</a:t>
            </a:r>
            <a:r>
              <a:rPr lang="en-US" dirty="0"/>
              <a:t>:</a:t>
            </a:r>
            <a:r>
              <a:rPr lang="en-US" dirty="0" smtClean="0">
                <a:effectLst/>
              </a:rPr>
              <a:t> Basic web applications, low-traffic websites, development and testing environments, small business websites, blogs, and learning cloud services</a:t>
            </a:r>
            <a:endParaRPr lang="en-US" dirty="0"/>
          </a:p>
        </p:txBody>
      </p:sp>
    </p:spTree>
    <p:extLst>
      <p:ext uri="{BB962C8B-B14F-4D97-AF65-F5344CB8AC3E}">
        <p14:creationId xmlns:p14="http://schemas.microsoft.com/office/powerpoint/2010/main" val="2372720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Outposts</a:t>
            </a:r>
            <a:endParaRPr lang="en-US" dirty="0"/>
          </a:p>
        </p:txBody>
      </p:sp>
      <p:sp>
        <p:nvSpPr>
          <p:cNvPr id="3" name="Content Placeholder 2"/>
          <p:cNvSpPr>
            <a:spLocks noGrp="1"/>
          </p:cNvSpPr>
          <p:nvPr>
            <p:ph idx="1"/>
          </p:nvPr>
        </p:nvSpPr>
        <p:spPr/>
        <p:txBody>
          <a:bodyPr/>
          <a:lstStyle/>
          <a:p>
            <a:r>
              <a:rPr lang="en-US" b="1" dirty="0" smtClean="0">
                <a:effectLst/>
              </a:rPr>
              <a:t>AWS Outposts </a:t>
            </a:r>
            <a:r>
              <a:rPr lang="en-US" dirty="0" smtClean="0">
                <a:effectLst/>
              </a:rPr>
              <a:t>is a fully managed hybrid cloud solution that extends AWS infrastructure and services to on-premises data centers.</a:t>
            </a:r>
          </a:p>
          <a:p>
            <a:r>
              <a:rPr lang="en-US" dirty="0" smtClean="0">
                <a:effectLst/>
              </a:rPr>
              <a:t> It provides a consistent experience between on premises and the AWS Cloud, offering compute, storage, and networking components.</a:t>
            </a:r>
          </a:p>
          <a:p>
            <a:pPr marL="0" indent="0">
              <a:buNone/>
            </a:pPr>
            <a:endParaRPr lang="en-US" dirty="0" smtClean="0">
              <a:effectLst/>
            </a:endParaRPr>
          </a:p>
          <a:p>
            <a:r>
              <a:rPr lang="en-US" b="1" dirty="0"/>
              <a:t>Good for</a:t>
            </a:r>
            <a:r>
              <a:rPr lang="en-US" dirty="0" smtClean="0">
                <a:effectLst/>
              </a:rPr>
              <a:t>: Low-latency applications, data processing in remote locations, migrating and modernizing legacy applications, and meeting regulatory compliance or data residency requirements</a:t>
            </a:r>
            <a:endParaRPr lang="en-US" dirty="0"/>
          </a:p>
        </p:txBody>
      </p:sp>
    </p:spTree>
    <p:extLst>
      <p:ext uri="{BB962C8B-B14F-4D97-AF65-F5344CB8AC3E}">
        <p14:creationId xmlns:p14="http://schemas.microsoft.com/office/powerpoint/2010/main" val="1453878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Recap</a:t>
            </a:r>
            <a:endParaRPr lang="en-US" dirty="0"/>
          </a:p>
        </p:txBody>
      </p:sp>
      <p:sp>
        <p:nvSpPr>
          <p:cNvPr id="3" name="Content Placeholder 2"/>
          <p:cNvSpPr>
            <a:spLocks noGrp="1"/>
          </p:cNvSpPr>
          <p:nvPr>
            <p:ph idx="1"/>
          </p:nvPr>
        </p:nvSpPr>
        <p:spPr/>
        <p:txBody>
          <a:bodyPr>
            <a:normAutofit lnSpcReduction="10000"/>
          </a:bodyPr>
          <a:lstStyle/>
          <a:p>
            <a:r>
              <a:rPr lang="en-US" dirty="0"/>
              <a:t>This module gave you a practical understanding of AWS compute services, so you can choose the right tools for your applications</a:t>
            </a:r>
            <a:r>
              <a:rPr lang="en-US" dirty="0" smtClean="0"/>
              <a:t>.</a:t>
            </a:r>
          </a:p>
          <a:p>
            <a:r>
              <a:rPr lang="en-US" dirty="0" smtClean="0"/>
              <a:t> </a:t>
            </a:r>
            <a:r>
              <a:rPr lang="en-US" dirty="0"/>
              <a:t>You learned when to use fully managed options like </a:t>
            </a:r>
            <a:r>
              <a:rPr lang="en-US" b="1" dirty="0"/>
              <a:t>Lambda</a:t>
            </a:r>
            <a:r>
              <a:rPr lang="en-US" dirty="0"/>
              <a:t> or </a:t>
            </a:r>
            <a:r>
              <a:rPr lang="en-US" b="1" dirty="0" err="1"/>
              <a:t>Fargate</a:t>
            </a:r>
            <a:r>
              <a:rPr lang="en-US" dirty="0"/>
              <a:t>, and when full control with Amazon EC2 made sense. </a:t>
            </a:r>
            <a:endParaRPr lang="en-US" dirty="0" smtClean="0"/>
          </a:p>
          <a:p>
            <a:r>
              <a:rPr lang="en-US" dirty="0" smtClean="0"/>
              <a:t>You </a:t>
            </a:r>
            <a:r>
              <a:rPr lang="en-US" dirty="0"/>
              <a:t>explored how </a:t>
            </a:r>
            <a:r>
              <a:rPr lang="en-US" b="1" dirty="0"/>
              <a:t>containers</a:t>
            </a:r>
            <a:r>
              <a:rPr lang="en-US" dirty="0"/>
              <a:t> solve deployment consistency issues and how AWS services, like Amazon </a:t>
            </a:r>
            <a:r>
              <a:rPr lang="en-US" b="1" dirty="0"/>
              <a:t>ECS</a:t>
            </a:r>
            <a:r>
              <a:rPr lang="en-US" dirty="0"/>
              <a:t> and Amazon </a:t>
            </a:r>
            <a:r>
              <a:rPr lang="en-US" b="1" dirty="0"/>
              <a:t>EKS</a:t>
            </a:r>
            <a:r>
              <a:rPr lang="en-US" dirty="0"/>
              <a:t>, simplify managing and scaling containerized applications</a:t>
            </a:r>
            <a:r>
              <a:rPr lang="en-US" dirty="0" smtClean="0"/>
              <a:t>.</a:t>
            </a:r>
          </a:p>
          <a:p>
            <a:r>
              <a:rPr lang="en-US" dirty="0" smtClean="0"/>
              <a:t> </a:t>
            </a:r>
            <a:r>
              <a:rPr lang="en-US" dirty="0"/>
              <a:t>You also discovered services like </a:t>
            </a:r>
            <a:r>
              <a:rPr lang="en-US" b="1" dirty="0"/>
              <a:t>Elastic Beanstalk</a:t>
            </a:r>
            <a:r>
              <a:rPr lang="en-US" dirty="0"/>
              <a:t>, </a:t>
            </a:r>
            <a:r>
              <a:rPr lang="en-US" b="1" dirty="0"/>
              <a:t>AWS Batch</a:t>
            </a:r>
            <a:r>
              <a:rPr lang="en-US" dirty="0"/>
              <a:t>, </a:t>
            </a:r>
            <a:r>
              <a:rPr lang="en-US" b="1" dirty="0" err="1"/>
              <a:t>Lightsail</a:t>
            </a:r>
            <a:r>
              <a:rPr lang="en-US" dirty="0"/>
              <a:t>, and </a:t>
            </a:r>
            <a:r>
              <a:rPr lang="en-US" b="1" dirty="0"/>
              <a:t>Outposts</a:t>
            </a:r>
            <a:r>
              <a:rPr lang="en-US" dirty="0"/>
              <a:t>, and how each supported specific use cases, from basic web hosting to large-scale batch processing or hybrid cloud environments.</a:t>
            </a:r>
          </a:p>
        </p:txBody>
      </p:sp>
    </p:spTree>
    <p:extLst>
      <p:ext uri="{BB962C8B-B14F-4D97-AF65-F5344CB8AC3E}">
        <p14:creationId xmlns:p14="http://schemas.microsoft.com/office/powerpoint/2010/main" val="18087157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Resources</a:t>
            </a:r>
            <a:endParaRPr lang="en-US" dirty="0"/>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1522703996"/>
              </p:ext>
            </p:extLst>
          </p:nvPr>
        </p:nvGraphicFramePr>
        <p:xfrm>
          <a:off x="911352" y="1469003"/>
          <a:ext cx="6047232" cy="5324988"/>
        </p:xfrm>
        <a:graphic>
          <a:graphicData uri="http://schemas.openxmlformats.org/drawingml/2006/table">
            <a:tbl>
              <a:tblPr/>
              <a:tblGrid>
                <a:gridCol w="1883974"/>
                <a:gridCol w="4163258"/>
              </a:tblGrid>
              <a:tr h="231522">
                <a:tc>
                  <a:txBody>
                    <a:bodyPr/>
                    <a:lstStyle/>
                    <a:p>
                      <a:pPr algn="l"/>
                      <a:r>
                        <a:rPr lang="en-US" sz="900" dirty="0">
                          <a:effectLst/>
                        </a:rPr>
                        <a:t>Resource link</a:t>
                      </a:r>
                    </a:p>
                  </a:txBody>
                  <a:tcPr marL="47297" marR="47297" marT="23649" marB="23649" anchor="ctr">
                    <a:lnL>
                      <a:noFill/>
                    </a:lnL>
                    <a:lnR>
                      <a:noFill/>
                    </a:lnR>
                    <a:lnT>
                      <a:noFill/>
                    </a:lnT>
                    <a:lnB>
                      <a:noFill/>
                    </a:lnB>
                  </a:tcPr>
                </a:tc>
                <a:tc>
                  <a:txBody>
                    <a:bodyPr/>
                    <a:lstStyle/>
                    <a:p>
                      <a:pPr algn="l"/>
                      <a:r>
                        <a:rPr lang="en-US" sz="900">
                          <a:effectLst/>
                        </a:rPr>
                        <a:t>Description</a:t>
                      </a:r>
                    </a:p>
                  </a:txBody>
                  <a:tcPr marL="47297" marR="47297" marT="23649" marB="23649" anchor="ctr">
                    <a:lnL>
                      <a:noFill/>
                    </a:lnL>
                    <a:lnR>
                      <a:noFill/>
                    </a:lnR>
                    <a:lnT>
                      <a:noFill/>
                    </a:lnT>
                    <a:lnB>
                      <a:noFill/>
                    </a:lnB>
                  </a:tcPr>
                </a:tc>
              </a:tr>
              <a:tr h="752444">
                <a:tc>
                  <a:txBody>
                    <a:bodyPr/>
                    <a:lstStyle/>
                    <a:p>
                      <a:pPr algn="l"/>
                      <a:r>
                        <a:rPr lang="en-US" sz="900" dirty="0">
                          <a:effectLst/>
                          <a:hlinkClick r:id="rId2"/>
                        </a:rPr>
                        <a:t>Containers on </a:t>
                      </a:r>
                      <a:r>
                        <a:rPr lang="en-US" sz="900" dirty="0" smtClean="0">
                          <a:effectLst/>
                          <a:hlinkClick r:id="rId2"/>
                        </a:rPr>
                        <a:t>AWS</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dirty="0">
                          <a:effectLst/>
                        </a:rPr>
                        <a:t>The AWS Containers Services page provides an overview of the AWS container offerings, including services for container image storage, orchestration, and compute. These offerings are designed to streamline the deployment and management of containerized applications.</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3"/>
                        </a:rPr>
                        <a:t>Amazon Elastic Container </a:t>
                      </a:r>
                      <a:r>
                        <a:rPr lang="en-US" sz="900" dirty="0" smtClean="0">
                          <a:effectLst/>
                          <a:hlinkClick r:id="rId3"/>
                        </a:rPr>
                        <a:t>Registry</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dirty="0">
                          <a:effectLst/>
                        </a:rPr>
                        <a:t>The Amazon ECR is a fully managed service for storing, managing, and deploying container images securely at scale.</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4"/>
                        </a:rPr>
                        <a:t>Amazon Elastic Container </a:t>
                      </a:r>
                      <a:r>
                        <a:rPr lang="en-US" sz="900" dirty="0" smtClean="0">
                          <a:effectLst/>
                          <a:hlinkClick r:id="rId4"/>
                        </a:rPr>
                        <a:t>Service</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dirty="0">
                          <a:effectLst/>
                        </a:rPr>
                        <a:t>Amazon ECS is a fully managed service that streamlines the deployment, management, and scaling of containerized applications on AWS.</a:t>
                      </a:r>
                    </a:p>
                  </a:txBody>
                  <a:tcPr marL="47297" marR="47297" marT="23649" marB="23649" anchor="ctr">
                    <a:lnL>
                      <a:noFill/>
                    </a:lnL>
                    <a:lnR>
                      <a:noFill/>
                    </a:lnR>
                    <a:lnT>
                      <a:noFill/>
                    </a:lnT>
                    <a:lnB>
                      <a:noFill/>
                    </a:lnB>
                    <a:solidFill>
                      <a:srgbClr val="FFFFFF"/>
                    </a:solidFill>
                  </a:tcPr>
                </a:tc>
              </a:tr>
              <a:tr h="752444">
                <a:tc>
                  <a:txBody>
                    <a:bodyPr/>
                    <a:lstStyle/>
                    <a:p>
                      <a:pPr algn="l"/>
                      <a:r>
                        <a:rPr lang="en-US" sz="900" dirty="0">
                          <a:effectLst/>
                          <a:hlinkClick r:id="rId5"/>
                        </a:rPr>
                        <a:t>Amazon Elastic Kubernetes </a:t>
                      </a:r>
                      <a:r>
                        <a:rPr lang="en-US" sz="900" dirty="0" smtClean="0">
                          <a:effectLst/>
                          <a:hlinkClick r:id="rId5"/>
                        </a:rPr>
                        <a:t>Service</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dirty="0">
                          <a:effectLst/>
                        </a:rPr>
                        <a:t>Amazon EKS is a fully managed Kubernetes service that streamlines running Kubernetes clusters on AWS and on premises. It automates infrastructure management and integrates with AWS networking, security, and storage services.</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6"/>
                        </a:rPr>
                        <a:t>AWS </a:t>
                      </a:r>
                      <a:r>
                        <a:rPr lang="en-US" sz="900" dirty="0" err="1" smtClean="0">
                          <a:effectLst/>
                          <a:hlinkClick r:id="rId6"/>
                        </a:rPr>
                        <a:t>Fargate</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a:effectLst/>
                        </a:rPr>
                        <a:t>Fargate is a serverless compute engine for running containers without managing servers. It is integrated with Amazon ECS and Amazon EKS.</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7"/>
                        </a:rPr>
                        <a:t>AWS Elastic </a:t>
                      </a:r>
                      <a:r>
                        <a:rPr lang="en-US" sz="900" dirty="0" smtClean="0">
                          <a:effectLst/>
                          <a:hlinkClick r:id="rId7"/>
                        </a:rPr>
                        <a:t>Beanstalk</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a:effectLst/>
                        </a:rPr>
                        <a:t>Elastic Beanstalk is a fully managed service for deploying and scaling web applications without managing infrastructure.</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8"/>
                        </a:rPr>
                        <a:t>AWS </a:t>
                      </a:r>
                      <a:r>
                        <a:rPr lang="en-US" sz="900" dirty="0" smtClean="0">
                          <a:effectLst/>
                          <a:hlinkClick r:id="rId8"/>
                        </a:rPr>
                        <a:t>Batch</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a:effectLst/>
                        </a:rPr>
                        <a:t>AWS Batch is a fully managed service for efficiently running large-scale batch computing jobs on AWS.</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9"/>
                        </a:rPr>
                        <a:t>What is Amazon </a:t>
                      </a:r>
                      <a:r>
                        <a:rPr lang="en-US" sz="900" dirty="0" err="1">
                          <a:effectLst/>
                          <a:hlinkClick r:id="rId9"/>
                        </a:rPr>
                        <a:t>Lightsail</a:t>
                      </a:r>
                      <a:r>
                        <a:rPr lang="en-US" sz="900" dirty="0" smtClean="0">
                          <a:effectLst/>
                          <a:hlinkClick r:id="rId9"/>
                        </a:rPr>
                        <a:t>?</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a:effectLst/>
                        </a:rPr>
                        <a:t>Lightsail is a simplified cloud platform offering VPS, containers, and databases with predictable pricing.</a:t>
                      </a:r>
                    </a:p>
                  </a:txBody>
                  <a:tcPr marL="47297" marR="47297" marT="23649" marB="23649" anchor="ctr">
                    <a:lnL>
                      <a:noFill/>
                    </a:lnL>
                    <a:lnR>
                      <a:noFill/>
                    </a:lnR>
                    <a:lnT>
                      <a:noFill/>
                    </a:lnT>
                    <a:lnB>
                      <a:noFill/>
                    </a:lnB>
                    <a:solidFill>
                      <a:srgbClr val="FFFFFF"/>
                    </a:solidFill>
                  </a:tcPr>
                </a:tc>
              </a:tr>
              <a:tr h="405162">
                <a:tc>
                  <a:txBody>
                    <a:bodyPr/>
                    <a:lstStyle/>
                    <a:p>
                      <a:pPr algn="l"/>
                      <a:r>
                        <a:rPr lang="en-US" sz="900" dirty="0">
                          <a:effectLst/>
                          <a:hlinkClick r:id="rId10"/>
                        </a:rPr>
                        <a:t>What is AWS Outposts</a:t>
                      </a:r>
                      <a:r>
                        <a:rPr lang="en-US" sz="900" dirty="0" smtClean="0">
                          <a:effectLst/>
                          <a:hlinkClick r:id="rId10"/>
                        </a:rPr>
                        <a:t>?</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a:effectLst/>
                        </a:rPr>
                        <a:t>AWS Outposts extends AWS infrastructure and services to on-premises locations for low-latency, local data processing.</a:t>
                      </a:r>
                    </a:p>
                  </a:txBody>
                  <a:tcPr marL="47297" marR="47297" marT="23649" marB="23649" anchor="ctr">
                    <a:lnL>
                      <a:noFill/>
                    </a:lnL>
                    <a:lnR>
                      <a:noFill/>
                    </a:lnR>
                    <a:lnT>
                      <a:noFill/>
                    </a:lnT>
                    <a:lnB>
                      <a:noFill/>
                    </a:lnB>
                    <a:solidFill>
                      <a:srgbClr val="FFFFFF"/>
                    </a:solidFill>
                  </a:tcPr>
                </a:tc>
              </a:tr>
              <a:tr h="752444">
                <a:tc>
                  <a:txBody>
                    <a:bodyPr/>
                    <a:lstStyle/>
                    <a:p>
                      <a:pPr algn="l"/>
                      <a:r>
                        <a:rPr lang="en-US" sz="900" dirty="0">
                          <a:effectLst/>
                          <a:hlinkClick r:id="rId11"/>
                        </a:rPr>
                        <a:t>Choosing a modern application </a:t>
                      </a:r>
                      <a:r>
                        <a:rPr lang="en-US" sz="900" dirty="0" smtClean="0">
                          <a:effectLst/>
                          <a:hlinkClick r:id="rId11"/>
                        </a:rPr>
                        <a:t>strategy</a:t>
                      </a:r>
                      <a:endParaRPr lang="en-US" sz="900" dirty="0">
                        <a:effectLst/>
                      </a:endParaRPr>
                    </a:p>
                  </a:txBody>
                  <a:tcPr marL="47297" marR="47297" marT="23649" marB="23649" anchor="ctr">
                    <a:lnL>
                      <a:noFill/>
                    </a:lnL>
                    <a:lnR>
                      <a:noFill/>
                    </a:lnR>
                    <a:lnT>
                      <a:noFill/>
                    </a:lnT>
                    <a:lnB>
                      <a:noFill/>
                    </a:lnB>
                    <a:solidFill>
                      <a:srgbClr val="FFFFFF"/>
                    </a:solidFill>
                  </a:tcPr>
                </a:tc>
                <a:tc>
                  <a:txBody>
                    <a:bodyPr/>
                    <a:lstStyle/>
                    <a:p>
                      <a:pPr algn="l"/>
                      <a:r>
                        <a:rPr lang="en-US" sz="900" dirty="0">
                          <a:effectLst/>
                        </a:rPr>
                        <a:t>The AWS Decision Guide for Modern Application Strategy helps organizations determine the most suitable development approach—</a:t>
                      </a:r>
                      <a:r>
                        <a:rPr lang="en-US" sz="900" dirty="0" err="1">
                          <a:effectLst/>
                        </a:rPr>
                        <a:t>serverless</a:t>
                      </a:r>
                      <a:r>
                        <a:rPr lang="en-US" sz="900" dirty="0">
                          <a:effectLst/>
                        </a:rPr>
                        <a:t> or Kubernetes—based on their operational model, team structure, and workload requirements.</a:t>
                      </a:r>
                    </a:p>
                  </a:txBody>
                  <a:tcPr marL="47297" marR="47297" marT="23649" marB="23649"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26845517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2613</Words>
  <Application>Microsoft Office PowerPoint</Application>
  <PresentationFormat>Widescreen</PresentationFormat>
  <Paragraphs>214</Paragraphs>
  <Slides>45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45</vt:i4>
      </vt:variant>
    </vt:vector>
  </HeadingPairs>
  <TitlesOfParts>
    <vt:vector size="49" baseType="lpstr">
      <vt:lpstr>Arial</vt:lpstr>
      <vt:lpstr>Calibri</vt:lpstr>
      <vt:lpstr>Calibri Light</vt:lpstr>
      <vt:lpstr>Office Theme</vt:lpstr>
      <vt:lpstr>Module 3</vt:lpstr>
      <vt:lpstr>Outline</vt:lpstr>
      <vt:lpstr>PowerPoint Presentation</vt:lpstr>
      <vt:lpstr>Introduction to Serverless Computing</vt:lpstr>
      <vt:lpstr>In this lesson, you will learn:</vt:lpstr>
      <vt:lpstr>Quick Recap: EC2</vt:lpstr>
      <vt:lpstr>Managed vs. Unmanaged Services</vt:lpstr>
      <vt:lpstr>PowerPoint Presentation</vt:lpstr>
      <vt:lpstr>Fully-managed services</vt:lpstr>
      <vt:lpstr>PowerPoint Presentation</vt:lpstr>
      <vt:lpstr>AWS Lambda</vt:lpstr>
      <vt:lpstr>In this lesson, you will learn:</vt:lpstr>
      <vt:lpstr>Lambda</vt:lpstr>
      <vt:lpstr>About Lambda</vt:lpstr>
      <vt:lpstr>How Lambda works</vt:lpstr>
      <vt:lpstr>How Lambda works</vt:lpstr>
      <vt:lpstr>Lambda use cases</vt:lpstr>
      <vt:lpstr>Real-time image processing for social media app</vt:lpstr>
      <vt:lpstr>Personalized content delivery for a news aggregator</vt:lpstr>
      <vt:lpstr>Real-time event handling for an online game</vt:lpstr>
      <vt:lpstr>Lab Time</vt:lpstr>
      <vt:lpstr>Containers and Orchestration on AWS</vt:lpstr>
      <vt:lpstr>In this lesson, you will learn:</vt:lpstr>
      <vt:lpstr>Containers</vt:lpstr>
      <vt:lpstr>Containers and VMs</vt:lpstr>
      <vt:lpstr>Deployment consistency with containers</vt:lpstr>
      <vt:lpstr>Scaling containers with orchestration</vt:lpstr>
      <vt:lpstr>PowerPoint Presentation</vt:lpstr>
      <vt:lpstr>AWS Container Building Blocks</vt:lpstr>
      <vt:lpstr>How It Fits Together</vt:lpstr>
      <vt:lpstr>AWS container services</vt:lpstr>
      <vt:lpstr>Amazon ECS</vt:lpstr>
      <vt:lpstr>Amazon ECS launch types</vt:lpstr>
      <vt:lpstr>Amazon EKS</vt:lpstr>
      <vt:lpstr>Amazon EKS launch types</vt:lpstr>
      <vt:lpstr>Amazon ECR</vt:lpstr>
      <vt:lpstr>Fargate</vt:lpstr>
      <vt:lpstr>Additional Compute Services</vt:lpstr>
      <vt:lpstr>In this lesson, you will learn:</vt:lpstr>
      <vt:lpstr>Elastic Beanstalk</vt:lpstr>
      <vt:lpstr>AWS Batch</vt:lpstr>
      <vt:lpstr>Lightsail</vt:lpstr>
      <vt:lpstr>Outposts</vt:lpstr>
      <vt:lpstr>Recap</vt:lpstr>
      <vt:lpstr>Resources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dc:title>
  <dc:creator>Microsoft account</dc:creator>
  <cp:lastModifiedBy>Microsoft account</cp:lastModifiedBy>
  <cp:revision>16</cp:revision>
  <dcterms:created xsi:type="dcterms:W3CDTF">2025-08-08T15:38:04Z</dcterms:created>
  <dcterms:modified xsi:type="dcterms:W3CDTF">2025-08-25T21:04:31Z</dcterms:modified>
</cp:coreProperties>
</file>