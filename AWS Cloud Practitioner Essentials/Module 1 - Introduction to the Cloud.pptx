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e4nWkr0wb1repLd34pDyA==" hashData="xByJp0/MsGhRpg/qPWI5k2D26scQw4eqKrf6HKJPp5KrQo1deDfSKThP6LzbuvWkOOWLJKihJohg73jzu7XZ+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43729-1374-4EA3-8465-08E429F52BDA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AB840-EA3B-4F74-8209-C280224F9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67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AB840-EA3B-4F74-8209-C280224F9E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9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9848-C2BF-45CD-97AC-5B0BBA1AB1BB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1F01-2B55-43A2-A92A-49CCE040FF7E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5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FC79D-E563-404B-A51D-271DBE2E7E0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BD25-88AD-4090-8458-41C948306D84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67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4CE51-C0F5-4FBD-8A64-4756DE833EDD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3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CEFBF-0DB6-483E-BD4B-4F1ECE400C6E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3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30DC-F903-4F0D-A99A-DDB57C0E16E6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4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9985F-4C4A-4589-B5F3-0F2890D5CF06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642E0-9F50-43E5-8351-44899B414C1F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43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FE14-6525-4EAE-937A-54A73C4CB89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2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8DCDF-1B53-4C7E-9A04-5D754D5B961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12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8232F-41DA-447E-9ED7-4BEADAB360D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LinkedIn: https://www.linkedin.com/in/ahmedmhmoud/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1B6E1-8D59-4132-840D-F97D32928A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9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compliance/shared-responsibility-model/" TargetMode="External"/><Relationship Id="rId2" Type="http://schemas.openxmlformats.org/officeDocument/2006/relationships/hyperlink" Target="https://aws.amazon.com/what-is-cloud-computing/?nc1=f_c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.amazon.com/about-aws/global-infrastructure/regions_a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Module 1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000" b="1" dirty="0" smtClean="0"/>
              <a:t>Introduction to the Cloud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2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MODULE 1 INTRODUCTION</a:t>
            </a:r>
          </a:p>
          <a:p>
            <a:pPr lvl="1"/>
            <a:r>
              <a:rPr lang="en-US" dirty="0" smtClean="0">
                <a:effectLst/>
              </a:rPr>
              <a:t>Welcome to AWS Cloud Practitioner Essentials</a:t>
            </a:r>
          </a:p>
          <a:p>
            <a:r>
              <a:rPr lang="en-US" b="1" dirty="0" smtClean="0"/>
              <a:t>THE AWS CLOUD</a:t>
            </a:r>
          </a:p>
          <a:p>
            <a:pPr lvl="1"/>
            <a:r>
              <a:rPr lang="en-US" dirty="0" smtClean="0">
                <a:effectLst/>
              </a:rPr>
              <a:t>What is Cloud Computing?</a:t>
            </a:r>
          </a:p>
          <a:p>
            <a:pPr lvl="1"/>
            <a:r>
              <a:rPr lang="en-US" dirty="0" smtClean="0">
                <a:effectLst/>
              </a:rPr>
              <a:t>Benefits of the AWS Cloud</a:t>
            </a:r>
          </a:p>
          <a:p>
            <a:pPr lvl="1"/>
            <a:r>
              <a:rPr lang="en-US" dirty="0" smtClean="0">
                <a:effectLst/>
              </a:rPr>
              <a:t>Introduction to AWS Global Infrastructure</a:t>
            </a:r>
          </a:p>
          <a:p>
            <a:pPr lvl="1"/>
            <a:r>
              <a:rPr lang="en-US" dirty="0" smtClean="0">
                <a:effectLst/>
              </a:rPr>
              <a:t>The AWS Shared Responsibility Model</a:t>
            </a:r>
          </a:p>
          <a:p>
            <a:r>
              <a:rPr lang="en-US" b="1" dirty="0" smtClean="0"/>
              <a:t>CLOUD IN REAL LIFE</a:t>
            </a:r>
          </a:p>
          <a:p>
            <a:pPr lvl="1"/>
            <a:r>
              <a:rPr lang="en-US" dirty="0" smtClean="0">
                <a:effectLst/>
              </a:rPr>
              <a:t>Applying Cloud Concepts to Real Life Use Cases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0269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What is Cloud Computing?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LinkedIn: https://www.linkedin.com/in/ahmedmhmoud/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4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Define cloud computing.</a:t>
            </a:r>
            <a:endParaRPr lang="en-US" dirty="0" smtClean="0"/>
          </a:p>
          <a:p>
            <a:r>
              <a:rPr lang="en-US" dirty="0" smtClean="0"/>
              <a:t>Describe and differentiate between cloud deployment types.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46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Defining cloud </a:t>
            </a:r>
            <a:r>
              <a:rPr lang="en-US" b="1" dirty="0" smtClean="0"/>
              <a:t>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is on-demand delivery of IT resources over the internet with pay-as-you-go pricing:</a:t>
            </a:r>
          </a:p>
          <a:p>
            <a:r>
              <a:rPr lang="en-US" b="1" dirty="0" smtClean="0"/>
              <a:t>On-demand delivery</a:t>
            </a:r>
          </a:p>
          <a:p>
            <a:pPr lvl="1"/>
            <a:r>
              <a:rPr lang="en-US" i="1" dirty="0" smtClean="0">
                <a:effectLst/>
              </a:rPr>
              <a:t>On-demand delivery</a:t>
            </a:r>
            <a:r>
              <a:rPr lang="en-US" dirty="0" smtClean="0">
                <a:effectLst/>
              </a:rPr>
              <a:t> means that customers can access computing resources, such as storage or compute power, within seconds and as needed. </a:t>
            </a:r>
          </a:p>
          <a:p>
            <a:pPr lvl="1"/>
            <a:r>
              <a:rPr lang="en-US" dirty="0" smtClean="0">
                <a:effectLst/>
              </a:rPr>
              <a:t>Users can scale their resource usage up or down based on current requirements without lengthy provisioning processes.</a:t>
            </a:r>
            <a:endParaRPr lang="en-US" dirty="0" smtClean="0"/>
          </a:p>
          <a:p>
            <a:r>
              <a:rPr lang="en-US" b="1" dirty="0" smtClean="0"/>
              <a:t>of IT resources</a:t>
            </a:r>
          </a:p>
          <a:p>
            <a:pPr lvl="1"/>
            <a:r>
              <a:rPr lang="en-US" dirty="0" smtClean="0">
                <a:effectLst/>
              </a:rPr>
              <a:t>The </a:t>
            </a:r>
            <a:r>
              <a:rPr lang="en-US" i="1" dirty="0" smtClean="0">
                <a:effectLst/>
              </a:rPr>
              <a:t>of IT resources</a:t>
            </a:r>
            <a:r>
              <a:rPr lang="en-US" dirty="0" smtClean="0">
                <a:effectLst/>
              </a:rPr>
              <a:t> aspect highlights the wide array of information technology assets in the cloud-computing space. </a:t>
            </a:r>
          </a:p>
          <a:p>
            <a:pPr lvl="1"/>
            <a:r>
              <a:rPr lang="en-US" dirty="0" smtClean="0">
                <a:effectLst/>
              </a:rPr>
              <a:t>These resources include servers, storage solutions, databases, networking components, artificial intelligence and machine learning (AI/ML) tools, and more. </a:t>
            </a:r>
          </a:p>
          <a:p>
            <a:pPr lvl="1"/>
            <a:r>
              <a:rPr lang="en-US" dirty="0" smtClean="0">
                <a:effectLst/>
              </a:rPr>
              <a:t>Customers can use these resources to build, deploy, and manage applications and services through the cloud infrastructure.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74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Defining cloud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over the internet</a:t>
            </a:r>
          </a:p>
          <a:p>
            <a:pPr lvl="1"/>
            <a:r>
              <a:rPr lang="en-US" i="1" dirty="0" smtClean="0">
                <a:effectLst/>
              </a:rPr>
              <a:t>Over the internet</a:t>
            </a:r>
            <a:r>
              <a:rPr lang="en-US" dirty="0" smtClean="0">
                <a:effectLst/>
              </a:rPr>
              <a:t> signifies that cloud computing delivers IT resources through internet connectivity. </a:t>
            </a:r>
          </a:p>
          <a:p>
            <a:pPr lvl="1"/>
            <a:r>
              <a:rPr lang="en-US" dirty="0" smtClean="0">
                <a:effectLst/>
              </a:rPr>
              <a:t>This means that users access and use these resources through web-based services rather than maintaining local hardware or software. </a:t>
            </a:r>
          </a:p>
          <a:p>
            <a:pPr lvl="1"/>
            <a:r>
              <a:rPr lang="en-US" dirty="0" smtClean="0">
                <a:effectLst/>
              </a:rPr>
              <a:t>The internet acts as the conduit, which provides remote access to compute power, storage, and applications from anywhere in the world.</a:t>
            </a:r>
            <a:endParaRPr lang="en-US" dirty="0" smtClean="0"/>
          </a:p>
          <a:p>
            <a:r>
              <a:rPr lang="en-US" b="1" dirty="0" smtClean="0"/>
              <a:t>with pay-as-you-go-pricing</a:t>
            </a:r>
          </a:p>
          <a:p>
            <a:pPr lvl="1"/>
            <a:r>
              <a:rPr lang="en-US" dirty="0" smtClean="0">
                <a:effectLst/>
              </a:rPr>
              <a:t>Flexible pricing is a fundamental economic aspect of cloud computing. </a:t>
            </a:r>
          </a:p>
          <a:p>
            <a:pPr lvl="1"/>
            <a:r>
              <a:rPr lang="en-US" dirty="0" smtClean="0">
                <a:effectLst/>
              </a:rPr>
              <a:t>Users pay only for the resources they actually consume, rather than committing to fixed, long-term contracts. </a:t>
            </a:r>
          </a:p>
          <a:p>
            <a:pPr lvl="1"/>
            <a:r>
              <a:rPr lang="en-US" dirty="0" smtClean="0">
                <a:effectLst/>
              </a:rPr>
              <a:t>This usage-based pricing model offers cost efficiency and financial flexibility.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8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deployment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Cloud</a:t>
            </a:r>
          </a:p>
          <a:p>
            <a:pPr lvl="1"/>
            <a:r>
              <a:rPr lang="en-US" dirty="0" smtClean="0">
                <a:effectLst/>
              </a:rPr>
              <a:t>In a cloud-based deployment model, you have the flexibility to migrate your existing resources to the cloud, design and build new applications within the cloud environment, or use a combination of both.</a:t>
            </a:r>
          </a:p>
          <a:p>
            <a:pPr lvl="1"/>
            <a:r>
              <a:rPr lang="en-US" dirty="0" smtClean="0">
                <a:effectLst/>
              </a:rPr>
              <a:t>For instance, a company might migrate data resources to the cloud, then develop an application comprised of virtual servers, databases, and networking components entirely hosted in the cloud.</a:t>
            </a:r>
          </a:p>
          <a:p>
            <a:r>
              <a:rPr lang="en-US" b="1" dirty="0" smtClean="0"/>
              <a:t>On-premises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Deploying resources on premises using virtualization and resource management tools does not provide many of the benefits of cloud computing. </a:t>
            </a:r>
          </a:p>
          <a:p>
            <a:pPr lvl="1"/>
            <a:r>
              <a:rPr lang="en-US" dirty="0" smtClean="0">
                <a:effectLst/>
              </a:rPr>
              <a:t>However, it is sometimes sought for its ability to provide dedicated resources and low latency.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In most cases this deployment model is the same as legacy IT infrastructure while using application management and virtualization technologies to try increasing resource utilization.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95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deployment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Hybrid</a:t>
            </a:r>
          </a:p>
          <a:p>
            <a:pPr lvl="1"/>
            <a:r>
              <a:rPr lang="en-US" dirty="0" smtClean="0">
                <a:effectLst/>
              </a:rPr>
              <a:t>In a hybrid deployment, cloud-based resources and on-premises infrastructure work together. This approach is ideal for situations where legacy applications must remain on premises due to maintenance preferences or regulatory requirements.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For instance, a company might choose to retain certain regulated legacy applications on-premises while using cloud services for advanced data processing and analytics.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Multi-cloud deployments can also be considered </a:t>
            </a:r>
            <a:r>
              <a:rPr lang="en-US" i="1" dirty="0" smtClean="0">
                <a:effectLst/>
              </a:rPr>
              <a:t>hybrid deployments</a:t>
            </a:r>
            <a:r>
              <a:rPr lang="en-US" dirty="0" smtClean="0">
                <a:effectLst/>
              </a:rPr>
              <a:t>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4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250482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Benefits of the AWS Cloud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 this lesson, you will 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the six key benefits of cloud computing.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2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six key benefits of the AWS Cloud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b="1" dirty="0" smtClean="0"/>
              <a:t>Trade fixed expense for variable expense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By using the AWS Cloud, businesses can transition from fixed investments to variable costs.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With variable costs, customer expenses are better aligned with actual usage, thus creating more financial flexibility.</a:t>
            </a:r>
          </a:p>
          <a:p>
            <a:pPr marL="514350" indent="-514350">
              <a:buAutoNum type="arabicPeriod"/>
            </a:pPr>
            <a:endParaRPr lang="en-US" b="1" dirty="0" smtClean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b="1" dirty="0" smtClean="0"/>
              <a:t>Benefit from massive economies of scale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Like buying a product in bulk can result in lower prices per unit, the vast global infrastructure of AWS can result in lower costs for customers.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This means that AWS can be used by many organizations, from small startups to major corporations.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Businesses big and small can access advanced technologies that were previously only accessible to large enterprises.</a:t>
            </a:r>
            <a:endParaRPr lang="en-US" b="1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92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six key benefits of the AWS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3"/>
            </a:pPr>
            <a:r>
              <a:rPr lang="en-US" b="1" dirty="0" smtClean="0"/>
              <a:t>Stop guessing capacity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Customers can dynamically scale AWS Cloud resources up or down based on real-time demand.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This means businesses can achieve optimal performance without provisioning more or less infrastructure than they need.</a:t>
            </a:r>
          </a:p>
          <a:p>
            <a:pPr marL="457200" lvl="1" indent="0">
              <a:buNone/>
            </a:pPr>
            <a:endParaRPr lang="en-US" b="1" dirty="0" smtClean="0"/>
          </a:p>
          <a:p>
            <a:pPr marL="514350" indent="-514350">
              <a:buFont typeface="Arial" panose="020B0604020202020204" pitchFamily="34" charset="0"/>
              <a:buAutoNum type="arabicPeriod" startAt="3"/>
            </a:pPr>
            <a:r>
              <a:rPr lang="en-US" b="1" dirty="0" smtClean="0"/>
              <a:t>Increase speed and agility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With the cloud, businesses can rapidly deploy applications and services, accelerating time to market and facilitating quicker responses to changing business needs and market conditions.</a:t>
            </a:r>
            <a:endParaRPr lang="en-US" b="1" dirty="0" smtClean="0"/>
          </a:p>
          <a:p>
            <a:pPr marL="514350" indent="-514350">
              <a:buAutoNum type="arabicPeriod" startAt="3"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79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six key benefits of the AWS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 startAt="5"/>
            </a:pPr>
            <a:r>
              <a:rPr lang="en-US" b="1" dirty="0" smtClean="0"/>
              <a:t>Stop spending money to run and maintain data centers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The AWS Cloud eliminates the need for businesses to invest in physical data centers.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This means customers aren't required to spend time and money on utilities and ongoing maintenance. 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With AWS taking care of the physical infrastructure of the cloud, customer resources can be reallocated to more strategic initiatives.</a:t>
            </a:r>
            <a:endParaRPr lang="en-US" b="1" dirty="0" smtClean="0"/>
          </a:p>
          <a:p>
            <a:pPr marL="514350" indent="-514350">
              <a:buFont typeface="Arial" panose="020B0604020202020204" pitchFamily="34" charset="0"/>
              <a:buAutoNum type="arabicPeriod" startAt="5"/>
            </a:pPr>
            <a:r>
              <a:rPr lang="en-US" b="1" dirty="0" smtClean="0"/>
              <a:t>Go global in minutes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Businesses don't need to set up their own infrastructure to expand internationally. </a:t>
            </a:r>
          </a:p>
          <a:p>
            <a:pPr marL="457200" lvl="1" indent="0">
              <a:buNone/>
            </a:pPr>
            <a:r>
              <a:rPr lang="en-US" dirty="0" smtClean="0">
                <a:effectLst/>
              </a:rPr>
              <a:t>AWS provides a robust global infrastructure that customers can use to deploy applications and services across multiple areas in minutes.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7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15717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Introduction to AWS Global Infrastructure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62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 this lesson, you will 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Define AWS Regions and Availability Zones.</a:t>
            </a:r>
          </a:p>
          <a:p>
            <a:r>
              <a:rPr lang="en-US" dirty="0" smtClean="0"/>
              <a:t>Explain the benefits of high availability and fault tolerance.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4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Regions and Availability </a:t>
            </a:r>
            <a:r>
              <a:rPr lang="en-US" b="1" dirty="0" smtClean="0"/>
              <a:t>Zones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AWS Global Infrastructure consists of physical locations around the world that contain groups of data centers.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089" y="2916935"/>
            <a:ext cx="6491764" cy="3491103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79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AWS Regions and Availability Zones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AWS Regions</a:t>
            </a:r>
          </a:p>
          <a:p>
            <a:pPr lvl="1"/>
            <a:r>
              <a:rPr lang="en-US" dirty="0" smtClean="0">
                <a:effectLst/>
              </a:rPr>
              <a:t>AWS Regions are physical locations around the world that contain groups of data centers. </a:t>
            </a:r>
          </a:p>
          <a:p>
            <a:pPr lvl="1"/>
            <a:r>
              <a:rPr lang="en-US" dirty="0" smtClean="0">
                <a:effectLst/>
              </a:rPr>
              <a:t>These groups of data centers are called Availability Zones. </a:t>
            </a:r>
          </a:p>
          <a:p>
            <a:pPr lvl="1"/>
            <a:r>
              <a:rPr lang="en-US" dirty="0" smtClean="0">
                <a:effectLst/>
              </a:rPr>
              <a:t>Each AWS Region consists of a minimum of three physically separate Availability Zones within a geographic area.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b="1" dirty="0" smtClean="0"/>
              <a:t>Availability Zones</a:t>
            </a:r>
          </a:p>
          <a:p>
            <a:pPr lvl="1"/>
            <a:r>
              <a:rPr lang="en-US" dirty="0" smtClean="0">
                <a:effectLst/>
              </a:rPr>
              <a:t>An Availability Zone consists of one or more data centers with redundant power, networking, and connectivity. </a:t>
            </a:r>
          </a:p>
          <a:p>
            <a:pPr lvl="1"/>
            <a:r>
              <a:rPr lang="en-US" dirty="0" smtClean="0">
                <a:effectLst/>
              </a:rPr>
              <a:t>Regions and Availability Zones are designed to provide low-latency, fault-tolerant access to services for users within a given area.</a:t>
            </a: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27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Achieving high availability with AWS Global </a:t>
            </a:r>
            <a:r>
              <a:rPr lang="en-US" b="1" dirty="0" smtClean="0"/>
              <a:t>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463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AWS infrastructure is designed with high availability and fault tolerance in mind. </a:t>
            </a:r>
          </a:p>
          <a:p>
            <a:r>
              <a:rPr lang="en-US" dirty="0" smtClean="0"/>
              <a:t>Availability Zones (AZs) are configured as isolated resources, and they are each equipped with independent power, networking, and connectivity.</a:t>
            </a:r>
          </a:p>
          <a:p>
            <a:r>
              <a:rPr lang="en-US" dirty="0" smtClean="0"/>
              <a:t>It's recommended to distribute your resources across multiple AZs. </a:t>
            </a:r>
          </a:p>
          <a:p>
            <a:r>
              <a:rPr lang="en-US" dirty="0" smtClean="0"/>
              <a:t>That way, if one AZ encounters an outage, your business applications will continue to operate without interruption. </a:t>
            </a:r>
          </a:p>
          <a:p>
            <a:r>
              <a:rPr lang="en-US" dirty="0" smtClean="0"/>
              <a:t>With this approach of redundancy and resource isolation, AWS customers can achieve the benefits of high availability and fault tolerance.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9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28" y="273342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The AWS Shared Responsibility Model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78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 this lesson, you will 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and differentiate between customer responsibilities, AWS responsibilities, and shared responsibilities in the AWS Cloud.</a:t>
            </a:r>
          </a:p>
          <a:p>
            <a:r>
              <a:rPr lang="en-US" dirty="0" smtClean="0"/>
              <a:t>Describe the components of the AWS Shared Responsibility Model.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28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Components of the AWS Shared Responsibility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19216" cy="4351338"/>
          </a:xfrm>
        </p:spPr>
        <p:txBody>
          <a:bodyPr/>
          <a:lstStyle/>
          <a:p>
            <a:r>
              <a:rPr lang="en-US" b="1" dirty="0" smtClean="0"/>
              <a:t>Customer responsibilities</a:t>
            </a:r>
          </a:p>
          <a:p>
            <a:pPr lvl="1"/>
            <a:r>
              <a:rPr lang="en-US" dirty="0" smtClean="0">
                <a:effectLst/>
              </a:rPr>
              <a:t>Customers are responsible for managing security requirements for their data, including which data they store on AWS and who has access to that data. </a:t>
            </a:r>
          </a:p>
          <a:p>
            <a:pPr lvl="1"/>
            <a:r>
              <a:rPr lang="en-US" dirty="0" smtClean="0">
                <a:effectLst/>
              </a:rPr>
              <a:t>Customers also control how access to the data is granted, managed, and revoked.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Additionally, customers are responsible for client-side encryption.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25" y="1825625"/>
            <a:ext cx="5589494" cy="282854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55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Components of the AWS Shared Responsibility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19216" cy="4351338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Shared responsibilities</a:t>
            </a:r>
          </a:p>
          <a:p>
            <a:pPr lvl="1"/>
            <a:r>
              <a:rPr lang="en-US" dirty="0" smtClean="0">
                <a:effectLst/>
              </a:rPr>
              <a:t>Depending on the service used, responsibilities might shift between the customer and AWS. </a:t>
            </a:r>
          </a:p>
          <a:p>
            <a:pPr lvl="1"/>
            <a:r>
              <a:rPr lang="en-US" dirty="0" smtClean="0">
                <a:effectLst/>
              </a:rPr>
              <a:t>Components such as server-side encryption, network traffic protection, platform and application management, and OS, network, and firewall configuration vary by service in terms of who is responsible for these items. </a:t>
            </a:r>
          </a:p>
          <a:p>
            <a:pPr lvl="1"/>
            <a:r>
              <a:rPr lang="en-US" dirty="0" smtClean="0">
                <a:effectLst/>
              </a:rPr>
              <a:t>As you learn more about different types of services, you will see specific examples of how these elements are divided between the customer and AWS.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25" y="1825625"/>
            <a:ext cx="5589494" cy="282854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35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Components of the AWS Shared Responsibility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19216" cy="4351338"/>
          </a:xfrm>
        </p:spPr>
        <p:txBody>
          <a:bodyPr>
            <a:normAutofit/>
          </a:bodyPr>
          <a:lstStyle/>
          <a:p>
            <a:r>
              <a:rPr lang="en-US" b="1" dirty="0" smtClean="0"/>
              <a:t>AWS responsibilities</a:t>
            </a:r>
          </a:p>
          <a:p>
            <a:pPr lvl="1"/>
            <a:r>
              <a:rPr lang="en-US" dirty="0" smtClean="0">
                <a:effectLst/>
              </a:rPr>
              <a:t>AWS is responsible for protecting the infrastructure that runs all of the services offered in the AWS Cloud. </a:t>
            </a:r>
          </a:p>
          <a:p>
            <a:pPr lvl="1"/>
            <a:r>
              <a:rPr lang="en-US" dirty="0" smtClean="0">
                <a:effectLst/>
              </a:rPr>
              <a:t>This infrastructure is composed of the hardware, software, networking, and facilities that run AWS Cloud services.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25" y="1825625"/>
            <a:ext cx="5589494" cy="282854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84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910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Applying Cloud Concepts to Real Life Use Cases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 this lesson, you will 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Explain how fundamental cloud concepts, such as the AWS Global Infrastructure and AWS Shared Responsibility Model, work together to form real-world business solutions.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19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Cloud in real life: Infrastructure and shared </a:t>
            </a:r>
            <a:r>
              <a:rPr lang="en-US" b="1" dirty="0" smtClean="0"/>
              <a:t>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AWS Global Infrastructure – Real-World Impact</a:t>
            </a:r>
          </a:p>
          <a:p>
            <a:pPr lvl="1"/>
            <a:r>
              <a:rPr lang="en-US" b="1" dirty="0" smtClean="0"/>
              <a:t>Problem</a:t>
            </a:r>
            <a:r>
              <a:rPr lang="en-US" dirty="0" smtClean="0"/>
              <a:t>: An e-commerce company wants to expand globally. </a:t>
            </a:r>
          </a:p>
          <a:p>
            <a:pPr lvl="1"/>
            <a:r>
              <a:rPr lang="en-US" dirty="0" smtClean="0"/>
              <a:t>Customers in Europe and Asia need fast, reliable access.</a:t>
            </a:r>
          </a:p>
          <a:p>
            <a:pPr lvl="1"/>
            <a:r>
              <a:rPr lang="en-US" b="1" dirty="0" smtClean="0"/>
              <a:t>Solution with AWS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Deploy workloads in </a:t>
            </a:r>
            <a:r>
              <a:rPr lang="en-US" b="1" dirty="0" smtClean="0"/>
              <a:t>Regions close to customers</a:t>
            </a:r>
            <a:r>
              <a:rPr lang="en-US" dirty="0" smtClean="0"/>
              <a:t> (e.g., eu-west-1 in Ireland, ap-southeast-1 in Singapore).</a:t>
            </a:r>
          </a:p>
          <a:p>
            <a:pPr lvl="2"/>
            <a:r>
              <a:rPr lang="en-US" dirty="0" smtClean="0"/>
              <a:t>Reduce </a:t>
            </a:r>
            <a:r>
              <a:rPr lang="en-US" b="1" dirty="0" smtClean="0"/>
              <a:t>latency</a:t>
            </a:r>
            <a:r>
              <a:rPr lang="en-US" dirty="0" smtClean="0"/>
              <a:t> by leveraging AWS’s pre-built global footprint.</a:t>
            </a:r>
          </a:p>
          <a:p>
            <a:pPr lvl="2"/>
            <a:r>
              <a:rPr lang="en-US" dirty="0" smtClean="0"/>
              <a:t>Startups benefit since they don’t need to build or buy data centers in those geographies cloud lowers the barrier to global reach.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71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Cloud in real life: Infrastructure and shared 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High Availability &amp; Fault Tolerance</a:t>
            </a:r>
          </a:p>
          <a:p>
            <a:pPr lvl="1"/>
            <a:r>
              <a:rPr lang="en-US" b="1" dirty="0" smtClean="0"/>
              <a:t>Problem</a:t>
            </a:r>
            <a:r>
              <a:rPr lang="en-US" dirty="0" smtClean="0"/>
              <a:t>: E-commerce apps can’t afford downtime—one AZ outage should not kill the website.</a:t>
            </a:r>
          </a:p>
          <a:p>
            <a:pPr lvl="1"/>
            <a:r>
              <a:rPr lang="en-US" b="1" dirty="0" smtClean="0"/>
              <a:t>Solution with AWS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Deploy in </a:t>
            </a:r>
            <a:r>
              <a:rPr lang="en-US" b="1" dirty="0" smtClean="0"/>
              <a:t>multiple Availability Zones (AZs)</a:t>
            </a:r>
            <a:r>
              <a:rPr lang="en-US" dirty="0" smtClean="0"/>
              <a:t> within a Region.</a:t>
            </a:r>
          </a:p>
          <a:p>
            <a:pPr lvl="2"/>
            <a:r>
              <a:rPr lang="en-US" dirty="0" smtClean="0"/>
              <a:t>If one AZ goes down, traffic can fail over to another.</a:t>
            </a:r>
          </a:p>
          <a:p>
            <a:pPr lvl="2"/>
            <a:r>
              <a:rPr lang="en-US" dirty="0" smtClean="0"/>
              <a:t>This design provides </a:t>
            </a:r>
            <a:r>
              <a:rPr lang="en-US" b="1" dirty="0" smtClean="0"/>
              <a:t>fault tolerance and high availability</a:t>
            </a:r>
            <a:r>
              <a:rPr lang="en-US" dirty="0" smtClean="0"/>
              <a:t> without building redundant physical data centers.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80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Cloud in real life: Infrastructure and shared 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Shared Responsibility Model</a:t>
            </a:r>
          </a:p>
          <a:p>
            <a:pPr lvl="1"/>
            <a:r>
              <a:rPr lang="en-US" b="1" dirty="0" smtClean="0"/>
              <a:t>Problem</a:t>
            </a:r>
            <a:r>
              <a:rPr lang="en-US" dirty="0" smtClean="0"/>
              <a:t>: Who handles security for global expansion—AWS or the customer?</a:t>
            </a:r>
          </a:p>
          <a:p>
            <a:pPr lvl="1"/>
            <a:r>
              <a:rPr lang="en-US" b="1" dirty="0" smtClean="0"/>
              <a:t>Solution with AWS</a:t>
            </a:r>
            <a:r>
              <a:rPr lang="en-US" dirty="0" smtClean="0"/>
              <a:t>:</a:t>
            </a:r>
          </a:p>
          <a:p>
            <a:pPr lvl="2"/>
            <a:r>
              <a:rPr lang="en-US" b="1" dirty="0" smtClean="0"/>
              <a:t>AWS responsibility (“of the cloud”)</a:t>
            </a:r>
            <a:r>
              <a:rPr lang="en-US" dirty="0" smtClean="0"/>
              <a:t> → securing physical infrastructure (data centers, networking, hardware).</a:t>
            </a:r>
          </a:p>
          <a:p>
            <a:pPr lvl="2"/>
            <a:r>
              <a:rPr lang="en-US" b="1" dirty="0" smtClean="0"/>
              <a:t>Customer responsibility (“in the cloud”)</a:t>
            </a:r>
            <a:r>
              <a:rPr lang="en-US" dirty="0" smtClean="0"/>
              <a:t> → securing applications, configurations, user access, and compliance with standards (like PCI DSS for credit card data).</a:t>
            </a:r>
          </a:p>
          <a:p>
            <a:pPr lvl="2"/>
            <a:r>
              <a:rPr lang="en-US" dirty="0" smtClean="0"/>
              <a:t>This split allows businesses to </a:t>
            </a:r>
            <a:r>
              <a:rPr lang="en-US" b="1" dirty="0" smtClean="0"/>
              <a:t>focus on business-critical security</a:t>
            </a:r>
            <a:r>
              <a:rPr lang="en-US" dirty="0" smtClean="0"/>
              <a:t> instead of racking servers or guarding facilities.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5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Recap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section of the training, you learned fundamental concepts of cloud computing. </a:t>
            </a:r>
          </a:p>
          <a:p>
            <a:r>
              <a:rPr lang="en-US" dirty="0" smtClean="0"/>
              <a:t>You explored the definition and benefits of the cloud, and you were introduced to AWS Global Infrastructure. </a:t>
            </a:r>
          </a:p>
          <a:p>
            <a:r>
              <a:rPr lang="en-US" dirty="0" smtClean="0"/>
              <a:t>You also explored the AWS Shared Responsibility Model to clarify the division of responsibilities between AWS and customers.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2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Resources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81244"/>
              </p:ext>
            </p:extLst>
          </p:nvPr>
        </p:nvGraphicFramePr>
        <p:xfrm>
          <a:off x="838200" y="1690688"/>
          <a:ext cx="10515600" cy="2309654"/>
        </p:xfrm>
        <a:graphic>
          <a:graphicData uri="http://schemas.openxmlformats.org/drawingml/2006/table">
            <a:tbl>
              <a:tblPr/>
              <a:tblGrid>
                <a:gridCol w="3461350"/>
                <a:gridCol w="7054250"/>
              </a:tblGrid>
              <a:tr h="389414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Resource link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hlinkClick r:id="rId2"/>
                        </a:rPr>
                        <a:t>What is Cloud Computing</a:t>
                      </a:r>
                      <a:r>
                        <a:rPr lang="en-US" sz="1800" dirty="0" smtClean="0">
                          <a:effectLst/>
                          <a:hlinkClick r:id="rId2"/>
                        </a:rPr>
                        <a:t>? </a:t>
                      </a:r>
                      <a:endParaRPr lang="en-US" sz="1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0F141A"/>
                          </a:solidFill>
                          <a:effectLst/>
                        </a:rPr>
                        <a:t>Learn more about the basics of cloud computing.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hlinkClick r:id="rId3"/>
                        </a:rPr>
                        <a:t>AWS Shared Responsibility </a:t>
                      </a:r>
                      <a:r>
                        <a:rPr lang="en-US" sz="1800" dirty="0" smtClean="0">
                          <a:effectLst/>
                          <a:hlinkClick r:id="rId3"/>
                        </a:rPr>
                        <a:t>Model </a:t>
                      </a:r>
                      <a:endParaRPr lang="en-US" sz="1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>
                          <a:solidFill>
                            <a:srgbClr val="0F141A"/>
                          </a:solidFill>
                          <a:effectLst/>
                        </a:rPr>
                        <a:t>Learn more about the AWS Shared Responsibility Model.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  <a:hlinkClick r:id="rId4"/>
                        </a:rPr>
                        <a:t>Regions and Availability </a:t>
                      </a:r>
                      <a:r>
                        <a:rPr lang="en-US" sz="1800" dirty="0" smtClean="0">
                          <a:effectLst/>
                          <a:hlinkClick r:id="rId4"/>
                        </a:rPr>
                        <a:t>Zones </a:t>
                      </a:r>
                      <a:endParaRPr lang="en-US" sz="1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0F141A"/>
                          </a:solidFill>
                          <a:effectLst/>
                        </a:rPr>
                        <a:t>View a complete list of AWS Regions.</a:t>
                      </a:r>
                      <a:endParaRPr lang="en-US" sz="1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LinkedIn: https://www.linkedin.com/in/ahmedmhmoud/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4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1273</Words>
  <Application>Microsoft Office PowerPoint</Application>
  <PresentationFormat>Widescreen</PresentationFormat>
  <Paragraphs>184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Module 1 </vt:lpstr>
      <vt:lpstr>Outline</vt:lpstr>
      <vt:lpstr>What is Cloud Computing?</vt:lpstr>
      <vt:lpstr>In this lesson, you will learn:</vt:lpstr>
      <vt:lpstr>Defining cloud computing</vt:lpstr>
      <vt:lpstr>Defining cloud computing</vt:lpstr>
      <vt:lpstr>Cloud deployment types</vt:lpstr>
      <vt:lpstr>Cloud deployment types</vt:lpstr>
      <vt:lpstr>Benefits of the AWS Cloud</vt:lpstr>
      <vt:lpstr>In this lesson, you will learn</vt:lpstr>
      <vt:lpstr>The six key benefits of the AWS Cloud</vt:lpstr>
      <vt:lpstr>The six key benefits of the AWS Cloud</vt:lpstr>
      <vt:lpstr>The six key benefits of the AWS Cloud</vt:lpstr>
      <vt:lpstr>Introduction to AWS Global Infrastructure</vt:lpstr>
      <vt:lpstr>In this lesson, you will learn:</vt:lpstr>
      <vt:lpstr>AWS Regions and Availability Zones</vt:lpstr>
      <vt:lpstr>AWS Regions and Availability Zones</vt:lpstr>
      <vt:lpstr>Achieving high availability with AWS Global Infrastructure</vt:lpstr>
      <vt:lpstr>The AWS Shared Responsibility Model</vt:lpstr>
      <vt:lpstr>In this lesson, you will learn</vt:lpstr>
      <vt:lpstr>Components of the AWS Shared Responsibility Model</vt:lpstr>
      <vt:lpstr>Components of the AWS Shared Responsibility Model</vt:lpstr>
      <vt:lpstr>Components of the AWS Shared Responsibility Model</vt:lpstr>
      <vt:lpstr>Applying Cloud Concepts to Real Life Use Cases</vt:lpstr>
      <vt:lpstr>In this lesson, you will learn</vt:lpstr>
      <vt:lpstr>Cloud in real life: Infrastructure and shared responsibility</vt:lpstr>
      <vt:lpstr>Cloud in real life: Infrastructure and shared responsibility</vt:lpstr>
      <vt:lpstr>Cloud in real life: Infrastructure and shared responsibility</vt:lpstr>
      <vt:lpstr>Recap</vt:lpstr>
      <vt:lpstr>Resources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Microsoft account</dc:creator>
  <cp:lastModifiedBy>Microsoft account</cp:lastModifiedBy>
  <cp:revision>37</cp:revision>
  <dcterms:created xsi:type="dcterms:W3CDTF">2025-08-25T21:01:42Z</dcterms:created>
  <dcterms:modified xsi:type="dcterms:W3CDTF">2025-08-25T22:21:31Z</dcterms:modified>
</cp:coreProperties>
</file>