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5" r:id="rId9"/>
    <p:sldId id="267" r:id="rId10"/>
    <p:sldId id="268" r:id="rId11"/>
    <p:sldId id="269" r:id="rId12"/>
    <p:sldId id="270" r:id="rId13"/>
    <p:sldId id="271" r:id="rId14"/>
    <p:sldId id="275" r:id="rId15"/>
    <p:sldId id="274" r:id="rId16"/>
    <p:sldId id="276" r:id="rId17"/>
    <p:sldId id="277" r:id="rId18"/>
    <p:sldId id="278" r:id="rId19"/>
    <p:sldId id="279" r:id="rId20"/>
    <p:sldId id="280" r:id="rId21"/>
    <p:sldId id="281" r:id="rId22"/>
    <p:sldId id="282" r:id="rId23"/>
    <p:sldId id="283" r:id="rId24"/>
    <p:sldId id="284" r:id="rId25"/>
    <p:sldId id="285" r:id="rId26"/>
    <p:sldId id="286" r:id="rId27"/>
    <p:sldId id="287" r:id="rId28"/>
    <p:sldId id="288" r:id="rId29"/>
    <p:sldId id="289" r:id="rId30"/>
    <p:sldId id="290" r:id="rId31"/>
    <p:sldId id="291" r:id="rId32"/>
    <p:sldId id="292" r:id="rId33"/>
    <p:sldId id="293" r:id="rId34"/>
    <p:sldId id="294" r:id="rId35"/>
    <p:sldId id="295" r:id="rId36"/>
    <p:sldId id="296" r:id="rId37"/>
    <p:sldId id="297" r:id="rId38"/>
    <p:sldId id="298" r:id="rId39"/>
    <p:sldId id="299" r:id="rId40"/>
    <p:sldId id="300" r:id="rId41"/>
    <p:sldId id="301" r:id="rId42"/>
    <p:sldId id="302" r:id="rId43"/>
    <p:sldId id="303" r:id="rId44"/>
    <p:sldId id="304" r:id="rId45"/>
    <p:sldId id="305" r:id="rId46"/>
    <p:sldId id="306" r:id="rId47"/>
    <p:sldId id="307" r:id="rId48"/>
    <p:sldId id="308" r:id="rId4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946" y="2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5B176-A0AF-4829-AD55-CD4212DCFF4C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4E20-1C2D-43C3-A95E-73F6597542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4762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5B176-A0AF-4829-AD55-CD4212DCFF4C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4E20-1C2D-43C3-A95E-73F6597542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020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5B176-A0AF-4829-AD55-CD4212DCFF4C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4E20-1C2D-43C3-A95E-73F6597542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209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5B176-A0AF-4829-AD55-CD4212DCFF4C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4E20-1C2D-43C3-A95E-73F6597542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1854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5B176-A0AF-4829-AD55-CD4212DCFF4C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4E20-1C2D-43C3-A95E-73F6597542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234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5B176-A0AF-4829-AD55-CD4212DCFF4C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4E20-1C2D-43C3-A95E-73F6597542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218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5B176-A0AF-4829-AD55-CD4212DCFF4C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4E20-1C2D-43C3-A95E-73F6597542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247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5B176-A0AF-4829-AD55-CD4212DCFF4C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4E20-1C2D-43C3-A95E-73F6597542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8796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5B176-A0AF-4829-AD55-CD4212DCFF4C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4E20-1C2D-43C3-A95E-73F6597542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9825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5B176-A0AF-4829-AD55-CD4212DCFF4C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4E20-1C2D-43C3-A95E-73F6597542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4218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5B176-A0AF-4829-AD55-CD4212DCFF4C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F4E20-1C2D-43C3-A95E-73F6597542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2722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95B176-A0AF-4829-AD55-CD4212DCFF4C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EF4E20-1C2D-43C3-A95E-73F6597542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323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s://repost.aws/search/content?globalSearch=security" TargetMode="External"/><Relationship Id="rId2" Type="http://schemas.openxmlformats.org/officeDocument/2006/relationships/hyperlink" Target="https://aws.amazon.com/products/security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aws.amazon.com/blogs/security/" TargetMode="External"/><Relationship Id="rId4" Type="http://schemas.openxmlformats.org/officeDocument/2006/relationships/hyperlink" Target="https://docs.aws.amazon.com/security/" TargetMode="Externa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hyperlink" Target="https://aws.amazon.com/kms/" TargetMode="External"/><Relationship Id="rId13" Type="http://schemas.openxmlformats.org/officeDocument/2006/relationships/hyperlink" Target="https://aws.amazon.com/detective/" TargetMode="External"/><Relationship Id="rId3" Type="http://schemas.openxmlformats.org/officeDocument/2006/relationships/hyperlink" Target="https://aws.amazon.com/iam/identity-center/" TargetMode="External"/><Relationship Id="rId7" Type="http://schemas.openxmlformats.org/officeDocument/2006/relationships/hyperlink" Target="https://aws.amazon.com/waf/" TargetMode="External"/><Relationship Id="rId12" Type="http://schemas.openxmlformats.org/officeDocument/2006/relationships/hyperlink" Target="https://aws.amazon.com/guardduty/" TargetMode="External"/><Relationship Id="rId2" Type="http://schemas.openxmlformats.org/officeDocument/2006/relationships/hyperlink" Target="https://aws.amazon.com/iam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ws.amazon.com/shield/" TargetMode="External"/><Relationship Id="rId11" Type="http://schemas.openxmlformats.org/officeDocument/2006/relationships/hyperlink" Target="https://aws.amazon.com/inspector/" TargetMode="External"/><Relationship Id="rId5" Type="http://schemas.openxmlformats.org/officeDocument/2006/relationships/hyperlink" Target="https://aws.amazon.com/systems-manager/" TargetMode="External"/><Relationship Id="rId10" Type="http://schemas.openxmlformats.org/officeDocument/2006/relationships/hyperlink" Target="https://aws.amazon.com/certificate-manager/" TargetMode="External"/><Relationship Id="rId4" Type="http://schemas.openxmlformats.org/officeDocument/2006/relationships/hyperlink" Target="https://aws.amazon.com/secrets-manager/" TargetMode="External"/><Relationship Id="rId9" Type="http://schemas.openxmlformats.org/officeDocument/2006/relationships/hyperlink" Target="https://aws.amazon.com/macie/" TargetMode="External"/><Relationship Id="rId14" Type="http://schemas.openxmlformats.org/officeDocument/2006/relationships/hyperlink" Target="https://aws.amazon.com/security-hub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/>
              <a:t>Module 9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6000" b="1" dirty="0" smtClean="0"/>
              <a:t>Security</a:t>
            </a:r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40568044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/>
              <a:t>Outline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MODULE 9 INTRODUCTION</a:t>
            </a:r>
          </a:p>
          <a:p>
            <a:pPr lvl="1"/>
            <a:r>
              <a:rPr lang="en-US" dirty="0" smtClean="0">
                <a:effectLst/>
              </a:rPr>
              <a:t>Introduction to Security on AWS</a:t>
            </a:r>
          </a:p>
          <a:p>
            <a:r>
              <a:rPr lang="en-US" b="1" dirty="0" smtClean="0"/>
              <a:t>AWS SECURITY CONTROLS</a:t>
            </a:r>
          </a:p>
          <a:p>
            <a:pPr lvl="1"/>
            <a:r>
              <a:rPr lang="en-US" dirty="0" smtClean="0">
                <a:effectLst/>
              </a:rPr>
              <a:t>Preventing Unauthorized Access</a:t>
            </a:r>
          </a:p>
          <a:p>
            <a:pPr lvl="1"/>
            <a:r>
              <a:rPr lang="en-US" dirty="0" smtClean="0">
                <a:effectLst/>
              </a:rPr>
              <a:t>Protecting Networks and Applications</a:t>
            </a:r>
          </a:p>
          <a:p>
            <a:pPr lvl="1"/>
            <a:r>
              <a:rPr lang="en-US" dirty="0" smtClean="0">
                <a:effectLst/>
              </a:rPr>
              <a:t>Protecting Data</a:t>
            </a:r>
          </a:p>
          <a:p>
            <a:pPr lvl="1"/>
            <a:r>
              <a:rPr lang="en-US" dirty="0" smtClean="0">
                <a:effectLst/>
              </a:rPr>
              <a:t>Detecting and Responding to Security Incidents</a:t>
            </a:r>
          </a:p>
          <a:p>
            <a:pPr lvl="1"/>
            <a:r>
              <a:rPr lang="en-US" dirty="0" smtClean="0">
                <a:effectLst/>
              </a:rPr>
              <a:t>Additional Security Resources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55873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0184" y="2660269"/>
            <a:ext cx="10515600" cy="1325563"/>
          </a:xfrm>
        </p:spPr>
        <p:txBody>
          <a:bodyPr/>
          <a:lstStyle/>
          <a:p>
            <a:pPr algn="ctr"/>
            <a:r>
              <a:rPr lang="en-US" b="1" dirty="0"/>
              <a:t>Introduction to Security on </a:t>
            </a:r>
            <a:r>
              <a:rPr lang="en-US" b="1" dirty="0" smtClean="0"/>
              <a:t>AWS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876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 this lesson, you will </a:t>
            </a:r>
            <a:r>
              <a:rPr lang="en-US" b="1" dirty="0" smtClean="0"/>
              <a:t>learn: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Describe how authentication and authorization help secure enterprise data.</a:t>
            </a:r>
          </a:p>
          <a:p>
            <a:r>
              <a:rPr lang="en-US" dirty="0"/>
              <a:t>Identify customer and AWS security responsibilities in the cloud.</a:t>
            </a:r>
          </a:p>
          <a:p>
            <a:r>
              <a:rPr lang="en-US" dirty="0"/>
              <a:t>Identify different types of AWS security controls.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22244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Key </a:t>
            </a:r>
            <a:r>
              <a:rPr lang="en-US" b="1" dirty="0" smtClean="0"/>
              <a:t>concepts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Authentication and authorization are two mechanisms that play a big role in data privacy and system protection. </a:t>
            </a:r>
            <a:endParaRPr lang="en-US" dirty="0" smtClean="0"/>
          </a:p>
          <a:p>
            <a:r>
              <a:rPr lang="en-US" dirty="0" smtClean="0"/>
              <a:t>Let's </a:t>
            </a:r>
            <a:r>
              <a:rPr lang="en-US" dirty="0"/>
              <a:t>review these concepts and dive a little deeper into how security works in the AWS shared responsibility model.</a:t>
            </a:r>
          </a:p>
        </p:txBody>
      </p:sp>
    </p:spTree>
    <p:extLst>
      <p:ext uri="{BB962C8B-B14F-4D97-AF65-F5344CB8AC3E}">
        <p14:creationId xmlns:p14="http://schemas.microsoft.com/office/powerpoint/2010/main" val="9763376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Authentication and </a:t>
            </a:r>
            <a:r>
              <a:rPr lang="en-US" b="1" dirty="0" smtClean="0"/>
              <a:t>authorization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194431"/>
          </a:xfrm>
        </p:spPr>
        <p:txBody>
          <a:bodyPr>
            <a:normAutofit fontScale="92500" lnSpcReduction="10000"/>
          </a:bodyPr>
          <a:lstStyle/>
          <a:p>
            <a:r>
              <a:rPr lang="en-US" b="1" i="1" dirty="0" smtClean="0"/>
              <a:t>Authentication:</a:t>
            </a:r>
            <a:r>
              <a:rPr lang="en-US" dirty="0" smtClean="0"/>
              <a:t> </a:t>
            </a:r>
            <a:r>
              <a:rPr lang="en-US" dirty="0"/>
              <a:t>is the process of verifying the identity of a user or entity through credentials like a username and password combination.</a:t>
            </a:r>
          </a:p>
          <a:p>
            <a:r>
              <a:rPr lang="en-US" b="1" dirty="0"/>
              <a:t>Use case:</a:t>
            </a:r>
            <a:r>
              <a:rPr lang="en-US" dirty="0"/>
              <a:t> An employee logs in to an employee portal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i="1" dirty="0" smtClean="0"/>
              <a:t>Authorization:</a:t>
            </a:r>
            <a:r>
              <a:rPr lang="en-US" dirty="0" smtClean="0"/>
              <a:t> </a:t>
            </a:r>
            <a:r>
              <a:rPr lang="en-US" dirty="0"/>
              <a:t>grants users certain access rights and permissions that determine which actions they can perform in a system or application.</a:t>
            </a:r>
          </a:p>
          <a:p>
            <a:r>
              <a:rPr lang="en-US" b="1" dirty="0"/>
              <a:t>Use case:</a:t>
            </a:r>
            <a:r>
              <a:rPr lang="en-US" dirty="0"/>
              <a:t> An employee can only access their own employee records inside the employee portal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3954" y="4636563"/>
            <a:ext cx="5489638" cy="2063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6752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AWS shared responsibility </a:t>
            </a:r>
            <a:r>
              <a:rPr lang="en-US" b="1" dirty="0" smtClean="0"/>
              <a:t>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489448" cy="4351338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Customers: Security </a:t>
            </a:r>
            <a:r>
              <a:rPr lang="en-US" b="1" i="1" dirty="0"/>
              <a:t>in</a:t>
            </a:r>
            <a:r>
              <a:rPr lang="en-US" b="1" dirty="0"/>
              <a:t> the cloud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When using AWS services, customers maintain complete control over their content. As a result, customers are responsible for securing everything they create and manage in the AWS Cloud. This includes the following:</a:t>
            </a:r>
          </a:p>
          <a:p>
            <a:pPr lvl="1"/>
            <a:r>
              <a:rPr lang="en-US" dirty="0"/>
              <a:t>Managing the security of data, systems, and applications</a:t>
            </a:r>
          </a:p>
          <a:p>
            <a:pPr lvl="1"/>
            <a:r>
              <a:rPr lang="en-US" dirty="0"/>
              <a:t>Deciding what data and workloads to store or run in AWS</a:t>
            </a:r>
          </a:p>
          <a:p>
            <a:pPr lvl="1"/>
            <a:r>
              <a:rPr lang="en-US" dirty="0"/>
              <a:t>Determining which AWS services to use</a:t>
            </a:r>
          </a:p>
          <a:p>
            <a:pPr lvl="1"/>
            <a:r>
              <a:rPr lang="en-US" dirty="0"/>
              <a:t>Controlling who has access to environments and resources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694" y="2167128"/>
            <a:ext cx="5900305" cy="3355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0840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AWS shared responsibility </a:t>
            </a:r>
            <a:r>
              <a:rPr lang="en-US" b="1" dirty="0" smtClean="0"/>
              <a:t>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489448" cy="4351338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AWS: Security </a:t>
            </a:r>
            <a:r>
              <a:rPr lang="en-US" b="1" i="1" dirty="0"/>
              <a:t>of</a:t>
            </a:r>
            <a:r>
              <a:rPr lang="en-US" b="1" dirty="0"/>
              <a:t> the cloud</a:t>
            </a:r>
            <a:r>
              <a:rPr lang="en-US" dirty="0"/>
              <a:t/>
            </a:r>
            <a:br>
              <a:rPr lang="en-US" dirty="0"/>
            </a:br>
            <a:r>
              <a:rPr lang="en-US" sz="2400" dirty="0"/>
              <a:t>AWS is responsible for security </a:t>
            </a:r>
            <a:r>
              <a:rPr lang="en-US" sz="2400" i="1" dirty="0"/>
              <a:t>of </a:t>
            </a:r>
            <a:r>
              <a:rPr lang="en-US" sz="2400" dirty="0"/>
              <a:t>the cloud. AWS operates, manages, and controls the components at all layers of the infrastructure. This includes securing the following:</a:t>
            </a:r>
          </a:p>
          <a:p>
            <a:pPr lvl="1"/>
            <a:r>
              <a:rPr lang="en-US" sz="2000" dirty="0"/>
              <a:t>The foundational software that powers AWS services</a:t>
            </a:r>
          </a:p>
          <a:p>
            <a:pPr lvl="1"/>
            <a:r>
              <a:rPr lang="en-US" sz="2000" dirty="0"/>
              <a:t>The virtualization layer</a:t>
            </a:r>
          </a:p>
          <a:p>
            <a:pPr lvl="1"/>
            <a:r>
              <a:rPr lang="en-US" sz="2000" dirty="0"/>
              <a:t>The hardware and global infrastructure that supports the data centers from which services operate. This includes protection for AWS Regions, Availability Zones, and edge locations.</a:t>
            </a:r>
            <a:endParaRPr lang="en-US" sz="2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694" y="2167128"/>
            <a:ext cx="5900305" cy="3355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6214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AWS security </a:t>
            </a:r>
            <a:r>
              <a:rPr lang="en-US" b="1" dirty="0" smtClean="0"/>
              <a:t>controls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AWS offers multiple security mechanisms to protect your cloud resources. </a:t>
            </a:r>
            <a:endParaRPr lang="en-US" dirty="0" smtClean="0"/>
          </a:p>
          <a:p>
            <a:r>
              <a:rPr lang="en-US" dirty="0" smtClean="0"/>
              <a:t>These </a:t>
            </a:r>
            <a:r>
              <a:rPr lang="en-US" dirty="0"/>
              <a:t>controls can help you do the following:</a:t>
            </a:r>
          </a:p>
          <a:p>
            <a:pPr lvl="1"/>
            <a:r>
              <a:rPr lang="en-US" b="1" i="1" dirty="0"/>
              <a:t>Prevent</a:t>
            </a:r>
            <a:r>
              <a:rPr lang="en-US" dirty="0"/>
              <a:t> security incidents through proper permission and access management.</a:t>
            </a:r>
          </a:p>
          <a:p>
            <a:pPr lvl="1"/>
            <a:r>
              <a:rPr lang="en-US" b="1" i="1" dirty="0"/>
              <a:t>Protect</a:t>
            </a:r>
            <a:r>
              <a:rPr lang="en-US" i="1" dirty="0"/>
              <a:t> </a:t>
            </a:r>
            <a:r>
              <a:rPr lang="en-US" dirty="0"/>
              <a:t>networks, applications, and data.</a:t>
            </a:r>
          </a:p>
          <a:p>
            <a:pPr lvl="1"/>
            <a:r>
              <a:rPr lang="en-US" b="1" i="1" dirty="0"/>
              <a:t>Detect</a:t>
            </a:r>
            <a:r>
              <a:rPr lang="en-US" i="1" dirty="0"/>
              <a:t> and respond</a:t>
            </a:r>
            <a:r>
              <a:rPr lang="en-US" dirty="0"/>
              <a:t> to security incidents as they occur.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10197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3880" y="2550541"/>
            <a:ext cx="10515600" cy="1325563"/>
          </a:xfrm>
        </p:spPr>
        <p:txBody>
          <a:bodyPr/>
          <a:lstStyle/>
          <a:p>
            <a:pPr algn="ctr"/>
            <a:r>
              <a:rPr lang="en-US" b="1" dirty="0"/>
              <a:t>Preventing Unauthorized </a:t>
            </a:r>
            <a:r>
              <a:rPr lang="en-US" b="1" dirty="0" smtClean="0"/>
              <a:t>Access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76033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 this lesson, you will </a:t>
            </a:r>
            <a:r>
              <a:rPr lang="en-US" b="1" dirty="0" smtClean="0"/>
              <a:t>learn: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Describe the benefits and purpose of AWS Identity and Access Management (IAM).</a:t>
            </a:r>
          </a:p>
          <a:p>
            <a:r>
              <a:rPr lang="en-US" dirty="0"/>
              <a:t>Identify best practices for protecting the AWS account root user.</a:t>
            </a:r>
          </a:p>
          <a:p>
            <a:r>
              <a:rPr lang="en-US" dirty="0"/>
              <a:t>Define IAM identities and policies that support the principle of least privilege.</a:t>
            </a:r>
          </a:p>
          <a:p>
            <a:r>
              <a:rPr lang="en-US" dirty="0"/>
              <a:t>Describe the benefits and purpose of additional AWS services that support the principle of least privilege.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2289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AWS Identity and Access Management (IAM</a:t>
            </a:r>
            <a:r>
              <a:rPr lang="en-US" b="1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Securely manage identities and access to AWS services and resources</a:t>
            </a:r>
            <a:r>
              <a:rPr lang="en-US" b="1" dirty="0" smtClean="0"/>
              <a:t>.</a:t>
            </a:r>
          </a:p>
          <a:p>
            <a:r>
              <a:rPr lang="en-US" dirty="0"/>
              <a:t>One of the best ways to prevent security incidents before they happen is through proper permission and access management. </a:t>
            </a:r>
            <a:endParaRPr lang="en-US" dirty="0" smtClean="0"/>
          </a:p>
          <a:p>
            <a:r>
              <a:rPr lang="en-US" dirty="0" smtClean="0"/>
              <a:t>With </a:t>
            </a:r>
            <a:r>
              <a:rPr lang="en-US" dirty="0"/>
              <a:t>IAM, by default, all actions are denied. </a:t>
            </a:r>
            <a:endParaRPr lang="en-US" dirty="0" smtClean="0"/>
          </a:p>
          <a:p>
            <a:r>
              <a:rPr lang="en-US" dirty="0" smtClean="0"/>
              <a:t>You </a:t>
            </a:r>
            <a:r>
              <a:rPr lang="en-US" dirty="0"/>
              <a:t>must explicitly grant permission to someone before they can perform any actions in your account.</a:t>
            </a:r>
          </a:p>
          <a:p>
            <a:r>
              <a:rPr lang="en-US" dirty="0"/>
              <a:t>When you grant permissions, you</a:t>
            </a:r>
            <a:r>
              <a:rPr lang="en-US" dirty="0"/>
              <a:t> should provide access only on a need-to-have basis. </a:t>
            </a:r>
            <a:endParaRPr lang="en-US" dirty="0" smtClean="0"/>
          </a:p>
          <a:p>
            <a:r>
              <a:rPr lang="en-US" dirty="0" smtClean="0"/>
              <a:t>This </a:t>
            </a:r>
            <a:r>
              <a:rPr lang="en-US" dirty="0"/>
              <a:t>concept is called the </a:t>
            </a:r>
            <a:r>
              <a:rPr lang="en-US" b="1" dirty="0"/>
              <a:t>principle of least privilege</a:t>
            </a:r>
            <a:r>
              <a:rPr lang="en-US" dirty="0" smtClean="0"/>
              <a:t>.</a:t>
            </a:r>
          </a:p>
          <a:p>
            <a:r>
              <a:rPr lang="en-US" altLang="en-US" i="1" dirty="0">
                <a:latin typeface="Arial" panose="020B0604020202020204" pitchFamily="34" charset="0"/>
              </a:rPr>
              <a:t>The </a:t>
            </a:r>
            <a:r>
              <a:rPr lang="en-US" altLang="en-US" b="1" i="1" dirty="0">
                <a:latin typeface="Arial" panose="020B0604020202020204" pitchFamily="34" charset="0"/>
              </a:rPr>
              <a:t>principle of least privilege </a:t>
            </a:r>
            <a:r>
              <a:rPr lang="en-US" altLang="en-US" i="1" dirty="0">
                <a:latin typeface="Arial" panose="020B0604020202020204" pitchFamily="34" charset="0"/>
              </a:rPr>
              <a:t>dictates that you should only give people and systems access to what they need and nothing else.</a:t>
            </a:r>
            <a:endParaRPr lang="en-US" altLang="en-US" dirty="0">
              <a:latin typeface="Arial" panose="020B0604020202020204" pitchFamily="34" charset="0"/>
            </a:endParaRPr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63021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AWS Identity and Access Management (IAM</a:t>
            </a:r>
            <a:r>
              <a:rPr lang="en-US" b="1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IAM provides </a:t>
            </a:r>
            <a:r>
              <a:rPr lang="en-US" b="1" dirty="0"/>
              <a:t>users</a:t>
            </a:r>
            <a:r>
              <a:rPr lang="en-US" dirty="0"/>
              <a:t>, </a:t>
            </a:r>
            <a:r>
              <a:rPr lang="en-US" b="1" dirty="0"/>
              <a:t>groups</a:t>
            </a:r>
            <a:r>
              <a:rPr lang="en-US" dirty="0"/>
              <a:t>, and </a:t>
            </a:r>
            <a:r>
              <a:rPr lang="en-US" b="1" dirty="0"/>
              <a:t>roles</a:t>
            </a:r>
            <a:r>
              <a:rPr lang="en-US" dirty="0"/>
              <a:t> so you can configure access based on your company’s specific operational and security needs. </a:t>
            </a:r>
            <a:endParaRPr lang="en-US" dirty="0" smtClean="0"/>
          </a:p>
          <a:p>
            <a:r>
              <a:rPr lang="en-US" b="1" dirty="0" smtClean="0"/>
              <a:t>IAM </a:t>
            </a:r>
            <a:r>
              <a:rPr lang="en-US" b="1" dirty="0"/>
              <a:t>policies </a:t>
            </a:r>
            <a:r>
              <a:rPr lang="en-US" dirty="0"/>
              <a:t>define the needed access for these identities.</a:t>
            </a:r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4794" y="3310128"/>
            <a:ext cx="7035498" cy="3547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5472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AWS Identity and Access Management (IAM)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4959096" cy="5032375"/>
          </a:xfrm>
        </p:spPr>
        <p:txBody>
          <a:bodyPr>
            <a:normAutofit fontScale="92500"/>
          </a:bodyPr>
          <a:lstStyle/>
          <a:p>
            <a:r>
              <a:rPr lang="en-US" b="1" dirty="0"/>
              <a:t>AWS account root user</a:t>
            </a:r>
          </a:p>
          <a:p>
            <a:pPr lvl="1"/>
            <a:r>
              <a:rPr lang="en-US" dirty="0"/>
              <a:t>All AWS accounts are given an AWS account root user. </a:t>
            </a:r>
            <a:endParaRPr lang="en-US" dirty="0" smtClean="0"/>
          </a:p>
          <a:p>
            <a:pPr lvl="1"/>
            <a:r>
              <a:rPr lang="en-US" dirty="0" smtClean="0"/>
              <a:t>The </a:t>
            </a:r>
            <a:r>
              <a:rPr lang="en-US" dirty="0"/>
              <a:t>root user is the account owner and has permission to do anything inside the AWS account. </a:t>
            </a:r>
            <a:endParaRPr lang="en-US" dirty="0" smtClean="0"/>
          </a:p>
          <a:p>
            <a:pPr lvl="1"/>
            <a:r>
              <a:rPr lang="en-US" dirty="0" smtClean="0"/>
              <a:t>You </a:t>
            </a:r>
            <a:r>
              <a:rPr lang="en-US" dirty="0"/>
              <a:t>should associate a strong password with this powerful account and turn on multi-factor authentication (MFA), which requires at least two verification methods to log in. </a:t>
            </a:r>
            <a:endParaRPr lang="en-US" dirty="0" smtClean="0"/>
          </a:p>
          <a:p>
            <a:pPr lvl="1"/>
            <a:r>
              <a:rPr lang="en-US" dirty="0" smtClean="0"/>
              <a:t>To </a:t>
            </a:r>
            <a:r>
              <a:rPr lang="en-US" dirty="0"/>
              <a:t>handle daily tasks, you should create other IAM identities, such as IAM users.</a:t>
            </a:r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7380" y="2054224"/>
            <a:ext cx="6334620" cy="3194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24119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AWS Identity and Access Management (IAM)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5169408" cy="5032375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IAM users</a:t>
            </a:r>
          </a:p>
          <a:p>
            <a:pPr lvl="1"/>
            <a:r>
              <a:rPr lang="en-US" dirty="0"/>
              <a:t>An IAM user represents a person or application that interacts with AWS services and resources. </a:t>
            </a:r>
            <a:endParaRPr lang="en-US" dirty="0" smtClean="0"/>
          </a:p>
          <a:p>
            <a:pPr lvl="1"/>
            <a:r>
              <a:rPr lang="en-US" dirty="0" smtClean="0"/>
              <a:t>It </a:t>
            </a:r>
            <a:r>
              <a:rPr lang="en-US" dirty="0"/>
              <a:t>consists of a name and credentials. </a:t>
            </a:r>
            <a:endParaRPr lang="en-US" dirty="0" smtClean="0"/>
          </a:p>
          <a:p>
            <a:pPr lvl="1"/>
            <a:r>
              <a:rPr lang="en-US" dirty="0" smtClean="0"/>
              <a:t>AWS </a:t>
            </a:r>
            <a:r>
              <a:rPr lang="en-US" dirty="0"/>
              <a:t>recommends creating individual IAM users for each person who needs to access the AWS account, so they have their own unique set of security credentials. </a:t>
            </a:r>
          </a:p>
          <a:p>
            <a:r>
              <a:rPr lang="en-US" b="1" dirty="0"/>
              <a:t>IAM groups</a:t>
            </a:r>
          </a:p>
          <a:p>
            <a:pPr lvl="1"/>
            <a:r>
              <a:rPr lang="en-US" dirty="0"/>
              <a:t>An IAM group is a collection of IAM users. When you assign permissions to a group, all users in the group inherit the permissions. </a:t>
            </a:r>
            <a:endParaRPr lang="en-US" dirty="0" smtClean="0"/>
          </a:p>
          <a:p>
            <a:pPr lvl="1"/>
            <a:r>
              <a:rPr lang="en-US" dirty="0" smtClean="0"/>
              <a:t>For </a:t>
            </a:r>
            <a:r>
              <a:rPr lang="en-US" dirty="0"/>
              <a:t>example, you might assign standard access permissions to a group called </a:t>
            </a:r>
            <a:r>
              <a:rPr lang="en-US" b="1" dirty="0"/>
              <a:t>employees </a:t>
            </a:r>
            <a:r>
              <a:rPr lang="en-US" dirty="0"/>
              <a:t>so all your employees receive the same generic access.</a:t>
            </a:r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7380" y="2054224"/>
            <a:ext cx="6334620" cy="3194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0692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AWS Identity and Access Management (IAM)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5169408" cy="5032375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IAM roles</a:t>
            </a:r>
          </a:p>
          <a:p>
            <a:pPr lvl="1"/>
            <a:r>
              <a:rPr lang="en-US" dirty="0"/>
              <a:t>An IAM role is an identity you can assume to gain temporary access to permissions. </a:t>
            </a:r>
            <a:endParaRPr lang="en-US" dirty="0" smtClean="0"/>
          </a:p>
          <a:p>
            <a:pPr lvl="1"/>
            <a:r>
              <a:rPr lang="en-US" dirty="0" smtClean="0"/>
              <a:t>For </a:t>
            </a:r>
            <a:r>
              <a:rPr lang="en-US" dirty="0"/>
              <a:t>example, an employee might need to work as a barista in the morning and a cashier in the afternoon. </a:t>
            </a:r>
            <a:endParaRPr lang="en-US" dirty="0" smtClean="0"/>
          </a:p>
          <a:p>
            <a:pPr lvl="1"/>
            <a:r>
              <a:rPr lang="en-US" dirty="0" smtClean="0"/>
              <a:t>When </a:t>
            </a:r>
            <a:r>
              <a:rPr lang="en-US" dirty="0"/>
              <a:t>someone assumes an IAM role, they abandon all previous permissions they had under a previous role and assume the permissions of the new role.</a:t>
            </a:r>
            <a:endParaRPr lang="en-US" dirty="0"/>
          </a:p>
          <a:p>
            <a:r>
              <a:rPr lang="en-US" b="1" dirty="0"/>
              <a:t>IAM policies</a:t>
            </a:r>
          </a:p>
          <a:p>
            <a:pPr lvl="1"/>
            <a:r>
              <a:rPr lang="en-US" dirty="0"/>
              <a:t>An IAM policy is a JSON document that allows or denies permission to access AWS services and resources. </a:t>
            </a:r>
            <a:endParaRPr lang="en-US" dirty="0" smtClean="0"/>
          </a:p>
          <a:p>
            <a:pPr lvl="1"/>
            <a:r>
              <a:rPr lang="en-US" dirty="0" smtClean="0"/>
              <a:t>IAM </a:t>
            </a:r>
            <a:r>
              <a:rPr lang="en-US" dirty="0"/>
              <a:t>policies can also define the level of access to resources. </a:t>
            </a:r>
            <a:endParaRPr lang="en-US" dirty="0" smtClean="0"/>
          </a:p>
          <a:p>
            <a:pPr lvl="1"/>
            <a:r>
              <a:rPr lang="en-US" dirty="0" smtClean="0"/>
              <a:t>For </a:t>
            </a:r>
            <a:r>
              <a:rPr lang="en-US" dirty="0"/>
              <a:t>example, you can allow employees to access all the Amazon S3 buckets in your AWS account or only a specific bucket.</a:t>
            </a:r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7380" y="2054224"/>
            <a:ext cx="6334620" cy="3194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298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IAM </a:t>
            </a:r>
            <a:r>
              <a:rPr lang="en-US" b="1" dirty="0" smtClean="0"/>
              <a:t>demonstration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Now that you understand the fundamentals of IAM, </a:t>
            </a:r>
            <a:r>
              <a:rPr lang="en-US" dirty="0" smtClean="0"/>
              <a:t>Try to:</a:t>
            </a:r>
            <a:endParaRPr lang="en-US" dirty="0"/>
          </a:p>
          <a:p>
            <a:pPr lvl="1"/>
            <a:r>
              <a:rPr lang="en-US" dirty="0"/>
              <a:t>Create a new IAM user.</a:t>
            </a:r>
          </a:p>
          <a:p>
            <a:pPr lvl="1"/>
            <a:r>
              <a:rPr lang="en-US" dirty="0"/>
              <a:t>Add the new IAM user to an IAM group called </a:t>
            </a:r>
            <a:r>
              <a:rPr lang="en-US" b="1" dirty="0"/>
              <a:t>employees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Create a new IAM role that can be assumed to gain access to temporary credentials.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42854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Additional access management </a:t>
            </a:r>
            <a:r>
              <a:rPr lang="en-US" b="1" dirty="0" smtClean="0"/>
              <a:t>services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Let's examine some additional AWS services that can help you enforce the principle of least privilege across AWS environments. </a:t>
            </a:r>
            <a:endParaRPr lang="en-US" dirty="0" smtClean="0"/>
          </a:p>
          <a:p>
            <a:r>
              <a:rPr lang="en-US" dirty="0" smtClean="0"/>
              <a:t>Collectively</a:t>
            </a:r>
            <a:r>
              <a:rPr lang="en-US" dirty="0"/>
              <a:t>, these services help streamline the administration of AWS environments while bolstering your security practices</a:t>
            </a:r>
            <a:r>
              <a:rPr lang="en-US" dirty="0" smtClean="0"/>
              <a:t>.</a:t>
            </a:r>
          </a:p>
          <a:p>
            <a:pPr lvl="1"/>
            <a:r>
              <a:rPr lang="en-US" b="1" dirty="0"/>
              <a:t>AWS IAM Identity </a:t>
            </a:r>
            <a:r>
              <a:rPr lang="en-US" b="1" dirty="0" smtClean="0"/>
              <a:t>Center</a:t>
            </a:r>
          </a:p>
          <a:p>
            <a:pPr lvl="1"/>
            <a:r>
              <a:rPr lang="en-US" b="1" dirty="0"/>
              <a:t>AWS Secrets </a:t>
            </a:r>
            <a:r>
              <a:rPr lang="en-US" b="1" dirty="0" smtClean="0"/>
              <a:t>Manager</a:t>
            </a:r>
          </a:p>
          <a:p>
            <a:pPr lvl="1"/>
            <a:r>
              <a:rPr lang="en-US" b="1" dirty="0"/>
              <a:t>AWS Systems Manager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97670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AWS IAM Identity </a:t>
            </a:r>
            <a:r>
              <a:rPr lang="en-US" b="1" dirty="0" smtClean="0"/>
              <a:t>Center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IAM Identity Center centralizes identity and access management across AWS accounts and applications. </a:t>
            </a:r>
            <a:endParaRPr lang="en-US" dirty="0" smtClean="0"/>
          </a:p>
          <a:p>
            <a:r>
              <a:rPr lang="en-US" dirty="0" smtClean="0"/>
              <a:t>IAM </a:t>
            </a:r>
            <a:r>
              <a:rPr lang="en-US" dirty="0"/>
              <a:t>Identity Center can also connect to an existing identity source and provide your workforce with single sign-on access to all your connected AWS services and accounts. </a:t>
            </a:r>
            <a:endParaRPr lang="en-US" dirty="0" smtClean="0"/>
          </a:p>
          <a:p>
            <a:r>
              <a:rPr lang="en-US" dirty="0" smtClean="0"/>
              <a:t>This </a:t>
            </a:r>
            <a:r>
              <a:rPr lang="en-US" dirty="0"/>
              <a:t>is called federated identity management</a:t>
            </a:r>
            <a:r>
              <a:rPr lang="en-US" dirty="0" smtClean="0"/>
              <a:t>.</a:t>
            </a:r>
          </a:p>
          <a:p>
            <a:r>
              <a:rPr lang="en-US" altLang="en-US" sz="2400" b="1" i="1" dirty="0">
                <a:latin typeface="Arial" panose="020B0604020202020204" pitchFamily="34" charset="0"/>
              </a:rPr>
              <a:t>Federated identity management</a:t>
            </a:r>
            <a:r>
              <a:rPr lang="en-US" altLang="en-US" sz="2400" i="1" dirty="0">
                <a:latin typeface="Arial" panose="020B0604020202020204" pitchFamily="34" charset="0"/>
              </a:rPr>
              <a:t> is a system that allows users to access multiple applications, services, or domains using a single set of credentials.</a:t>
            </a:r>
            <a:endParaRPr lang="en-US" altLang="en-US" sz="2400" dirty="0">
              <a:latin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94728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AWS Secrets Manager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Secrets Manager provides a secure way to manage, rotate, and retrieve </a:t>
            </a:r>
            <a:r>
              <a:rPr lang="en-US" b="1" dirty="0"/>
              <a:t>database credentials</a:t>
            </a:r>
            <a:r>
              <a:rPr lang="en-US" dirty="0"/>
              <a:t>, </a:t>
            </a:r>
            <a:r>
              <a:rPr lang="en-US" b="1" dirty="0"/>
              <a:t>API keys</a:t>
            </a:r>
            <a:r>
              <a:rPr lang="en-US" dirty="0"/>
              <a:t>, and other secrets throughout their lifecycle. This helps keep your applications, services, and IT resources safe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altLang="en-US" b="1" i="1" dirty="0">
                <a:latin typeface="Arial" panose="020B0604020202020204" pitchFamily="34" charset="0"/>
              </a:rPr>
              <a:t>Secrets</a:t>
            </a:r>
            <a:r>
              <a:rPr lang="en-US" altLang="en-US" i="1" dirty="0">
                <a:latin typeface="Arial" panose="020B0604020202020204" pitchFamily="34" charset="0"/>
              </a:rPr>
              <a:t> are confidential or private information intended to be known only to specific individuals or groups. Examples include passwords, database credentials, and API keys.</a:t>
            </a:r>
            <a:endParaRPr lang="en-US" altLang="en-US" dirty="0">
              <a:latin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22690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AWS Systems Manager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Systems Manager provides a </a:t>
            </a:r>
            <a:r>
              <a:rPr lang="en-US" b="1" dirty="0"/>
              <a:t>centralized view of nodes</a:t>
            </a:r>
            <a:r>
              <a:rPr lang="en-US" dirty="0"/>
              <a:t> across your organization’s accounts and Regions and multi-cloud and hybrid environments. </a:t>
            </a:r>
            <a:endParaRPr lang="en-US" dirty="0" smtClean="0"/>
          </a:p>
          <a:p>
            <a:r>
              <a:rPr lang="en-US" dirty="0" smtClean="0"/>
              <a:t>With </a:t>
            </a:r>
            <a:r>
              <a:rPr lang="en-US" dirty="0"/>
              <a:t>this service, you can quickly access node information, such as ID and operating system details, and automate registry edits, user management, and security patching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altLang="en-US" b="1" i="1" dirty="0">
                <a:latin typeface="Arial" panose="020B0604020202020204" pitchFamily="34" charset="0"/>
              </a:rPr>
              <a:t>Nodes </a:t>
            </a:r>
            <a:r>
              <a:rPr lang="en-US" altLang="en-US" i="1" dirty="0">
                <a:latin typeface="Arial" panose="020B0604020202020204" pitchFamily="34" charset="0"/>
              </a:rPr>
              <a:t>are connection points in a network, system, or structure</a:t>
            </a:r>
            <a:r>
              <a:rPr lang="en-US" altLang="en-US" b="1" i="1" dirty="0">
                <a:latin typeface="Arial" panose="020B0604020202020204" pitchFamily="34" charset="0"/>
              </a:rPr>
              <a:t>.</a:t>
            </a:r>
            <a:endParaRPr lang="en-US" altLang="en-US" dirty="0">
              <a:latin typeface="Arial" panose="020B0604020202020204" pitchFamily="34" charset="0"/>
            </a:endParaRP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61258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0184" y="2788285"/>
            <a:ext cx="10515600" cy="1325563"/>
          </a:xfrm>
        </p:spPr>
        <p:txBody>
          <a:bodyPr/>
          <a:lstStyle/>
          <a:p>
            <a:pPr algn="ctr"/>
            <a:r>
              <a:rPr lang="en-US" b="1" dirty="0"/>
              <a:t>Protecting Networks and </a:t>
            </a:r>
            <a:r>
              <a:rPr lang="en-US" b="1" dirty="0" smtClean="0"/>
              <a:t>Applications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50636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 this lesson, you will </a:t>
            </a:r>
            <a:r>
              <a:rPr lang="en-US" b="1" dirty="0" smtClean="0"/>
              <a:t>learn: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Explain how distributed denial of service (DDoS) attacks are used to attack networks and applications.</a:t>
            </a:r>
          </a:p>
          <a:p>
            <a:r>
              <a:rPr lang="en-US" dirty="0"/>
              <a:t>Describe how AWS infrastructure and services protect against DDoS attacks.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6924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Network and application </a:t>
            </a:r>
            <a:r>
              <a:rPr lang="en-US" b="1" dirty="0" smtClean="0"/>
              <a:t>attacks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Network and application protection is another vital component of a secure environment on AWS. </a:t>
            </a:r>
            <a:endParaRPr lang="en-US" dirty="0" smtClean="0"/>
          </a:p>
          <a:p>
            <a:r>
              <a:rPr lang="en-US" b="1" dirty="0" err="1"/>
              <a:t>DoS</a:t>
            </a:r>
            <a:r>
              <a:rPr lang="en-US" b="1" dirty="0"/>
              <a:t> attacks</a:t>
            </a:r>
          </a:p>
          <a:p>
            <a:pPr lvl="1"/>
            <a:r>
              <a:rPr lang="en-US" dirty="0"/>
              <a:t>In a denial of service attack, an attacker floods a web application with excessive network traffic. </a:t>
            </a:r>
            <a:endParaRPr lang="en-US" dirty="0" smtClean="0"/>
          </a:p>
          <a:p>
            <a:pPr lvl="1"/>
            <a:r>
              <a:rPr lang="en-US" dirty="0" smtClean="0"/>
              <a:t>Legitimate </a:t>
            </a:r>
            <a:r>
              <a:rPr lang="en-US" dirty="0"/>
              <a:t>customer requests are denied if the web application becomes overloaded and can no longer respond.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8437" y="4704969"/>
            <a:ext cx="6715125" cy="2038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52580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Network and application attacks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DDoS attacks</a:t>
            </a:r>
          </a:p>
          <a:p>
            <a:pPr lvl="1"/>
            <a:r>
              <a:rPr lang="en-US" dirty="0"/>
              <a:t>In a distributed denial of service (DDoS) attack, an attacker can use multiple infected computers (called </a:t>
            </a:r>
            <a:r>
              <a:rPr lang="en-US" i="1" dirty="0"/>
              <a:t>zombie bots</a:t>
            </a:r>
            <a:r>
              <a:rPr lang="en-US" dirty="0"/>
              <a:t>) to </a:t>
            </a:r>
            <a:r>
              <a:rPr lang="en-US" dirty="0"/>
              <a:t>unknowingly </a:t>
            </a:r>
            <a:r>
              <a:rPr lang="en-US" dirty="0"/>
              <a:t>send excessive traffic to a web application.</a:t>
            </a:r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3556" y="3910393"/>
            <a:ext cx="6172200" cy="2676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6850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AWS network and application </a:t>
            </a:r>
            <a:r>
              <a:rPr lang="en-US" b="1" dirty="0" smtClean="0"/>
              <a:t>protection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AWS automatically protects against low-level, brute-force attacks, such as DDoS, through</a:t>
            </a:r>
            <a:r>
              <a:rPr lang="en-US" dirty="0"/>
              <a:t> its built-in infrastructure and network architecture.</a:t>
            </a:r>
            <a:r>
              <a:rPr lang="en-US" dirty="0"/>
              <a:t> </a:t>
            </a:r>
            <a:endParaRPr lang="en-US" dirty="0" smtClean="0"/>
          </a:p>
          <a:p>
            <a:r>
              <a:rPr lang="en-US" dirty="0" smtClean="0"/>
              <a:t>AWS </a:t>
            </a:r>
            <a:r>
              <a:rPr lang="en-US" dirty="0"/>
              <a:t>infrastructure reaches across the globe and includes multiple Regions, Availability Zones, and edge locations. </a:t>
            </a:r>
            <a:endParaRPr lang="en-US" dirty="0" smtClean="0"/>
          </a:p>
          <a:p>
            <a:r>
              <a:rPr lang="en-US" dirty="0" smtClean="0"/>
              <a:t>It </a:t>
            </a:r>
            <a:r>
              <a:rPr lang="en-US" dirty="0"/>
              <a:t>is designed to make it difficult for attackers to overwhelm the system.</a:t>
            </a:r>
          </a:p>
          <a:p>
            <a:r>
              <a:rPr lang="en-US" dirty="0"/>
              <a:t>Let's review some of the ways AWS infrastructure and services provide network and application protection.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85119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AWS protection through </a:t>
            </a:r>
            <a:r>
              <a:rPr lang="en-US" b="1" dirty="0" smtClean="0"/>
              <a:t>infrastructure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Security </a:t>
            </a:r>
            <a:r>
              <a:rPr lang="en-US" b="1" dirty="0" smtClean="0"/>
              <a:t>groups</a:t>
            </a:r>
          </a:p>
          <a:p>
            <a:pPr lvl="1"/>
            <a:r>
              <a:rPr lang="en-US" dirty="0"/>
              <a:t>Security groups only allow in proper request traffic. They operate at the AWS network level so they can shrug off massive attacks using the entire AWS Region's capacity</a:t>
            </a:r>
            <a:r>
              <a:rPr lang="en-US" dirty="0" smtClean="0"/>
              <a:t>.</a:t>
            </a:r>
            <a:endParaRPr lang="en-US" b="1" dirty="0" smtClean="0"/>
          </a:p>
          <a:p>
            <a:r>
              <a:rPr lang="en-US" b="1" dirty="0"/>
              <a:t>Elastic Load Balancing (</a:t>
            </a:r>
            <a:r>
              <a:rPr lang="en-US" b="1" dirty="0" smtClean="0"/>
              <a:t>ELB)</a:t>
            </a:r>
          </a:p>
          <a:p>
            <a:pPr lvl="1"/>
            <a:r>
              <a:rPr lang="en-US" dirty="0" smtClean="0"/>
              <a:t>ELB </a:t>
            </a:r>
            <a:r>
              <a:rPr lang="en-US" dirty="0"/>
              <a:t>handles traffic first before handing it off, so your frontend server is not overwhelmed. Like security groups, it runs at the Region level.</a:t>
            </a:r>
          </a:p>
          <a:p>
            <a:r>
              <a:rPr lang="en-US" b="1" dirty="0"/>
              <a:t>AWS </a:t>
            </a:r>
            <a:r>
              <a:rPr lang="en-US" b="1" dirty="0" smtClean="0"/>
              <a:t>Regions</a:t>
            </a:r>
            <a:endParaRPr lang="en-US" b="1" dirty="0"/>
          </a:p>
          <a:p>
            <a:pPr lvl="1"/>
            <a:r>
              <a:rPr lang="en-US" dirty="0" smtClean="0"/>
              <a:t>The </a:t>
            </a:r>
            <a:r>
              <a:rPr lang="en-US" dirty="0"/>
              <a:t>enormous capacity of Regions makes them extremely difficult to overwhelm. It would be massively expensive to achieve</a:t>
            </a:r>
            <a:r>
              <a:rPr lang="en-US" dirty="0" smtClean="0"/>
              <a:t>.</a:t>
            </a:r>
            <a:endParaRPr lang="en-US" b="1" dirty="0"/>
          </a:p>
          <a:p>
            <a:pPr lvl="1"/>
            <a:endParaRPr 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3608043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AWS protection through </a:t>
            </a:r>
            <a:r>
              <a:rPr lang="en-US" b="1" dirty="0" smtClean="0"/>
              <a:t>services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AWS also offers the following services to help protect your network and </a:t>
            </a:r>
            <a:r>
              <a:rPr lang="en-US" dirty="0" smtClean="0"/>
              <a:t>applications</a:t>
            </a:r>
            <a:r>
              <a:rPr lang="en-US" dirty="0"/>
              <a:t>:</a:t>
            </a:r>
            <a:endParaRPr lang="en-US" dirty="0" smtClean="0"/>
          </a:p>
          <a:p>
            <a:pPr lvl="1">
              <a:lnSpc>
                <a:spcPct val="150000"/>
              </a:lnSpc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AWS 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Shield</a:t>
            </a:r>
          </a:p>
          <a:p>
            <a:pPr lvl="1">
              <a:lnSpc>
                <a:spcPct val="150000"/>
              </a:lnSpc>
            </a:pPr>
            <a:r>
              <a:rPr lang="en-US" altLang="en-US" b="1" dirty="0">
                <a:solidFill>
                  <a:srgbClr val="161D26"/>
                </a:solidFill>
                <a:latin typeface="Arial" panose="020B0604020202020204" pitchFamily="34" charset="0"/>
              </a:rPr>
              <a:t>AWS WAF</a:t>
            </a:r>
            <a:endParaRPr lang="en-US" altLang="en-US" dirty="0">
              <a:latin typeface="Arial" panose="020B0604020202020204" pitchFamily="34" charset="0"/>
            </a:endParaRP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22008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AWS </a:t>
            </a: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Shield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i="1" dirty="0"/>
              <a:t>AWS Shield Standard</a:t>
            </a:r>
            <a:r>
              <a:rPr lang="en-US" b="1" dirty="0"/>
              <a:t> </a:t>
            </a:r>
            <a:r>
              <a:rPr lang="en-US" dirty="0"/>
              <a:t>is designed to automatically protect AWS customers from the most common, frequently occurring types of DDoS attacks at no cost. </a:t>
            </a:r>
            <a:r>
              <a:rPr lang="en-US" dirty="0" smtClean="0"/>
              <a:t>It </a:t>
            </a:r>
            <a:r>
              <a:rPr lang="en-US" dirty="0"/>
              <a:t>uses a variety of analysis techniques to detect and mitigate incoming malicious network traffic in real time</a:t>
            </a:r>
            <a:r>
              <a:rPr lang="en-US" dirty="0" smtClean="0"/>
              <a:t>.</a:t>
            </a:r>
          </a:p>
          <a:p>
            <a:r>
              <a:rPr lang="en-US" b="1" i="1" dirty="0"/>
              <a:t>AWS Shield Advanced</a:t>
            </a:r>
            <a:r>
              <a:rPr lang="en-US" b="1" dirty="0"/>
              <a:t> </a:t>
            </a:r>
            <a:r>
              <a:rPr lang="en-US" dirty="0"/>
              <a:t>is a paid service that provides detailed attack diagnostics and the ability to detect and mitigate sophisticated DDoS attacks. </a:t>
            </a:r>
            <a:r>
              <a:rPr lang="en-US" dirty="0" smtClean="0"/>
              <a:t>It </a:t>
            </a:r>
            <a:r>
              <a:rPr lang="en-US" dirty="0"/>
              <a:t>also integrates with other services, such as Amazon </a:t>
            </a:r>
            <a:r>
              <a:rPr lang="en-US" dirty="0" err="1"/>
              <a:t>CloudFront</a:t>
            </a:r>
            <a:r>
              <a:rPr lang="en-US" dirty="0"/>
              <a:t>, Amazon Route 53, and ELB</a:t>
            </a:r>
            <a:r>
              <a:rPr lang="en-US" dirty="0" smtClean="0"/>
              <a:t>.</a:t>
            </a:r>
          </a:p>
          <a:p>
            <a:r>
              <a:rPr lang="en-US" dirty="0"/>
              <a:t>Additionally, you can integrate AWS Shield with AWS WAF by writing custom rules to mitigate complex DDoS attacks.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2002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AWS WAF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AWS WAF </a:t>
            </a:r>
            <a:r>
              <a:rPr lang="en-US" dirty="0"/>
              <a:t>is a web application firewall that monitors network requests that come into your web applications. </a:t>
            </a:r>
            <a:endParaRPr lang="en-US" dirty="0" smtClean="0"/>
          </a:p>
          <a:p>
            <a:r>
              <a:rPr lang="en-US" dirty="0" smtClean="0"/>
              <a:t>When </a:t>
            </a:r>
            <a:r>
              <a:rPr lang="en-US" dirty="0"/>
              <a:t>a request comes into AWS WAF, it checks the IP address against a web access control list (web ACL).</a:t>
            </a:r>
            <a:r>
              <a:rPr lang="en-US" dirty="0"/>
              <a:t> </a:t>
            </a:r>
            <a:endParaRPr lang="en-US" dirty="0" smtClean="0"/>
          </a:p>
          <a:p>
            <a:r>
              <a:rPr lang="en-US" dirty="0" smtClean="0"/>
              <a:t>If </a:t>
            </a:r>
            <a:r>
              <a:rPr lang="en-US" dirty="0"/>
              <a:t>the request comes from a blocked IP address on the web ACL, AWS WAF denies access.</a:t>
            </a:r>
            <a:r>
              <a:rPr lang="en-US" b="1" dirty="0"/>
              <a:t> </a:t>
            </a:r>
            <a:r>
              <a:rPr lang="en-US" dirty="0"/>
              <a:t>Legitimate requests are allowed access.</a:t>
            </a:r>
          </a:p>
        </p:txBody>
      </p:sp>
    </p:spTree>
    <p:extLst>
      <p:ext uri="{BB962C8B-B14F-4D97-AF65-F5344CB8AC3E}">
        <p14:creationId xmlns:p14="http://schemas.microsoft.com/office/powerpoint/2010/main" val="2217541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9328" y="2696845"/>
            <a:ext cx="10515600" cy="1325563"/>
          </a:xfrm>
        </p:spPr>
        <p:txBody>
          <a:bodyPr/>
          <a:lstStyle/>
          <a:p>
            <a:pPr algn="ctr"/>
            <a:r>
              <a:rPr lang="en-US" b="1" dirty="0"/>
              <a:t>Protecting Data</a:t>
            </a:r>
          </a:p>
        </p:txBody>
      </p:sp>
    </p:spTree>
    <p:extLst>
      <p:ext uri="{BB962C8B-B14F-4D97-AF65-F5344CB8AC3E}">
        <p14:creationId xmlns:p14="http://schemas.microsoft.com/office/powerpoint/2010/main" val="285465039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 this lesson, you will </a:t>
            </a:r>
            <a:r>
              <a:rPr lang="en-US" b="1" dirty="0" smtClean="0"/>
              <a:t>learn: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Define data encryption at rest and in transit.</a:t>
            </a:r>
          </a:p>
          <a:p>
            <a:r>
              <a:rPr lang="en-US" dirty="0"/>
              <a:t>Describe how various AWS services protect data at rest and in transit.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50174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AWS Key Management Service (AWS KMS)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You can use AWS KMS to create and manage cryptographic keys. </a:t>
            </a:r>
            <a:endParaRPr lang="en-US" dirty="0" smtClean="0"/>
          </a:p>
          <a:p>
            <a:r>
              <a:rPr lang="en-US" dirty="0" smtClean="0"/>
              <a:t>These </a:t>
            </a:r>
            <a:r>
              <a:rPr lang="en-US" dirty="0"/>
              <a:t>keys can then be used to encrypt and decrypt your data. </a:t>
            </a:r>
            <a:endParaRPr lang="en-US" dirty="0" smtClean="0"/>
          </a:p>
          <a:p>
            <a:r>
              <a:rPr lang="en-US" dirty="0" smtClean="0"/>
              <a:t>You </a:t>
            </a:r>
            <a:r>
              <a:rPr lang="en-US" dirty="0"/>
              <a:t>can also control the use of keys across a wide range of services and in your applications. </a:t>
            </a:r>
            <a:endParaRPr lang="en-US" dirty="0" smtClean="0"/>
          </a:p>
          <a:p>
            <a:r>
              <a:rPr lang="en-US" dirty="0" smtClean="0"/>
              <a:t>For </a:t>
            </a:r>
            <a:r>
              <a:rPr lang="en-US" dirty="0"/>
              <a:t>example, you can specify which IAM users and roles can manage keys. </a:t>
            </a:r>
            <a:endParaRPr lang="en-US" dirty="0" smtClean="0"/>
          </a:p>
          <a:p>
            <a:r>
              <a:rPr lang="en-US" dirty="0" smtClean="0"/>
              <a:t>Your </a:t>
            </a:r>
            <a:r>
              <a:rPr lang="en-US" dirty="0"/>
              <a:t>keys never leave AWS KMS, and you can temporarily disable them so they can no longer be used</a:t>
            </a:r>
            <a:r>
              <a:rPr lang="en-US" dirty="0" smtClean="0"/>
              <a:t>.</a:t>
            </a:r>
          </a:p>
          <a:p>
            <a:r>
              <a:rPr lang="en-US" altLang="en-US" i="1" dirty="0">
                <a:latin typeface="Arial" panose="020B0604020202020204" pitchFamily="34" charset="0"/>
              </a:rPr>
              <a:t>A </a:t>
            </a:r>
            <a:r>
              <a:rPr lang="en-US" altLang="en-US" b="1" i="1" dirty="0">
                <a:latin typeface="Arial" panose="020B0604020202020204" pitchFamily="34" charset="0"/>
              </a:rPr>
              <a:t>cryptographic key</a:t>
            </a:r>
            <a:r>
              <a:rPr lang="en-US" altLang="en-US" i="1" dirty="0">
                <a:latin typeface="Arial" panose="020B0604020202020204" pitchFamily="34" charset="0"/>
              </a:rPr>
              <a:t> is a random string of digits used for locking (encrypting) and unlocking (decrypting) data.</a:t>
            </a:r>
            <a:endParaRPr lang="en-US" altLang="en-US" dirty="0">
              <a:latin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943328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Amazon Macie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With Amazon Macie, you can monitor your sensitive data </a:t>
            </a:r>
            <a:r>
              <a:rPr lang="en-US" b="1" dirty="0"/>
              <a:t>at rest </a:t>
            </a:r>
            <a:r>
              <a:rPr lang="en-US" dirty="0"/>
              <a:t>to make sure it's safe. </a:t>
            </a:r>
            <a:endParaRPr lang="en-US" dirty="0" smtClean="0"/>
          </a:p>
          <a:p>
            <a:r>
              <a:rPr lang="en-US" dirty="0" smtClean="0"/>
              <a:t>Macie </a:t>
            </a:r>
            <a:r>
              <a:rPr lang="en-US" dirty="0"/>
              <a:t>uses machine learning (ML) and automation to discover sensitive data stored in Amazon S3. </a:t>
            </a:r>
            <a:endParaRPr lang="en-US" dirty="0" smtClean="0"/>
          </a:p>
          <a:p>
            <a:r>
              <a:rPr lang="en-US" dirty="0" smtClean="0"/>
              <a:t>You </a:t>
            </a:r>
            <a:r>
              <a:rPr lang="en-US" dirty="0"/>
              <a:t>can use Macie to assess your security posture, which is especially helpful for meeting compliance requirements.</a:t>
            </a:r>
          </a:p>
        </p:txBody>
      </p:sp>
    </p:spTree>
    <p:extLst>
      <p:ext uri="{BB962C8B-B14F-4D97-AF65-F5344CB8AC3E}">
        <p14:creationId xmlns:p14="http://schemas.microsoft.com/office/powerpoint/2010/main" val="57616891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AWS Certificate Manager (ACM)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ACM centralizes the management of your SSL/TLS certificates that provide data encryption </a:t>
            </a:r>
            <a:r>
              <a:rPr lang="en-US" b="1" dirty="0"/>
              <a:t>in transit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smtClean="0"/>
              <a:t>It </a:t>
            </a:r>
            <a:r>
              <a:rPr lang="en-US" dirty="0"/>
              <a:t>can be used to protect various AWS services and your connected </a:t>
            </a:r>
            <a:r>
              <a:rPr lang="en-US" dirty="0" smtClean="0"/>
              <a:t>on-premises resources.</a:t>
            </a:r>
          </a:p>
          <a:p>
            <a:endParaRPr lang="en-US" dirty="0"/>
          </a:p>
          <a:p>
            <a:r>
              <a:rPr lang="en-US" altLang="en-US" b="1" i="1" dirty="0">
                <a:latin typeface="Arial" panose="020B0604020202020204" pitchFamily="34" charset="0"/>
              </a:rPr>
              <a:t>SSL/TLS certificates</a:t>
            </a:r>
            <a:r>
              <a:rPr lang="en-US" altLang="en-US" i="1" dirty="0">
                <a:latin typeface="Arial" panose="020B0604020202020204" pitchFamily="34" charset="0"/>
              </a:rPr>
              <a:t> are used to establish encrypted network connections from one system to another.</a:t>
            </a:r>
            <a:endParaRPr lang="en-US" altLang="en-US" dirty="0">
              <a:latin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947222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97429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Detecting and Responding to Security </a:t>
            </a:r>
            <a:r>
              <a:rPr lang="en-US" b="1" dirty="0" smtClean="0"/>
              <a:t>Incidents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56920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 this lesson, you will </a:t>
            </a:r>
            <a:r>
              <a:rPr lang="en-US" b="1" dirty="0" smtClean="0"/>
              <a:t>learn: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Describe how various AWS services help customers detect and respond to security incidents.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906198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Detection and response </a:t>
            </a:r>
            <a:r>
              <a:rPr lang="en-US" b="1" dirty="0" smtClean="0"/>
              <a:t>services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Preventing and protecting against security threats are two methods for securing your AWS resources. </a:t>
            </a:r>
            <a:endParaRPr lang="ar-EG" dirty="0" smtClean="0"/>
          </a:p>
          <a:p>
            <a:r>
              <a:rPr lang="en-US" dirty="0" smtClean="0"/>
              <a:t>You </a:t>
            </a:r>
            <a:r>
              <a:rPr lang="en-US" dirty="0"/>
              <a:t>should also be prepared to detect and respond to security incidents that might occur. </a:t>
            </a:r>
            <a:endParaRPr lang="ar-EG" dirty="0" smtClean="0"/>
          </a:p>
          <a:p>
            <a:r>
              <a:rPr lang="en-US" dirty="0" smtClean="0"/>
              <a:t>AWS </a:t>
            </a:r>
            <a:r>
              <a:rPr lang="en-US" dirty="0"/>
              <a:t>offers a variety of services you can use to detect and respond to security </a:t>
            </a:r>
            <a:r>
              <a:rPr lang="en-US" dirty="0" smtClean="0"/>
              <a:t>incidents</a:t>
            </a:r>
            <a:r>
              <a:rPr lang="ar-EG" dirty="0" smtClean="0"/>
              <a:t>:</a:t>
            </a:r>
            <a:endParaRPr lang="en-US" dirty="0" smtClean="0"/>
          </a:p>
          <a:p>
            <a:pPr lvl="1"/>
            <a:r>
              <a:rPr lang="en-US" b="1" dirty="0"/>
              <a:t>Amazon </a:t>
            </a:r>
            <a:r>
              <a:rPr lang="en-US" b="1" dirty="0" smtClean="0"/>
              <a:t>Inspector</a:t>
            </a:r>
          </a:p>
          <a:p>
            <a:pPr lvl="1"/>
            <a:r>
              <a:rPr lang="en-US" b="1" dirty="0"/>
              <a:t>Amazon </a:t>
            </a:r>
            <a:r>
              <a:rPr lang="en-US" b="1" dirty="0" err="1" smtClean="0"/>
              <a:t>GuardDuty</a:t>
            </a:r>
            <a:endParaRPr lang="en-US" b="1" dirty="0" smtClean="0"/>
          </a:p>
          <a:p>
            <a:pPr lvl="1"/>
            <a:r>
              <a:rPr lang="en-US" b="1" dirty="0"/>
              <a:t>Amazon </a:t>
            </a:r>
            <a:r>
              <a:rPr lang="en-US" b="1" dirty="0" smtClean="0"/>
              <a:t>Detective</a:t>
            </a:r>
          </a:p>
          <a:p>
            <a:pPr lvl="1"/>
            <a:r>
              <a:rPr lang="en-US" b="1" dirty="0"/>
              <a:t>AWS Security Hub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776545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Amazon Inspector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Amazon Inspector helps improve the security and compliance of applications by running automated security assessments for Amazon EC2 instances, containers, and Lambda functions. </a:t>
            </a:r>
            <a:endParaRPr lang="en-US" dirty="0" smtClean="0"/>
          </a:p>
          <a:p>
            <a:r>
              <a:rPr lang="en-US" dirty="0" smtClean="0"/>
              <a:t>It </a:t>
            </a:r>
            <a:r>
              <a:rPr lang="en-US" dirty="0"/>
              <a:t>checks applications for security vulnerabilities and deviations from security best practices, such as open access to EC2 instances and installations of vulnerable software versions.</a:t>
            </a:r>
          </a:p>
          <a:p>
            <a:r>
              <a:rPr lang="en-US" dirty="0"/>
              <a:t>You can view completed assessments in the </a:t>
            </a:r>
            <a:r>
              <a:rPr lang="en-US" b="1" dirty="0"/>
              <a:t>Amazon Inspector console</a:t>
            </a:r>
            <a:r>
              <a:rPr lang="en-US" dirty="0"/>
              <a:t>. </a:t>
            </a:r>
            <a:endParaRPr lang="en-US" dirty="0" smtClean="0"/>
          </a:p>
          <a:p>
            <a:r>
              <a:rPr lang="en-US" dirty="0" smtClean="0"/>
              <a:t>These </a:t>
            </a:r>
            <a:r>
              <a:rPr lang="en-US" dirty="0"/>
              <a:t>assessments include a list of security findings prioritized by severity level. </a:t>
            </a:r>
            <a:endParaRPr lang="en-US" dirty="0" smtClean="0"/>
          </a:p>
          <a:p>
            <a:r>
              <a:rPr lang="en-US" dirty="0" smtClean="0"/>
              <a:t>Each </a:t>
            </a:r>
            <a:r>
              <a:rPr lang="en-US" dirty="0"/>
              <a:t>identified security issue includes a detailed description and a recommendation for how to fix it. </a:t>
            </a:r>
            <a:endParaRPr lang="en-US" dirty="0" smtClean="0"/>
          </a:p>
          <a:p>
            <a:r>
              <a:rPr lang="en-US" dirty="0" smtClean="0"/>
              <a:t>You </a:t>
            </a:r>
            <a:r>
              <a:rPr lang="en-US" dirty="0"/>
              <a:t>can also retrieve these findings through an API.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680019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Amazon </a:t>
            </a:r>
            <a:r>
              <a:rPr lang="en-US" b="1" dirty="0" err="1"/>
              <a:t>GuardDuty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Amazon </a:t>
            </a:r>
            <a:r>
              <a:rPr lang="en-US" dirty="0" err="1"/>
              <a:t>GuardDuty</a:t>
            </a:r>
            <a:r>
              <a:rPr lang="en-US" dirty="0"/>
              <a:t> provides intelligent threat detection across your infrastructure and resources. </a:t>
            </a:r>
            <a:endParaRPr lang="en-US" dirty="0" smtClean="0"/>
          </a:p>
          <a:p>
            <a:r>
              <a:rPr lang="en-US" dirty="0" err="1" smtClean="0"/>
              <a:t>GuardDuty</a:t>
            </a:r>
            <a:r>
              <a:rPr lang="en-US" dirty="0" smtClean="0"/>
              <a:t> </a:t>
            </a:r>
            <a:r>
              <a:rPr lang="en-US" dirty="0"/>
              <a:t>identifies threats by continuously monitoring streams of your account metadata and network activity in your environment. </a:t>
            </a:r>
            <a:endParaRPr lang="en-US" dirty="0" smtClean="0"/>
          </a:p>
          <a:p>
            <a:r>
              <a:rPr lang="en-US" dirty="0" smtClean="0"/>
              <a:t>It </a:t>
            </a:r>
            <a:r>
              <a:rPr lang="en-US" dirty="0"/>
              <a:t>uses known malicious IP addresses, anomaly detection, and machine learning to identify threats more accurately.</a:t>
            </a:r>
          </a:p>
          <a:p>
            <a:r>
              <a:rPr lang="en-US" dirty="0"/>
              <a:t>You can review detailed findings about any </a:t>
            </a:r>
            <a:r>
              <a:rPr lang="en-US" dirty="0" err="1"/>
              <a:t>GuardDuty</a:t>
            </a:r>
            <a:r>
              <a:rPr lang="en-US" dirty="0"/>
              <a:t> detected threats in the </a:t>
            </a:r>
            <a:r>
              <a:rPr lang="en-US" b="1" dirty="0"/>
              <a:t>AWS Management Console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smtClean="0"/>
              <a:t>Findings </a:t>
            </a:r>
            <a:r>
              <a:rPr lang="en-US" dirty="0"/>
              <a:t>include recommended steps for remediation. </a:t>
            </a:r>
            <a:endParaRPr lang="en-US" dirty="0" smtClean="0"/>
          </a:p>
          <a:p>
            <a:r>
              <a:rPr lang="en-US" dirty="0" smtClean="0"/>
              <a:t>You </a:t>
            </a:r>
            <a:r>
              <a:rPr lang="en-US" dirty="0"/>
              <a:t>can also configure AWS Lambda functions to perform remediation steps automatically.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341527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Amazon Detective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After a threat has been detected, you can use Amazon Detective to further investigate the root cause. </a:t>
            </a:r>
            <a:endParaRPr lang="en-US" dirty="0" smtClean="0"/>
          </a:p>
          <a:p>
            <a:r>
              <a:rPr lang="en-US" dirty="0" smtClean="0"/>
              <a:t>Detective</a:t>
            </a:r>
            <a:r>
              <a:rPr lang="en-US" dirty="0"/>
              <a:t> helps you analyze threats with interactive visualizations contained in a unified AWS Management Console view. </a:t>
            </a:r>
            <a:endParaRPr lang="en-US" dirty="0" smtClean="0"/>
          </a:p>
          <a:p>
            <a:r>
              <a:rPr lang="en-US" dirty="0" smtClean="0"/>
              <a:t>These </a:t>
            </a:r>
            <a:r>
              <a:rPr lang="en-US" dirty="0"/>
              <a:t>visualizations include resource and user interactions over a configurable timeline with recommended steps for remediation.</a:t>
            </a:r>
          </a:p>
        </p:txBody>
      </p:sp>
    </p:spTree>
    <p:extLst>
      <p:ext uri="{BB962C8B-B14F-4D97-AF65-F5344CB8AC3E}">
        <p14:creationId xmlns:p14="http://schemas.microsoft.com/office/powerpoint/2010/main" val="171853353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AWS Security Hub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Security Hub brings multiple security services together into a single place and format. </a:t>
            </a:r>
            <a:endParaRPr lang="en-US" dirty="0" smtClean="0"/>
          </a:p>
          <a:p>
            <a:r>
              <a:rPr lang="en-US" dirty="0" smtClean="0"/>
              <a:t>With </a:t>
            </a:r>
            <a:r>
              <a:rPr lang="en-US" dirty="0"/>
              <a:t>this service, you can quickly see your security and compliance state in one comprehensive view. </a:t>
            </a:r>
            <a:endParaRPr lang="en-US" dirty="0" smtClean="0"/>
          </a:p>
          <a:p>
            <a:r>
              <a:rPr lang="en-US" dirty="0" smtClean="0"/>
              <a:t>Security </a:t>
            </a:r>
            <a:r>
              <a:rPr lang="en-US" dirty="0"/>
              <a:t>Hub automatically aggregates security findings from AWS and partner services and organizes them into actionable, meaningful groupings called insights. </a:t>
            </a:r>
            <a:endParaRPr lang="en-US" dirty="0" smtClean="0"/>
          </a:p>
          <a:p>
            <a:r>
              <a:rPr lang="en-US" dirty="0" smtClean="0"/>
              <a:t>It </a:t>
            </a:r>
            <a:r>
              <a:rPr lang="en-US" dirty="0"/>
              <a:t>can accelerate time to resolution (TTR) with automated remediation.</a:t>
            </a:r>
          </a:p>
        </p:txBody>
      </p:sp>
    </p:spTree>
    <p:extLst>
      <p:ext uri="{BB962C8B-B14F-4D97-AF65-F5344CB8AC3E}">
        <p14:creationId xmlns:p14="http://schemas.microsoft.com/office/powerpoint/2010/main" val="387611226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861437"/>
            <a:ext cx="10515600" cy="1325563"/>
          </a:xfrm>
        </p:spPr>
        <p:txBody>
          <a:bodyPr/>
          <a:lstStyle/>
          <a:p>
            <a:pPr algn="ctr"/>
            <a:r>
              <a:rPr lang="en-US" b="1" dirty="0"/>
              <a:t>Additional Security </a:t>
            </a:r>
            <a:r>
              <a:rPr lang="en-US" b="1" dirty="0" smtClean="0"/>
              <a:t>Resources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010374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 this lesson, you will </a:t>
            </a:r>
            <a:r>
              <a:rPr lang="en-US" b="1" dirty="0" smtClean="0"/>
              <a:t>learn: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Identify sources of AWS security documentation.</a:t>
            </a:r>
          </a:p>
          <a:p>
            <a:r>
              <a:rPr lang="en-US" dirty="0"/>
              <a:t>Identify security resources available on the AWS Marketplace.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840535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AWS security </a:t>
            </a:r>
            <a:r>
              <a:rPr lang="en-US" b="1" dirty="0" smtClean="0"/>
              <a:t>documentation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There are lots of considerations when dealing with security on AWS. </a:t>
            </a:r>
            <a:endParaRPr lang="en-US" dirty="0" smtClean="0"/>
          </a:p>
          <a:p>
            <a:r>
              <a:rPr lang="en-US" dirty="0" smtClean="0"/>
              <a:t>Make </a:t>
            </a:r>
            <a:r>
              <a:rPr lang="en-US" dirty="0"/>
              <a:t>sure you read the documentation on securing your AWS resources because it varies from service to service</a:t>
            </a:r>
            <a:r>
              <a:rPr lang="en-US" dirty="0" smtClean="0"/>
              <a:t>.</a:t>
            </a:r>
            <a:endParaRPr lang="en-US" dirty="0"/>
          </a:p>
          <a:p>
            <a:pPr lvl="1"/>
            <a:r>
              <a:rPr lang="en-US" dirty="0"/>
              <a:t>For general information on AWS security, identity, and compliance services, refer to </a:t>
            </a:r>
            <a:r>
              <a:rPr lang="en-US" b="1" dirty="0">
                <a:hlinkClick r:id="rId2"/>
              </a:rPr>
              <a:t>Security, Identity, and Compliance on </a:t>
            </a:r>
            <a:r>
              <a:rPr lang="en-US" b="1" dirty="0" smtClean="0">
                <a:hlinkClick r:id="rId2"/>
              </a:rPr>
              <a:t>AWS</a:t>
            </a:r>
            <a:r>
              <a:rPr lang="en-US" dirty="0" smtClean="0"/>
              <a:t>.</a:t>
            </a:r>
            <a:endParaRPr lang="en-US" dirty="0"/>
          </a:p>
          <a:p>
            <a:pPr lvl="1"/>
            <a:r>
              <a:rPr lang="en-US" dirty="0"/>
              <a:t>To find answers to questions, troubleshoot issues, and learn more about AWS security services, refer to the </a:t>
            </a:r>
            <a:r>
              <a:rPr lang="en-US" b="1" dirty="0">
                <a:hlinkClick r:id="rId3"/>
              </a:rPr>
              <a:t>Knowledge </a:t>
            </a:r>
            <a:r>
              <a:rPr lang="en-US" b="1" dirty="0" smtClean="0">
                <a:hlinkClick r:id="rId3"/>
              </a:rPr>
              <a:t>Center</a:t>
            </a:r>
            <a:r>
              <a:rPr lang="en-US" dirty="0" smtClean="0"/>
              <a:t>.</a:t>
            </a:r>
            <a:endParaRPr lang="en-US" dirty="0"/>
          </a:p>
          <a:p>
            <a:pPr lvl="1"/>
            <a:r>
              <a:rPr lang="en-US" dirty="0"/>
              <a:t>To search through documentation by product category, refer to </a:t>
            </a:r>
            <a:r>
              <a:rPr lang="en-US" b="1" dirty="0">
                <a:hlinkClick r:id="rId4"/>
              </a:rPr>
              <a:t>AWS Security </a:t>
            </a:r>
            <a:r>
              <a:rPr lang="en-US" b="1" dirty="0" smtClean="0">
                <a:hlinkClick r:id="rId4"/>
              </a:rPr>
              <a:t>Documentation</a:t>
            </a:r>
            <a:r>
              <a:rPr lang="en-US" dirty="0" smtClean="0"/>
              <a:t>.</a:t>
            </a:r>
            <a:endParaRPr lang="en-US" dirty="0"/>
          </a:p>
          <a:p>
            <a:pPr lvl="1"/>
            <a:r>
              <a:rPr lang="en-US" dirty="0"/>
              <a:t>For expert insights, best practices, and updates on security-related features, refer to the </a:t>
            </a:r>
            <a:r>
              <a:rPr lang="en-US" b="1" dirty="0">
                <a:hlinkClick r:id="rId5"/>
              </a:rPr>
              <a:t>AWS Security </a:t>
            </a:r>
            <a:r>
              <a:rPr lang="en-US" b="1" dirty="0" smtClean="0">
                <a:hlinkClick r:id="rId5"/>
              </a:rPr>
              <a:t>Blog</a:t>
            </a:r>
            <a:r>
              <a:rPr lang="en-US" dirty="0" smtClean="0"/>
              <a:t>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237021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AWS Marketplace security </a:t>
            </a:r>
            <a:r>
              <a:rPr lang="en-US" b="1" dirty="0" smtClean="0"/>
              <a:t>resources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AWS Marketplace provides a digital catalog where you can purchase third-party software and services that run on AWS. </a:t>
            </a:r>
            <a:endParaRPr lang="en-US" dirty="0" smtClean="0"/>
          </a:p>
          <a:p>
            <a:r>
              <a:rPr lang="en-US" dirty="0" smtClean="0"/>
              <a:t>This </a:t>
            </a:r>
            <a:r>
              <a:rPr lang="en-US" dirty="0"/>
              <a:t>includes the following types of security services.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0" y="3251676"/>
            <a:ext cx="7533703" cy="3158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57566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Recap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Building and maintaining a secure environment in the cloud is an important responsibility. </a:t>
            </a:r>
            <a:endParaRPr lang="en-US" dirty="0" smtClean="0"/>
          </a:p>
          <a:p>
            <a:r>
              <a:rPr lang="en-US" dirty="0" smtClean="0"/>
              <a:t>AWS </a:t>
            </a:r>
            <a:r>
              <a:rPr lang="en-US" dirty="0"/>
              <a:t>shares this responsibility with its customers. </a:t>
            </a:r>
            <a:endParaRPr lang="en-US" dirty="0" smtClean="0"/>
          </a:p>
          <a:p>
            <a:r>
              <a:rPr lang="en-US" dirty="0" smtClean="0"/>
              <a:t>In </a:t>
            </a:r>
            <a:r>
              <a:rPr lang="en-US" dirty="0"/>
              <a:t>the previous lessons, you learned about important security concepts, mechanisms, and services that help protect your cloud resources.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92070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Resources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97963054"/>
              </p:ext>
            </p:extLst>
          </p:nvPr>
        </p:nvGraphicFramePr>
        <p:xfrm>
          <a:off x="918590" y="1340472"/>
          <a:ext cx="5509641" cy="5362084"/>
        </p:xfrm>
        <a:graphic>
          <a:graphicData uri="http://schemas.openxmlformats.org/drawingml/2006/table">
            <a:tbl>
              <a:tblPr/>
              <a:tblGrid>
                <a:gridCol w="1716491"/>
                <a:gridCol w="3793150"/>
              </a:tblGrid>
              <a:tr h="218182"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effectLst/>
                        </a:rPr>
                        <a:t>Resource link</a:t>
                      </a:r>
                    </a:p>
                  </a:txBody>
                  <a:tcPr marL="44401" marR="44401" marT="22201" marB="222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>
                          <a:effectLst/>
                        </a:rPr>
                        <a:t>Description</a:t>
                      </a:r>
                    </a:p>
                  </a:txBody>
                  <a:tcPr marL="44401" marR="44401" marT="22201" marB="222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47830"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effectLst/>
                          <a:hlinkClick r:id="rId2"/>
                        </a:rPr>
                        <a:t>AWS Identity and Access Management (IAM</a:t>
                      </a:r>
                      <a:r>
                        <a:rPr lang="en-US" sz="900" dirty="0" smtClean="0">
                          <a:effectLst/>
                          <a:hlinkClick r:id="rId2"/>
                        </a:rPr>
                        <a:t>)</a:t>
                      </a:r>
                      <a:endParaRPr lang="en-US" sz="900" dirty="0">
                        <a:effectLst/>
                      </a:endParaRPr>
                    </a:p>
                  </a:txBody>
                  <a:tcPr marL="44401" marR="44401" marT="22201" marB="222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>
                          <a:solidFill>
                            <a:srgbClr val="0F141A"/>
                          </a:solidFill>
                          <a:effectLst/>
                        </a:rPr>
                        <a:t>Securely manage identities and access to AWS services and resources.</a:t>
                      </a:r>
                      <a:endParaRPr lang="en-US" sz="900">
                        <a:effectLst/>
                      </a:endParaRPr>
                    </a:p>
                  </a:txBody>
                  <a:tcPr marL="44401" marR="44401" marT="22201" marB="222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3006"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effectLst/>
                          <a:hlinkClick r:id="rId3"/>
                        </a:rPr>
                        <a:t>AWS IAM Identity </a:t>
                      </a:r>
                      <a:r>
                        <a:rPr lang="en-US" sz="900" dirty="0" smtClean="0">
                          <a:effectLst/>
                          <a:hlinkClick r:id="rId3"/>
                        </a:rPr>
                        <a:t>Center</a:t>
                      </a:r>
                      <a:endParaRPr lang="en-US" sz="900" dirty="0">
                        <a:effectLst/>
                      </a:endParaRPr>
                    </a:p>
                  </a:txBody>
                  <a:tcPr marL="44401" marR="44401" marT="22201" marB="222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>
                          <a:effectLst/>
                        </a:rPr>
                        <a:t>Connect your existing workforce identity source and centrally manage access to AWS with single sign-on.</a:t>
                      </a:r>
                    </a:p>
                  </a:txBody>
                  <a:tcPr marL="44401" marR="44401" marT="22201" marB="222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3006"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effectLst/>
                          <a:hlinkClick r:id="rId4"/>
                        </a:rPr>
                        <a:t>AWS Secrets </a:t>
                      </a:r>
                      <a:r>
                        <a:rPr lang="en-US" sz="900" dirty="0" smtClean="0">
                          <a:effectLst/>
                          <a:hlinkClick r:id="rId4"/>
                        </a:rPr>
                        <a:t>Manager</a:t>
                      </a:r>
                      <a:endParaRPr lang="en-US" sz="900" dirty="0">
                        <a:effectLst/>
                      </a:endParaRPr>
                    </a:p>
                  </a:txBody>
                  <a:tcPr marL="44401" marR="44401" marT="22201" marB="222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>
                          <a:effectLst/>
                        </a:rPr>
                        <a:t>Centrally store and manage credentials, API keys, and other secrets.</a:t>
                      </a:r>
                    </a:p>
                  </a:txBody>
                  <a:tcPr marL="44401" marR="44401" marT="22201" marB="222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3006"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effectLst/>
                          <a:hlinkClick r:id="rId5"/>
                        </a:rPr>
                        <a:t>AWS Systems </a:t>
                      </a:r>
                      <a:r>
                        <a:rPr lang="en-US" sz="900" dirty="0" smtClean="0">
                          <a:effectLst/>
                          <a:hlinkClick r:id="rId5"/>
                        </a:rPr>
                        <a:t>Manager</a:t>
                      </a:r>
                      <a:endParaRPr lang="en-US" sz="900" dirty="0">
                        <a:effectLst/>
                      </a:endParaRPr>
                    </a:p>
                  </a:txBody>
                  <a:tcPr marL="44401" marR="44401" marT="22201" marB="222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>
                          <a:effectLst/>
                        </a:rPr>
                        <a:t>Manage nodes, or </a:t>
                      </a:r>
                      <a:r>
                        <a:rPr lang="en-US" sz="900">
                          <a:solidFill>
                            <a:srgbClr val="232B37"/>
                          </a:solidFill>
                          <a:effectLst/>
                        </a:rPr>
                        <a:t>connection points, </a:t>
                      </a:r>
                      <a:r>
                        <a:rPr lang="en-US" sz="900">
                          <a:effectLst/>
                        </a:rPr>
                        <a:t>at scale on AWS and in multi-cloud and hybrid environments.</a:t>
                      </a:r>
                    </a:p>
                  </a:txBody>
                  <a:tcPr marL="44401" marR="44401" marT="22201" marB="222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3006"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effectLst/>
                          <a:hlinkClick r:id="rId6"/>
                        </a:rPr>
                        <a:t>AWS </a:t>
                      </a:r>
                      <a:r>
                        <a:rPr lang="en-US" sz="900" dirty="0" smtClean="0">
                          <a:effectLst/>
                          <a:hlinkClick r:id="rId6"/>
                        </a:rPr>
                        <a:t>Shield</a:t>
                      </a:r>
                      <a:endParaRPr lang="en-US" sz="900" dirty="0">
                        <a:effectLst/>
                      </a:endParaRPr>
                    </a:p>
                  </a:txBody>
                  <a:tcPr marL="44401" marR="44401" marT="22201" marB="222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</a:rPr>
                        <a:t>Protect your network and applications from the most common, frequently occurring types of DDoS attacks.</a:t>
                      </a:r>
                      <a:endParaRPr lang="en-US" sz="900">
                        <a:effectLst/>
                      </a:endParaRPr>
                    </a:p>
                  </a:txBody>
                  <a:tcPr marL="44401" marR="44401" marT="22201" marB="222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3006"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effectLst/>
                          <a:hlinkClick r:id="rId7"/>
                        </a:rPr>
                        <a:t>AWS </a:t>
                      </a:r>
                      <a:r>
                        <a:rPr lang="en-US" sz="900" dirty="0" smtClean="0">
                          <a:effectLst/>
                          <a:hlinkClick r:id="rId7"/>
                        </a:rPr>
                        <a:t>WAF</a:t>
                      </a:r>
                      <a:endParaRPr lang="en-US" sz="900" dirty="0">
                        <a:effectLst/>
                      </a:endParaRPr>
                    </a:p>
                  </a:txBody>
                  <a:tcPr marL="44401" marR="44401" marT="22201" marB="222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</a:rPr>
                        <a:t>Protect your network and applications from blocked IP addresses defined by a web ACL.</a:t>
                      </a:r>
                      <a:endParaRPr lang="en-US" sz="900">
                        <a:effectLst/>
                      </a:endParaRPr>
                    </a:p>
                  </a:txBody>
                  <a:tcPr marL="44401" marR="44401" marT="22201" marB="222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3006"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effectLst/>
                          <a:hlinkClick r:id="rId8"/>
                        </a:rPr>
                        <a:t>AWS Key Management Service (AWS KMS</a:t>
                      </a:r>
                      <a:r>
                        <a:rPr lang="en-US" sz="900" dirty="0" smtClean="0">
                          <a:effectLst/>
                          <a:hlinkClick r:id="rId8"/>
                        </a:rPr>
                        <a:t>)</a:t>
                      </a:r>
                      <a:endParaRPr lang="en-US" sz="900" dirty="0">
                        <a:effectLst/>
                      </a:endParaRPr>
                    </a:p>
                  </a:txBody>
                  <a:tcPr marL="44401" marR="44401" marT="22201" marB="222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>
                          <a:solidFill>
                            <a:srgbClr val="000000"/>
                          </a:solidFill>
                          <a:effectLst/>
                        </a:rPr>
                        <a:t>Create and manage cryptographic keys to encrypt and decrypt your data.</a:t>
                      </a:r>
                      <a:endParaRPr lang="en-US" sz="900">
                        <a:effectLst/>
                      </a:endParaRPr>
                    </a:p>
                  </a:txBody>
                  <a:tcPr marL="44401" marR="44401" marT="22201" marB="222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3006"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effectLst/>
                          <a:hlinkClick r:id="rId9"/>
                        </a:rPr>
                        <a:t>Amazon </a:t>
                      </a:r>
                      <a:r>
                        <a:rPr lang="en-US" sz="900" dirty="0" smtClean="0">
                          <a:effectLst/>
                          <a:hlinkClick r:id="rId9"/>
                        </a:rPr>
                        <a:t>Macie</a:t>
                      </a:r>
                      <a:endParaRPr lang="en-US" sz="900" dirty="0">
                        <a:effectLst/>
                      </a:endParaRPr>
                    </a:p>
                  </a:txBody>
                  <a:tcPr marL="44401" marR="44401" marT="22201" marB="222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>
                          <a:effectLst/>
                        </a:rPr>
                        <a:t>Certify that sensitive data is discovered and protected in Amazon S3.</a:t>
                      </a:r>
                    </a:p>
                  </a:txBody>
                  <a:tcPr marL="44401" marR="44401" marT="22201" marB="222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3006"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effectLst/>
                          <a:hlinkClick r:id="rId10"/>
                        </a:rPr>
                        <a:t>AWS Certificate Manager (ACM</a:t>
                      </a:r>
                      <a:r>
                        <a:rPr lang="en-US" sz="900" dirty="0" smtClean="0">
                          <a:effectLst/>
                          <a:hlinkClick r:id="rId10"/>
                        </a:rPr>
                        <a:t>)</a:t>
                      </a:r>
                      <a:endParaRPr lang="en-US" sz="900" dirty="0">
                        <a:effectLst/>
                      </a:endParaRPr>
                    </a:p>
                  </a:txBody>
                  <a:tcPr marL="44401" marR="44401" marT="22201" marB="222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>
                          <a:effectLst/>
                        </a:rPr>
                        <a:t>Create and manage SSL/TLS certificates that provide data encryption in transit.</a:t>
                      </a:r>
                    </a:p>
                  </a:txBody>
                  <a:tcPr marL="44401" marR="44401" marT="22201" marB="222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3006"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effectLst/>
                          <a:hlinkClick r:id="rId11"/>
                        </a:rPr>
                        <a:t>Amazon </a:t>
                      </a:r>
                      <a:r>
                        <a:rPr lang="en-US" sz="900" dirty="0" smtClean="0">
                          <a:effectLst/>
                          <a:hlinkClick r:id="rId11"/>
                        </a:rPr>
                        <a:t>Inspector</a:t>
                      </a:r>
                      <a:endParaRPr lang="en-US" sz="900" dirty="0">
                        <a:effectLst/>
                      </a:endParaRPr>
                    </a:p>
                  </a:txBody>
                  <a:tcPr marL="44401" marR="44401" marT="22201" marB="222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>
                          <a:effectLst/>
                        </a:rPr>
                        <a:t>Check applications for security vulnerabilities and deviations from security best practices.</a:t>
                      </a:r>
                    </a:p>
                  </a:txBody>
                  <a:tcPr marL="44401" marR="44401" marT="22201" marB="222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3006"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effectLst/>
                          <a:hlinkClick r:id="rId12"/>
                        </a:rPr>
                        <a:t>Amazon </a:t>
                      </a:r>
                      <a:r>
                        <a:rPr lang="en-US" sz="900" dirty="0" err="1" smtClean="0">
                          <a:effectLst/>
                          <a:hlinkClick r:id="rId12"/>
                        </a:rPr>
                        <a:t>GuardDuty</a:t>
                      </a:r>
                      <a:endParaRPr lang="en-US" sz="900" dirty="0">
                        <a:effectLst/>
                      </a:endParaRPr>
                    </a:p>
                  </a:txBody>
                  <a:tcPr marL="44401" marR="44401" marT="22201" marB="222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>
                          <a:effectLst/>
                        </a:rPr>
                        <a:t>Continuously monitor the AWS environment with intelligent threat detection.</a:t>
                      </a:r>
                    </a:p>
                  </a:txBody>
                  <a:tcPr marL="44401" marR="44401" marT="22201" marB="222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3006"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effectLst/>
                          <a:hlinkClick r:id="rId13"/>
                        </a:rPr>
                        <a:t>Amazon </a:t>
                      </a:r>
                      <a:r>
                        <a:rPr lang="en-US" sz="900" dirty="0" smtClean="0">
                          <a:effectLst/>
                          <a:hlinkClick r:id="rId13"/>
                        </a:rPr>
                        <a:t>Detective</a:t>
                      </a:r>
                      <a:endParaRPr lang="en-US" sz="900" dirty="0">
                        <a:effectLst/>
                      </a:endParaRPr>
                    </a:p>
                  </a:txBody>
                  <a:tcPr marL="44401" marR="44401" marT="22201" marB="222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>
                          <a:effectLst/>
                        </a:rPr>
                        <a:t>Analyze threats with interactive visualizations contained in a unified view.</a:t>
                      </a:r>
                    </a:p>
                  </a:txBody>
                  <a:tcPr marL="44401" marR="44401" marT="22201" marB="222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3006"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effectLst/>
                          <a:hlinkClick r:id="rId14"/>
                        </a:rPr>
                        <a:t>AWS Security </a:t>
                      </a:r>
                      <a:r>
                        <a:rPr lang="en-US" sz="900" dirty="0" smtClean="0">
                          <a:effectLst/>
                          <a:hlinkClick r:id="rId14"/>
                        </a:rPr>
                        <a:t>Hub</a:t>
                      </a:r>
                      <a:endParaRPr lang="en-US" sz="900" dirty="0">
                        <a:effectLst/>
                      </a:endParaRPr>
                    </a:p>
                  </a:txBody>
                  <a:tcPr marL="44401" marR="44401" marT="22201" marB="222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effectLst/>
                        </a:rPr>
                        <a:t>Aggregate security findings and organize them into actionable insights.</a:t>
                      </a:r>
                    </a:p>
                  </a:txBody>
                  <a:tcPr marL="44401" marR="44401" marT="22201" marB="222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76933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2952</TotalTime>
  <Words>1776</Words>
  <Application>Microsoft Office PowerPoint</Application>
  <PresentationFormat>Widescreen</PresentationFormat>
  <Paragraphs>248</Paragraphs>
  <Slides>48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2" baseType="lpstr">
      <vt:lpstr>Arial</vt:lpstr>
      <vt:lpstr>Calibri</vt:lpstr>
      <vt:lpstr>Calibri Light</vt:lpstr>
      <vt:lpstr>Office Theme</vt:lpstr>
      <vt:lpstr>Module 9</vt:lpstr>
      <vt:lpstr>Outline</vt:lpstr>
      <vt:lpstr>Introduction to Security on AWS</vt:lpstr>
      <vt:lpstr>In this lesson, you will learn:</vt:lpstr>
      <vt:lpstr>Key concepts</vt:lpstr>
      <vt:lpstr>Authentication and authorization</vt:lpstr>
      <vt:lpstr>AWS shared responsibility model</vt:lpstr>
      <vt:lpstr>AWS shared responsibility model</vt:lpstr>
      <vt:lpstr>AWS security controls</vt:lpstr>
      <vt:lpstr>Preventing Unauthorized Access</vt:lpstr>
      <vt:lpstr>In this lesson, you will learn:</vt:lpstr>
      <vt:lpstr>AWS Identity and Access Management (IAM)</vt:lpstr>
      <vt:lpstr>AWS Identity and Access Management (IAM)</vt:lpstr>
      <vt:lpstr>AWS Identity and Access Management (IAM)</vt:lpstr>
      <vt:lpstr>AWS Identity and Access Management (IAM)</vt:lpstr>
      <vt:lpstr>AWS Identity and Access Management (IAM)</vt:lpstr>
      <vt:lpstr>IAM demonstration</vt:lpstr>
      <vt:lpstr>Additional access management services</vt:lpstr>
      <vt:lpstr>AWS IAM Identity Center</vt:lpstr>
      <vt:lpstr>AWS Secrets Manager</vt:lpstr>
      <vt:lpstr>AWS Systems Manager</vt:lpstr>
      <vt:lpstr>Protecting Networks and Applications</vt:lpstr>
      <vt:lpstr>In this lesson, you will learn:</vt:lpstr>
      <vt:lpstr>Network and application attacks</vt:lpstr>
      <vt:lpstr>Network and application attacks</vt:lpstr>
      <vt:lpstr>AWS network and application protection</vt:lpstr>
      <vt:lpstr>AWS protection through infrastructure</vt:lpstr>
      <vt:lpstr>AWS protection through services</vt:lpstr>
      <vt:lpstr>AWS Shield</vt:lpstr>
      <vt:lpstr>AWS WAF</vt:lpstr>
      <vt:lpstr>Protecting Data</vt:lpstr>
      <vt:lpstr>In this lesson, you will learn:</vt:lpstr>
      <vt:lpstr>AWS Key Management Service (AWS KMS)</vt:lpstr>
      <vt:lpstr>Amazon Macie</vt:lpstr>
      <vt:lpstr>AWS Certificate Manager (ACM)</vt:lpstr>
      <vt:lpstr>Detecting and Responding to Security Incidents</vt:lpstr>
      <vt:lpstr>In this lesson, you will learn:</vt:lpstr>
      <vt:lpstr>Detection and response services</vt:lpstr>
      <vt:lpstr>Amazon Inspector</vt:lpstr>
      <vt:lpstr>Amazon GuardDuty</vt:lpstr>
      <vt:lpstr>Amazon Detective</vt:lpstr>
      <vt:lpstr>AWS Security Hub</vt:lpstr>
      <vt:lpstr>Additional Security Resources</vt:lpstr>
      <vt:lpstr>In this lesson, you will learn:</vt:lpstr>
      <vt:lpstr>AWS security documentation</vt:lpstr>
      <vt:lpstr>AWS Marketplace security resources</vt:lpstr>
      <vt:lpstr>Recap</vt:lpstr>
      <vt:lpstr>Resources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9</dc:title>
  <dc:creator>Microsoft account</dc:creator>
  <cp:lastModifiedBy>Microsoft account</cp:lastModifiedBy>
  <cp:revision>74</cp:revision>
  <dcterms:created xsi:type="dcterms:W3CDTF">2025-08-25T20:59:44Z</dcterms:created>
  <dcterms:modified xsi:type="dcterms:W3CDTF">2025-08-28T22:00:46Z</dcterms:modified>
</cp:coreProperties>
</file>