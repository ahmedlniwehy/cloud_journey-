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1BF2EAF-C645-4992-B85B-1BF26D955AE9}" type="datetimeFigureOut">
              <a:rPr lang="en-US" smtClean="0"/>
              <a:t>8/31/2025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129CD1-533B-42E3-AFB2-328B65334B81}" type="slidenum">
              <a:rPr lang="en-US" smtClean="0"/>
              <a:t>‹#›</a:t>
            </a:fld>
            <a:endParaRPr lang="en-US"/>
          </a:p>
        </p:txBody>
      </p:sp>
    </p:spTree>
    <p:extLst>
      <p:ext uri="{BB962C8B-B14F-4D97-AF65-F5344CB8AC3E}">
        <p14:creationId xmlns:p14="http://schemas.microsoft.com/office/powerpoint/2010/main" val="988348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BF2EAF-C645-4992-B85B-1BF26D955AE9}" type="datetimeFigureOut">
              <a:rPr lang="en-US" smtClean="0"/>
              <a:t>8/31/2025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129CD1-533B-42E3-AFB2-328B65334B81}" type="slidenum">
              <a:rPr lang="en-US" smtClean="0"/>
              <a:t>‹#›</a:t>
            </a:fld>
            <a:endParaRPr lang="en-US"/>
          </a:p>
        </p:txBody>
      </p:sp>
    </p:spTree>
    <p:extLst>
      <p:ext uri="{BB962C8B-B14F-4D97-AF65-F5344CB8AC3E}">
        <p14:creationId xmlns:p14="http://schemas.microsoft.com/office/powerpoint/2010/main" val="2513123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1BF2EAF-C645-4992-B85B-1BF26D955AE9}" type="datetimeFigureOut">
              <a:rPr lang="en-US" smtClean="0"/>
              <a:t>8/31/2025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129CD1-533B-42E3-AFB2-328B65334B81}" type="slidenum">
              <a:rPr lang="en-US" smtClean="0"/>
              <a:t>‹#›</a:t>
            </a:fld>
            <a:endParaRPr lang="en-US"/>
          </a:p>
        </p:txBody>
      </p:sp>
    </p:spTree>
    <p:extLst>
      <p:ext uri="{BB962C8B-B14F-4D97-AF65-F5344CB8AC3E}">
        <p14:creationId xmlns:p14="http://schemas.microsoft.com/office/powerpoint/2010/main" val="1301710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1BF2EAF-C645-4992-B85B-1BF26D955AE9}" type="datetimeFigureOut">
              <a:rPr lang="en-US" smtClean="0"/>
              <a:t>8/31/2025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129CD1-533B-42E3-AFB2-328B65334B81}" type="slidenum">
              <a:rPr lang="en-US" smtClean="0"/>
              <a:t>‹#›</a:t>
            </a:fld>
            <a:endParaRPr lang="en-US"/>
          </a:p>
        </p:txBody>
      </p:sp>
    </p:spTree>
    <p:extLst>
      <p:ext uri="{BB962C8B-B14F-4D97-AF65-F5344CB8AC3E}">
        <p14:creationId xmlns:p14="http://schemas.microsoft.com/office/powerpoint/2010/main" val="3768686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1BF2EAF-C645-4992-B85B-1BF26D955AE9}" type="datetimeFigureOut">
              <a:rPr lang="en-US" smtClean="0"/>
              <a:t>8/31/2025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129CD1-533B-42E3-AFB2-328B65334B81}" type="slidenum">
              <a:rPr lang="en-US" smtClean="0"/>
              <a:t>‹#›</a:t>
            </a:fld>
            <a:endParaRPr lang="en-US"/>
          </a:p>
        </p:txBody>
      </p:sp>
    </p:spTree>
    <p:extLst>
      <p:ext uri="{BB962C8B-B14F-4D97-AF65-F5344CB8AC3E}">
        <p14:creationId xmlns:p14="http://schemas.microsoft.com/office/powerpoint/2010/main" val="2620948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1BF2EAF-C645-4992-B85B-1BF26D955AE9}" type="datetimeFigureOut">
              <a:rPr lang="en-US" smtClean="0"/>
              <a:t>8/31/2025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129CD1-533B-42E3-AFB2-328B65334B81}" type="slidenum">
              <a:rPr lang="en-US" smtClean="0"/>
              <a:t>‹#›</a:t>
            </a:fld>
            <a:endParaRPr lang="en-US"/>
          </a:p>
        </p:txBody>
      </p:sp>
    </p:spTree>
    <p:extLst>
      <p:ext uri="{BB962C8B-B14F-4D97-AF65-F5344CB8AC3E}">
        <p14:creationId xmlns:p14="http://schemas.microsoft.com/office/powerpoint/2010/main" val="1030234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BF2EAF-C645-4992-B85B-1BF26D955AE9}" type="datetimeFigureOut">
              <a:rPr lang="en-US" smtClean="0"/>
              <a:t>8/31/2025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129CD1-533B-42E3-AFB2-328B65334B81}" type="slidenum">
              <a:rPr lang="en-US" smtClean="0"/>
              <a:t>‹#›</a:t>
            </a:fld>
            <a:endParaRPr lang="en-US"/>
          </a:p>
        </p:txBody>
      </p:sp>
    </p:spTree>
    <p:extLst>
      <p:ext uri="{BB962C8B-B14F-4D97-AF65-F5344CB8AC3E}">
        <p14:creationId xmlns:p14="http://schemas.microsoft.com/office/powerpoint/2010/main" val="1293210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BF2EAF-C645-4992-B85B-1BF26D955AE9}" type="datetimeFigureOut">
              <a:rPr lang="en-US" smtClean="0"/>
              <a:t>8/31/2025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129CD1-533B-42E3-AFB2-328B65334B81}" type="slidenum">
              <a:rPr lang="en-US" smtClean="0"/>
              <a:t>‹#›</a:t>
            </a:fld>
            <a:endParaRPr lang="en-US"/>
          </a:p>
        </p:txBody>
      </p:sp>
    </p:spTree>
    <p:extLst>
      <p:ext uri="{BB962C8B-B14F-4D97-AF65-F5344CB8AC3E}">
        <p14:creationId xmlns:p14="http://schemas.microsoft.com/office/powerpoint/2010/main" val="279192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BF2EAF-C645-4992-B85B-1BF26D955AE9}" type="datetimeFigureOut">
              <a:rPr lang="en-US" smtClean="0"/>
              <a:t>8/31/2025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129CD1-533B-42E3-AFB2-328B65334B81}" type="slidenum">
              <a:rPr lang="en-US" smtClean="0"/>
              <a:t>‹#›</a:t>
            </a:fld>
            <a:endParaRPr lang="en-US"/>
          </a:p>
        </p:txBody>
      </p:sp>
    </p:spTree>
    <p:extLst>
      <p:ext uri="{BB962C8B-B14F-4D97-AF65-F5344CB8AC3E}">
        <p14:creationId xmlns:p14="http://schemas.microsoft.com/office/powerpoint/2010/main" val="3353025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BF2EAF-C645-4992-B85B-1BF26D955AE9}" type="datetimeFigureOut">
              <a:rPr lang="en-US" smtClean="0"/>
              <a:t>8/31/2025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129CD1-533B-42E3-AFB2-328B65334B81}" type="slidenum">
              <a:rPr lang="en-US" smtClean="0"/>
              <a:t>‹#›</a:t>
            </a:fld>
            <a:endParaRPr lang="en-US"/>
          </a:p>
        </p:txBody>
      </p:sp>
    </p:spTree>
    <p:extLst>
      <p:ext uri="{BB962C8B-B14F-4D97-AF65-F5344CB8AC3E}">
        <p14:creationId xmlns:p14="http://schemas.microsoft.com/office/powerpoint/2010/main" val="2793495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BF2EAF-C645-4992-B85B-1BF26D955AE9}" type="datetimeFigureOut">
              <a:rPr lang="en-US" smtClean="0"/>
              <a:t>8/31/2025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129CD1-533B-42E3-AFB2-328B65334B81}" type="slidenum">
              <a:rPr lang="en-US" smtClean="0"/>
              <a:t>‹#›</a:t>
            </a:fld>
            <a:endParaRPr lang="en-US"/>
          </a:p>
        </p:txBody>
      </p:sp>
    </p:spTree>
    <p:extLst>
      <p:ext uri="{BB962C8B-B14F-4D97-AF65-F5344CB8AC3E}">
        <p14:creationId xmlns:p14="http://schemas.microsoft.com/office/powerpoint/2010/main" val="626346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BF2EAF-C645-4992-B85B-1BF26D955AE9}" type="datetimeFigureOut">
              <a:rPr lang="en-US" smtClean="0"/>
              <a:t>8/31/2025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129CD1-533B-42E3-AFB2-328B65334B81}" type="slidenum">
              <a:rPr lang="en-US" smtClean="0"/>
              <a:t>‹#›</a:t>
            </a:fld>
            <a:endParaRPr lang="en-US"/>
          </a:p>
        </p:txBody>
      </p:sp>
    </p:spTree>
    <p:extLst>
      <p:ext uri="{BB962C8B-B14F-4D97-AF65-F5344CB8AC3E}">
        <p14:creationId xmlns:p14="http://schemas.microsoft.com/office/powerpoint/2010/main" val="38790667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aws.amazon.com/compliance/resources/" TargetMode="External"/><Relationship Id="rId2" Type="http://schemas.openxmlformats.org/officeDocument/2006/relationships/hyperlink" Target="https://aws.amazon.com/complianc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docs.aws.amazon.com/organizations/latest/userguide/orgs_introduction.html"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smtClean="0"/>
              <a:t>Module 10 </a:t>
            </a:r>
            <a:endParaRPr lang="en-US" dirty="0"/>
          </a:p>
        </p:txBody>
      </p:sp>
      <p:sp>
        <p:nvSpPr>
          <p:cNvPr id="3" name="Subtitle 2"/>
          <p:cNvSpPr>
            <a:spLocks noGrp="1"/>
          </p:cNvSpPr>
          <p:nvPr>
            <p:ph type="subTitle" idx="1"/>
          </p:nvPr>
        </p:nvSpPr>
        <p:spPr/>
        <p:txBody>
          <a:bodyPr>
            <a:normAutofit/>
          </a:bodyPr>
          <a:lstStyle/>
          <a:p>
            <a:r>
              <a:rPr lang="en-US" sz="4400" b="1" dirty="0" smtClean="0"/>
              <a:t>Monitoring, Compliance and Governance in the AWS Cloud</a:t>
            </a:r>
            <a:endParaRPr lang="en-US" sz="4400" dirty="0"/>
          </a:p>
        </p:txBody>
      </p:sp>
    </p:spTree>
    <p:extLst>
      <p:ext uri="{BB962C8B-B14F-4D97-AF65-F5344CB8AC3E}">
        <p14:creationId xmlns:p14="http://schemas.microsoft.com/office/powerpoint/2010/main" val="681868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Outline</a:t>
            </a:r>
            <a:endParaRPr lang="en-US" b="1" dirty="0"/>
          </a:p>
        </p:txBody>
      </p:sp>
      <p:sp>
        <p:nvSpPr>
          <p:cNvPr id="3" name="Content Placeholder 2"/>
          <p:cNvSpPr>
            <a:spLocks noGrp="1"/>
          </p:cNvSpPr>
          <p:nvPr>
            <p:ph idx="1"/>
          </p:nvPr>
        </p:nvSpPr>
        <p:spPr/>
        <p:txBody>
          <a:bodyPr>
            <a:normAutofit fontScale="92500" lnSpcReduction="10000"/>
          </a:bodyPr>
          <a:lstStyle/>
          <a:p>
            <a:r>
              <a:rPr lang="en-US" b="1" dirty="0" smtClean="0"/>
              <a:t>MODULE 10 INTRODUCTION</a:t>
            </a:r>
          </a:p>
          <a:p>
            <a:pPr lvl="1"/>
            <a:r>
              <a:rPr lang="en-US" dirty="0" smtClean="0">
                <a:effectLst/>
              </a:rPr>
              <a:t>Introduction to Monitoring, Compliance, and Governance in the AWS Cloud</a:t>
            </a:r>
          </a:p>
          <a:p>
            <a:r>
              <a:rPr lang="en-US" b="1" dirty="0" smtClean="0"/>
              <a:t>MONITORING AND COMPLIANCE SERVICES</a:t>
            </a:r>
          </a:p>
          <a:p>
            <a:pPr lvl="1"/>
            <a:r>
              <a:rPr lang="en-US" dirty="0" smtClean="0">
                <a:effectLst/>
              </a:rPr>
              <a:t>Introduction to Monitoring</a:t>
            </a:r>
          </a:p>
          <a:p>
            <a:pPr lvl="1"/>
            <a:r>
              <a:rPr lang="en-US" dirty="0" smtClean="0">
                <a:effectLst/>
              </a:rPr>
              <a:t>Amazon </a:t>
            </a:r>
            <a:r>
              <a:rPr lang="en-US" dirty="0" err="1" smtClean="0">
                <a:effectLst/>
              </a:rPr>
              <a:t>CloudWatch</a:t>
            </a:r>
            <a:endParaRPr lang="en-US" dirty="0" smtClean="0">
              <a:effectLst/>
            </a:endParaRPr>
          </a:p>
          <a:p>
            <a:pPr lvl="1"/>
            <a:r>
              <a:rPr lang="en-US" dirty="0" smtClean="0">
                <a:effectLst/>
              </a:rPr>
              <a:t>AWS </a:t>
            </a:r>
            <a:r>
              <a:rPr lang="en-US" dirty="0" err="1" smtClean="0">
                <a:effectLst/>
              </a:rPr>
              <a:t>CloudTrail</a:t>
            </a:r>
            <a:endParaRPr lang="en-US" dirty="0" smtClean="0">
              <a:effectLst/>
            </a:endParaRPr>
          </a:p>
          <a:p>
            <a:pPr lvl="1"/>
            <a:r>
              <a:rPr lang="en-US" dirty="0" smtClean="0">
                <a:effectLst/>
              </a:rPr>
              <a:t>Compliance</a:t>
            </a:r>
          </a:p>
          <a:p>
            <a:pPr lvl="1"/>
            <a:r>
              <a:rPr lang="en-US" dirty="0" smtClean="0">
                <a:effectLst/>
              </a:rPr>
              <a:t>Auditing AWS Resources for Compliance</a:t>
            </a:r>
          </a:p>
          <a:p>
            <a:pPr lvl="1"/>
            <a:r>
              <a:rPr lang="en-US" dirty="0" smtClean="0">
                <a:effectLst/>
              </a:rPr>
              <a:t>AWS Organizations</a:t>
            </a:r>
          </a:p>
          <a:p>
            <a:pPr lvl="1"/>
            <a:r>
              <a:rPr lang="en-US" dirty="0" smtClean="0">
                <a:effectLst/>
              </a:rPr>
              <a:t>Governance</a:t>
            </a:r>
          </a:p>
          <a:p>
            <a:pPr lvl="1"/>
            <a:r>
              <a:rPr lang="en-US" dirty="0" smtClean="0">
                <a:effectLst/>
              </a:rPr>
              <a:t>AWS Health</a:t>
            </a:r>
          </a:p>
          <a:p>
            <a:pPr lvl="1"/>
            <a:r>
              <a:rPr lang="en-US" dirty="0" smtClean="0">
                <a:effectLst/>
              </a:rPr>
              <a:t>AWS Trusted Advisor</a:t>
            </a:r>
          </a:p>
          <a:p>
            <a:endParaRPr lang="en-US" dirty="0"/>
          </a:p>
        </p:txBody>
      </p:sp>
    </p:spTree>
    <p:extLst>
      <p:ext uri="{BB962C8B-B14F-4D97-AF65-F5344CB8AC3E}">
        <p14:creationId xmlns:p14="http://schemas.microsoft.com/office/powerpoint/2010/main" val="3808492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9457" y="2716439"/>
            <a:ext cx="10515600" cy="1325563"/>
          </a:xfrm>
        </p:spPr>
        <p:txBody>
          <a:bodyPr>
            <a:normAutofit/>
          </a:bodyPr>
          <a:lstStyle/>
          <a:p>
            <a:pPr algn="ctr"/>
            <a:r>
              <a:rPr lang="en-US" b="1" dirty="0"/>
              <a:t>Introduction to Monitoring, Compliance, and Governance in the AWS </a:t>
            </a:r>
            <a:r>
              <a:rPr lang="en-US" b="1" dirty="0" smtClean="0"/>
              <a:t>Cloud</a:t>
            </a:r>
            <a:endParaRPr lang="en-US" dirty="0"/>
          </a:p>
        </p:txBody>
      </p:sp>
    </p:spTree>
    <p:extLst>
      <p:ext uri="{BB962C8B-B14F-4D97-AF65-F5344CB8AC3E}">
        <p14:creationId xmlns:p14="http://schemas.microsoft.com/office/powerpoint/2010/main" val="3714165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a:t>Describe the progression of monitoring, governance, and compliance activities.</a:t>
            </a:r>
          </a:p>
        </p:txBody>
      </p:sp>
    </p:spTree>
    <p:extLst>
      <p:ext uri="{BB962C8B-B14F-4D97-AF65-F5344CB8AC3E}">
        <p14:creationId xmlns:p14="http://schemas.microsoft.com/office/powerpoint/2010/main" val="218336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Monitoring your resources in the AWS </a:t>
            </a:r>
            <a:r>
              <a:rPr lang="en-US" b="1" dirty="0" smtClean="0"/>
              <a:t>Cloud</a:t>
            </a:r>
            <a:endParaRPr lang="en-US" dirty="0"/>
          </a:p>
        </p:txBody>
      </p:sp>
      <p:sp>
        <p:nvSpPr>
          <p:cNvPr id="3" name="Content Placeholder 2"/>
          <p:cNvSpPr>
            <a:spLocks noGrp="1"/>
          </p:cNvSpPr>
          <p:nvPr>
            <p:ph idx="1"/>
          </p:nvPr>
        </p:nvSpPr>
        <p:spPr/>
        <p:txBody>
          <a:bodyPr/>
          <a:lstStyle/>
          <a:p>
            <a:r>
              <a:rPr lang="en-US" dirty="0"/>
              <a:t>To effectively monitor your Amazon Web Services (AWS) Cloud solutions, you will need ways to provide insights into resource utilization, identify potential issues, and facilitate proactive problem resolution.</a:t>
            </a:r>
          </a:p>
          <a:p>
            <a:r>
              <a:rPr lang="en-US" dirty="0"/>
              <a:t>The progression you generally want to use is as </a:t>
            </a:r>
            <a:r>
              <a:rPr lang="en-US" dirty="0" smtClean="0"/>
              <a:t>follows:</a:t>
            </a:r>
            <a:endParaRPr lang="en-US" dirty="0"/>
          </a:p>
          <a:p>
            <a:pPr marL="457200" lvl="1" indent="0">
              <a:buNone/>
            </a:pPr>
            <a:r>
              <a:rPr lang="en-US" b="1" dirty="0" smtClean="0"/>
              <a:t>1. Securing </a:t>
            </a:r>
            <a:r>
              <a:rPr lang="en-US" b="1" dirty="0"/>
              <a:t>systems </a:t>
            </a:r>
          </a:p>
          <a:p>
            <a:pPr marL="457200" lvl="1" indent="0">
              <a:buNone/>
            </a:pPr>
            <a:r>
              <a:rPr lang="en-US" b="1" dirty="0" smtClean="0"/>
              <a:t>2. Monitoring activities</a:t>
            </a:r>
            <a:r>
              <a:rPr lang="en-US" b="1" dirty="0"/>
              <a:t> </a:t>
            </a:r>
          </a:p>
          <a:p>
            <a:pPr marL="457200" lvl="1" indent="0">
              <a:buNone/>
            </a:pPr>
            <a:r>
              <a:rPr lang="en-US" b="1" dirty="0" smtClean="0"/>
              <a:t>3. Conducting </a:t>
            </a:r>
            <a:r>
              <a:rPr lang="en-US" b="1" dirty="0"/>
              <a:t>audits</a:t>
            </a:r>
          </a:p>
          <a:p>
            <a:pPr marL="457200" lvl="1" indent="0">
              <a:buNone/>
            </a:pPr>
            <a:r>
              <a:rPr lang="en-US" b="1" dirty="0" smtClean="0"/>
              <a:t>4. Ensuring </a:t>
            </a:r>
            <a:r>
              <a:rPr lang="en-US" b="1" dirty="0"/>
              <a:t>compliance </a:t>
            </a:r>
          </a:p>
          <a:p>
            <a:endParaRPr lang="en-US" dirty="0"/>
          </a:p>
        </p:txBody>
      </p:sp>
      <p:pic>
        <p:nvPicPr>
          <p:cNvPr id="4" name="Picture 3"/>
          <p:cNvPicPr>
            <a:picLocks noChangeAspect="1"/>
          </p:cNvPicPr>
          <p:nvPr/>
        </p:nvPicPr>
        <p:blipFill>
          <a:blip r:embed="rId2"/>
          <a:stretch>
            <a:fillRect/>
          </a:stretch>
        </p:blipFill>
        <p:spPr>
          <a:xfrm>
            <a:off x="5570376" y="3933775"/>
            <a:ext cx="4873592" cy="2378125"/>
          </a:xfrm>
          <a:prstGeom prst="rect">
            <a:avLst/>
          </a:prstGeom>
        </p:spPr>
      </p:pic>
    </p:spTree>
    <p:extLst>
      <p:ext uri="{BB962C8B-B14F-4D97-AF65-F5344CB8AC3E}">
        <p14:creationId xmlns:p14="http://schemas.microsoft.com/office/powerpoint/2010/main" val="252165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Monitoring your resources in the AWS </a:t>
            </a:r>
            <a:r>
              <a:rPr lang="en-US" b="1" dirty="0" smtClean="0"/>
              <a:t>Cloud</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Secure</a:t>
            </a:r>
          </a:p>
          <a:p>
            <a:pPr lvl="1"/>
            <a:r>
              <a:rPr lang="en-US" dirty="0"/>
              <a:t>Protect data, systems, and infrastructure from unauthorized access, use, disclosure, disruption, modification, or destruction</a:t>
            </a:r>
          </a:p>
          <a:p>
            <a:r>
              <a:rPr lang="en-US" b="1" dirty="0"/>
              <a:t>Monitor</a:t>
            </a:r>
          </a:p>
          <a:p>
            <a:pPr lvl="1"/>
            <a:r>
              <a:rPr lang="en-US" dirty="0"/>
              <a:t>Continuously observe and analyze system activity, network traffic, and security events to detect potential threats or anomalies</a:t>
            </a:r>
          </a:p>
          <a:p>
            <a:r>
              <a:rPr lang="en-US" b="1" dirty="0"/>
              <a:t>Audit</a:t>
            </a:r>
          </a:p>
          <a:p>
            <a:pPr lvl="1"/>
            <a:r>
              <a:rPr lang="en-US" dirty="0"/>
              <a:t>Periodically review and assess the effectiveness of security controls and check that all requirements are met and security policies and procedures are adhered to</a:t>
            </a:r>
          </a:p>
          <a:p>
            <a:r>
              <a:rPr lang="en-US" b="1" dirty="0"/>
              <a:t>Compliance</a:t>
            </a:r>
          </a:p>
          <a:p>
            <a:pPr lvl="1"/>
            <a:r>
              <a:rPr lang="en-US" dirty="0"/>
              <a:t>Help ensure that an organization's security practices and controls meet the requirements of relevant regulations, industry standards, and contractual obligations</a:t>
            </a:r>
          </a:p>
          <a:p>
            <a:endParaRPr lang="en-US" dirty="0"/>
          </a:p>
        </p:txBody>
      </p:sp>
    </p:spTree>
    <p:extLst>
      <p:ext uri="{BB962C8B-B14F-4D97-AF65-F5344CB8AC3E}">
        <p14:creationId xmlns:p14="http://schemas.microsoft.com/office/powerpoint/2010/main" val="3430113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2927" y="2688448"/>
            <a:ext cx="10515600" cy="1325563"/>
          </a:xfrm>
        </p:spPr>
        <p:txBody>
          <a:bodyPr/>
          <a:lstStyle/>
          <a:p>
            <a:pPr algn="ctr"/>
            <a:r>
              <a:rPr lang="en-US" b="1" dirty="0"/>
              <a:t>Introduction to </a:t>
            </a:r>
            <a:r>
              <a:rPr lang="en-US" b="1" dirty="0" smtClean="0"/>
              <a:t>Monitoring</a:t>
            </a:r>
            <a:endParaRPr lang="en-US" dirty="0"/>
          </a:p>
        </p:txBody>
      </p:sp>
    </p:spTree>
    <p:extLst>
      <p:ext uri="{BB962C8B-B14F-4D97-AF65-F5344CB8AC3E}">
        <p14:creationId xmlns:p14="http://schemas.microsoft.com/office/powerpoint/2010/main" val="3608701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t>Define </a:t>
            </a:r>
            <a:r>
              <a:rPr lang="en-US" dirty="0"/>
              <a:t>monitoring in the cloud.</a:t>
            </a:r>
          </a:p>
          <a:p>
            <a:r>
              <a:rPr lang="en-US" dirty="0"/>
              <a:t>Describe the benefits of monitoring your AWS Cloud resources.</a:t>
            </a:r>
          </a:p>
          <a:p>
            <a:endParaRPr lang="en-US" dirty="0"/>
          </a:p>
        </p:txBody>
      </p:sp>
    </p:spTree>
    <p:extLst>
      <p:ext uri="{BB962C8B-B14F-4D97-AF65-F5344CB8AC3E}">
        <p14:creationId xmlns:p14="http://schemas.microsoft.com/office/powerpoint/2010/main" val="850378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Importance of </a:t>
            </a:r>
            <a:r>
              <a:rPr lang="en-US" b="1" dirty="0" smtClean="0"/>
              <a:t>monitoring</a:t>
            </a:r>
            <a:endParaRPr lang="en-US" dirty="0"/>
          </a:p>
        </p:txBody>
      </p:sp>
      <p:sp>
        <p:nvSpPr>
          <p:cNvPr id="3" name="Content Placeholder 2"/>
          <p:cNvSpPr>
            <a:spLocks noGrp="1"/>
          </p:cNvSpPr>
          <p:nvPr>
            <p:ph idx="1"/>
          </p:nvPr>
        </p:nvSpPr>
        <p:spPr/>
        <p:txBody>
          <a:bodyPr>
            <a:normAutofit lnSpcReduction="10000"/>
          </a:bodyPr>
          <a:lstStyle/>
          <a:p>
            <a:r>
              <a:rPr lang="en-US" dirty="0"/>
              <a:t>In the AWS Cloud, monitoring is the continuous process of collecting, visualizing, and tracking the health and performance of your AWS infrastructure, services, and applications. </a:t>
            </a:r>
            <a:endParaRPr lang="en-US" dirty="0" smtClean="0"/>
          </a:p>
          <a:p>
            <a:endParaRPr lang="en-US" dirty="0" smtClean="0"/>
          </a:p>
          <a:p>
            <a:r>
              <a:rPr lang="en-US" dirty="0" smtClean="0"/>
              <a:t>This </a:t>
            </a:r>
            <a:r>
              <a:rPr lang="en-US" dirty="0"/>
              <a:t>goal of monitoring is to help ensure optimal performance and identify potential issues</a:t>
            </a:r>
            <a:r>
              <a:rPr lang="en-US" dirty="0" smtClean="0"/>
              <a:t>.</a:t>
            </a:r>
          </a:p>
          <a:p>
            <a:endParaRPr lang="en-US" dirty="0"/>
          </a:p>
          <a:p>
            <a:r>
              <a:rPr lang="en-US" dirty="0" smtClean="0"/>
              <a:t>It </a:t>
            </a:r>
            <a:r>
              <a:rPr lang="en-US" dirty="0"/>
              <a:t>provides a way for you to continuously observe and analyze system activity, network traffic, and security events to detect potential threats or anomalies. </a:t>
            </a:r>
            <a:endParaRPr lang="en-US" dirty="0" smtClean="0"/>
          </a:p>
        </p:txBody>
      </p:sp>
    </p:spTree>
    <p:extLst>
      <p:ext uri="{BB962C8B-B14F-4D97-AF65-F5344CB8AC3E}">
        <p14:creationId xmlns:p14="http://schemas.microsoft.com/office/powerpoint/2010/main" val="3075483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Importance of </a:t>
            </a:r>
            <a:r>
              <a:rPr lang="en-US" b="1" dirty="0" smtClean="0"/>
              <a:t>monitoring</a:t>
            </a:r>
            <a:endParaRPr lang="en-US" dirty="0"/>
          </a:p>
        </p:txBody>
      </p:sp>
      <p:sp>
        <p:nvSpPr>
          <p:cNvPr id="3" name="Content Placeholder 2"/>
          <p:cNvSpPr>
            <a:spLocks noGrp="1"/>
          </p:cNvSpPr>
          <p:nvPr>
            <p:ph idx="1"/>
          </p:nvPr>
        </p:nvSpPr>
        <p:spPr/>
        <p:txBody>
          <a:bodyPr/>
          <a:lstStyle/>
          <a:p>
            <a:r>
              <a:rPr lang="en-US" dirty="0"/>
              <a:t>Monitoring and observability are critical components for ensuring the security, availability, reliability, and performance of your cloud-based workloads and data.</a:t>
            </a:r>
          </a:p>
          <a:p>
            <a:r>
              <a:rPr lang="en-US" dirty="0"/>
              <a:t>Monitoring is performed using real-time monitoring tools, log collection and analysis, and dashboards. </a:t>
            </a:r>
            <a:endParaRPr lang="en-US" dirty="0" smtClean="0"/>
          </a:p>
          <a:p>
            <a:r>
              <a:rPr lang="en-US" dirty="0" smtClean="0"/>
              <a:t>In </a:t>
            </a:r>
            <a:r>
              <a:rPr lang="en-US" dirty="0"/>
              <a:t>the following lessons, you will identify several different monitoring tools and what they do.</a:t>
            </a:r>
          </a:p>
        </p:txBody>
      </p:sp>
      <p:pic>
        <p:nvPicPr>
          <p:cNvPr id="4" name="Picture 3"/>
          <p:cNvPicPr>
            <a:picLocks noChangeAspect="1"/>
          </p:cNvPicPr>
          <p:nvPr/>
        </p:nvPicPr>
        <p:blipFill>
          <a:blip r:embed="rId2"/>
          <a:stretch>
            <a:fillRect/>
          </a:stretch>
        </p:blipFill>
        <p:spPr>
          <a:xfrm>
            <a:off x="5285232" y="4615695"/>
            <a:ext cx="5565648" cy="2148959"/>
          </a:xfrm>
          <a:prstGeom prst="rect">
            <a:avLst/>
          </a:prstGeom>
        </p:spPr>
      </p:pic>
    </p:spTree>
    <p:extLst>
      <p:ext uri="{BB962C8B-B14F-4D97-AF65-F5344CB8AC3E}">
        <p14:creationId xmlns:p14="http://schemas.microsoft.com/office/powerpoint/2010/main" val="3915030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459101"/>
            <a:ext cx="10515600" cy="1325563"/>
          </a:xfrm>
        </p:spPr>
        <p:txBody>
          <a:bodyPr/>
          <a:lstStyle/>
          <a:p>
            <a:pPr algn="ctr"/>
            <a:r>
              <a:rPr lang="en-US" b="1" dirty="0"/>
              <a:t>Amazon </a:t>
            </a:r>
            <a:r>
              <a:rPr lang="en-US" b="1" dirty="0" err="1" smtClean="0"/>
              <a:t>CloudWatch</a:t>
            </a:r>
            <a:endParaRPr lang="en-US" dirty="0"/>
          </a:p>
        </p:txBody>
      </p:sp>
    </p:spTree>
    <p:extLst>
      <p:ext uri="{BB962C8B-B14F-4D97-AF65-F5344CB8AC3E}">
        <p14:creationId xmlns:p14="http://schemas.microsoft.com/office/powerpoint/2010/main" val="2119561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a:t>Describe benefits and use cases of Amazon </a:t>
            </a:r>
            <a:r>
              <a:rPr lang="en-US" dirty="0" err="1"/>
              <a:t>CloudWatch</a:t>
            </a:r>
            <a:r>
              <a:rPr lang="en-US" dirty="0"/>
              <a:t>.</a:t>
            </a:r>
          </a:p>
        </p:txBody>
      </p:sp>
    </p:spTree>
    <p:extLst>
      <p:ext uri="{BB962C8B-B14F-4D97-AF65-F5344CB8AC3E}">
        <p14:creationId xmlns:p14="http://schemas.microsoft.com/office/powerpoint/2010/main" val="1401736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Watch over your resources and </a:t>
            </a:r>
            <a:r>
              <a:rPr lang="en-US" b="1" dirty="0" smtClean="0"/>
              <a:t>applications</a:t>
            </a:r>
            <a:endParaRPr lang="en-US" dirty="0"/>
          </a:p>
        </p:txBody>
      </p:sp>
      <p:sp>
        <p:nvSpPr>
          <p:cNvPr id="3" name="Content Placeholder 2"/>
          <p:cNvSpPr>
            <a:spLocks noGrp="1"/>
          </p:cNvSpPr>
          <p:nvPr>
            <p:ph idx="1"/>
          </p:nvPr>
        </p:nvSpPr>
        <p:spPr/>
        <p:txBody>
          <a:bodyPr>
            <a:normAutofit/>
          </a:bodyPr>
          <a:lstStyle/>
          <a:p>
            <a:r>
              <a:rPr lang="en-US" b="1" dirty="0"/>
              <a:t>Amazon </a:t>
            </a:r>
            <a:r>
              <a:rPr lang="en-US" b="1" dirty="0" err="1" smtClean="0"/>
              <a:t>CloudWatch</a:t>
            </a:r>
            <a:endParaRPr lang="en-US" b="1" dirty="0" smtClean="0"/>
          </a:p>
          <a:p>
            <a:pPr lvl="1"/>
            <a:r>
              <a:rPr lang="en-US" dirty="0" err="1"/>
              <a:t>CloudWatch</a:t>
            </a:r>
            <a:r>
              <a:rPr lang="en-US" dirty="0"/>
              <a:t> monitors your AWS resources and the applications that you run on AWS in real time. </a:t>
            </a:r>
            <a:endParaRPr lang="en-US" dirty="0" smtClean="0"/>
          </a:p>
          <a:p>
            <a:pPr lvl="1"/>
            <a:r>
              <a:rPr lang="en-US" dirty="0" smtClean="0"/>
              <a:t>With </a:t>
            </a:r>
            <a:r>
              <a:rPr lang="en-US" dirty="0" err="1"/>
              <a:t>CloudWatch</a:t>
            </a:r>
            <a:r>
              <a:rPr lang="en-US" dirty="0"/>
              <a:t>, you gain system-wide visibility into resource utilization, application performance, and operational health.  </a:t>
            </a:r>
            <a:endParaRPr lang="en-US" dirty="0" smtClean="0"/>
          </a:p>
          <a:p>
            <a:pPr lvl="1"/>
            <a:r>
              <a:rPr lang="en-US" dirty="0" err="1" smtClean="0"/>
              <a:t>CloudWatch</a:t>
            </a:r>
            <a:r>
              <a:rPr lang="en-US" dirty="0" smtClean="0"/>
              <a:t> </a:t>
            </a:r>
            <a:r>
              <a:rPr lang="en-US" dirty="0"/>
              <a:t>does more than just monitor. It has several features that work together:</a:t>
            </a:r>
          </a:p>
          <a:p>
            <a:pPr lvl="2"/>
            <a:r>
              <a:rPr lang="en-US" b="1" dirty="0" err="1"/>
              <a:t>CloudWatch</a:t>
            </a:r>
            <a:r>
              <a:rPr lang="en-US" b="1" dirty="0"/>
              <a:t> metrics</a:t>
            </a:r>
          </a:p>
          <a:p>
            <a:pPr lvl="2"/>
            <a:r>
              <a:rPr lang="en-US" b="1" dirty="0" err="1"/>
              <a:t>CloudWatch</a:t>
            </a:r>
            <a:r>
              <a:rPr lang="en-US" b="1" dirty="0"/>
              <a:t> alarms</a:t>
            </a:r>
          </a:p>
          <a:p>
            <a:pPr lvl="2"/>
            <a:r>
              <a:rPr lang="en-US" b="1" dirty="0" err="1"/>
              <a:t>CloudWatch</a:t>
            </a:r>
            <a:r>
              <a:rPr lang="en-US" b="1" dirty="0"/>
              <a:t> dashboards</a:t>
            </a:r>
          </a:p>
          <a:p>
            <a:pPr lvl="2"/>
            <a:r>
              <a:rPr lang="en-US" b="1" dirty="0" err="1"/>
              <a:t>CloudWatch</a:t>
            </a:r>
            <a:r>
              <a:rPr lang="en-US" b="1" dirty="0"/>
              <a:t> logs</a:t>
            </a:r>
          </a:p>
          <a:p>
            <a:endParaRPr lang="en-US" dirty="0"/>
          </a:p>
        </p:txBody>
      </p:sp>
    </p:spTree>
    <p:extLst>
      <p:ext uri="{BB962C8B-B14F-4D97-AF65-F5344CB8AC3E}">
        <p14:creationId xmlns:p14="http://schemas.microsoft.com/office/powerpoint/2010/main" val="2620023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err="1" smtClean="0"/>
              <a:t>CloudWatch</a:t>
            </a:r>
            <a:r>
              <a:rPr lang="en-US" b="1" dirty="0" smtClean="0"/>
              <a:t> Features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Metrics</a:t>
            </a:r>
          </a:p>
          <a:p>
            <a:pPr lvl="1"/>
            <a:r>
              <a:rPr lang="en-US" dirty="0" err="1"/>
              <a:t>CloudWatch</a:t>
            </a:r>
            <a:r>
              <a:rPr lang="en-US" dirty="0"/>
              <a:t> collects metrics from all your AWS resources, applications, and services that run on AWS and on-premises servers.</a:t>
            </a:r>
          </a:p>
          <a:p>
            <a:r>
              <a:rPr lang="en-US" b="1" dirty="0"/>
              <a:t>Alarms</a:t>
            </a:r>
          </a:p>
          <a:p>
            <a:pPr lvl="1"/>
            <a:r>
              <a:rPr lang="en-US" dirty="0"/>
              <a:t>With </a:t>
            </a:r>
            <a:r>
              <a:rPr lang="en-US" dirty="0" err="1"/>
              <a:t>CloudWatch</a:t>
            </a:r>
            <a:r>
              <a:rPr lang="en-US" dirty="0"/>
              <a:t> alarms, you can define thresholds on </a:t>
            </a:r>
            <a:r>
              <a:rPr lang="en-US" dirty="0" err="1"/>
              <a:t>CloudWatch</a:t>
            </a:r>
            <a:r>
              <a:rPr lang="en-US" dirty="0"/>
              <a:t> metrics and send notifications or automatically make changes to the resources.</a:t>
            </a:r>
          </a:p>
          <a:p>
            <a:r>
              <a:rPr lang="en-US" b="1" dirty="0"/>
              <a:t>Dashboards</a:t>
            </a:r>
          </a:p>
          <a:p>
            <a:pPr lvl="1"/>
            <a:r>
              <a:rPr lang="en-US" dirty="0"/>
              <a:t>Dashboards are customizable home pages in the </a:t>
            </a:r>
            <a:r>
              <a:rPr lang="en-US" dirty="0" err="1"/>
              <a:t>CloudWatch</a:t>
            </a:r>
            <a:r>
              <a:rPr lang="en-US" dirty="0"/>
              <a:t> console that you can use to monitor your resources in a single view.</a:t>
            </a:r>
          </a:p>
          <a:p>
            <a:r>
              <a:rPr lang="en-US" b="1" dirty="0"/>
              <a:t>Logs</a:t>
            </a:r>
          </a:p>
          <a:p>
            <a:pPr lvl="1"/>
            <a:r>
              <a:rPr lang="en-US" dirty="0" err="1"/>
              <a:t>CloudWatch</a:t>
            </a:r>
            <a:r>
              <a:rPr lang="en-US" dirty="0"/>
              <a:t> Logs centralize the logs from all of the systems, applications, and AWS services that you use.</a:t>
            </a:r>
          </a:p>
          <a:p>
            <a:endParaRPr lang="en-US" dirty="0"/>
          </a:p>
        </p:txBody>
      </p:sp>
    </p:spTree>
    <p:extLst>
      <p:ext uri="{BB962C8B-B14F-4D97-AF65-F5344CB8AC3E}">
        <p14:creationId xmlns:p14="http://schemas.microsoft.com/office/powerpoint/2010/main" val="2335542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Amazon </a:t>
            </a:r>
            <a:r>
              <a:rPr lang="en-US" b="1" dirty="0" err="1"/>
              <a:t>CloudWatch</a:t>
            </a:r>
            <a:endParaRPr lang="en-US" dirty="0"/>
          </a:p>
        </p:txBody>
      </p:sp>
      <p:sp>
        <p:nvSpPr>
          <p:cNvPr id="3" name="Content Placeholder 2"/>
          <p:cNvSpPr>
            <a:spLocks noGrp="1"/>
          </p:cNvSpPr>
          <p:nvPr>
            <p:ph idx="1"/>
          </p:nvPr>
        </p:nvSpPr>
        <p:spPr>
          <a:xfrm>
            <a:off x="838200" y="1825624"/>
            <a:ext cx="10515600" cy="5032375"/>
          </a:xfrm>
        </p:spPr>
        <p:txBody>
          <a:bodyPr>
            <a:normAutofit fontScale="85000" lnSpcReduction="10000"/>
          </a:bodyPr>
          <a:lstStyle/>
          <a:p>
            <a:r>
              <a:rPr lang="en-US" b="1" dirty="0"/>
              <a:t>Benefits:</a:t>
            </a:r>
            <a:r>
              <a:rPr lang="en-US" dirty="0"/>
              <a:t> </a:t>
            </a:r>
            <a:endParaRPr lang="en-US" dirty="0" smtClean="0"/>
          </a:p>
          <a:p>
            <a:pPr lvl="1"/>
            <a:r>
              <a:rPr lang="en-US" dirty="0" err="1" smtClean="0"/>
              <a:t>CloudWatch</a:t>
            </a:r>
            <a:r>
              <a:rPr lang="en-US" dirty="0" smtClean="0"/>
              <a:t> </a:t>
            </a:r>
            <a:r>
              <a:rPr lang="en-US" dirty="0"/>
              <a:t>helps you visualize and analyze your resources, operate efficiently with automation, use an integrated view, proactively monitor, and gain insights.</a:t>
            </a:r>
          </a:p>
          <a:p>
            <a:r>
              <a:rPr lang="en-US" b="1" dirty="0"/>
              <a:t>Use case:</a:t>
            </a:r>
            <a:r>
              <a:rPr lang="en-US" dirty="0"/>
              <a:t> </a:t>
            </a:r>
            <a:endParaRPr lang="en-US" dirty="0" smtClean="0"/>
          </a:p>
          <a:p>
            <a:pPr lvl="1"/>
            <a:r>
              <a:rPr lang="en-US" dirty="0" smtClean="0"/>
              <a:t>It </a:t>
            </a:r>
            <a:r>
              <a:rPr lang="en-US" dirty="0"/>
              <a:t>can be used to monitor and troubleshoot infrastructure.</a:t>
            </a:r>
          </a:p>
          <a:p>
            <a:r>
              <a:rPr lang="en-US" b="1" dirty="0"/>
              <a:t>Example: </a:t>
            </a:r>
            <a:endParaRPr lang="en-US" b="1" dirty="0" smtClean="0"/>
          </a:p>
          <a:p>
            <a:pPr lvl="1"/>
            <a:r>
              <a:rPr lang="en-US" dirty="0" smtClean="0"/>
              <a:t>A </a:t>
            </a:r>
            <a:r>
              <a:rPr lang="en-US" dirty="0"/>
              <a:t>retail company is using </a:t>
            </a:r>
            <a:r>
              <a:rPr lang="en-US" dirty="0" err="1"/>
              <a:t>CloudWatch</a:t>
            </a:r>
            <a:r>
              <a:rPr lang="en-US" dirty="0"/>
              <a:t> features to monitor their application running on Amazon Elastic Compute Cloud (Amazon EC2) instances. </a:t>
            </a:r>
            <a:endParaRPr lang="en-US" dirty="0" smtClean="0"/>
          </a:p>
          <a:p>
            <a:pPr lvl="1"/>
            <a:r>
              <a:rPr lang="en-US" dirty="0" err="1" smtClean="0"/>
              <a:t>CloudWatch</a:t>
            </a:r>
            <a:r>
              <a:rPr lang="en-US" dirty="0" smtClean="0"/>
              <a:t> </a:t>
            </a:r>
            <a:r>
              <a:rPr lang="en-US" dirty="0"/>
              <a:t>automatically collects metrics, like utilization, on the EC2 instances. </a:t>
            </a:r>
            <a:endParaRPr lang="en-US" dirty="0" smtClean="0"/>
          </a:p>
          <a:p>
            <a:pPr lvl="1"/>
            <a:r>
              <a:rPr lang="en-US" dirty="0" smtClean="0"/>
              <a:t>The </a:t>
            </a:r>
            <a:r>
              <a:rPr lang="en-US" dirty="0"/>
              <a:t>company sets up </a:t>
            </a:r>
            <a:r>
              <a:rPr lang="en-US" dirty="0" err="1"/>
              <a:t>CloudWatch</a:t>
            </a:r>
            <a:r>
              <a:rPr lang="en-US" dirty="0"/>
              <a:t> to collect logs on the application performance. </a:t>
            </a:r>
            <a:endParaRPr lang="en-US" dirty="0" smtClean="0"/>
          </a:p>
          <a:p>
            <a:pPr lvl="1"/>
            <a:r>
              <a:rPr lang="en-US" dirty="0" smtClean="0"/>
              <a:t>They </a:t>
            </a:r>
            <a:r>
              <a:rPr lang="en-US" dirty="0"/>
              <a:t>also have alarms for when the Amazon EC2 utilization gets too high for an extended period. </a:t>
            </a:r>
            <a:endParaRPr lang="en-US" dirty="0" smtClean="0"/>
          </a:p>
          <a:p>
            <a:pPr lvl="1"/>
            <a:r>
              <a:rPr lang="en-US" dirty="0" smtClean="0"/>
              <a:t>They </a:t>
            </a:r>
            <a:r>
              <a:rPr lang="en-US" dirty="0"/>
              <a:t>even have an action configured to automate and scale up the number of EC2 instances when the alarm sounds. </a:t>
            </a:r>
            <a:endParaRPr lang="en-US" dirty="0" smtClean="0"/>
          </a:p>
          <a:p>
            <a:pPr lvl="1"/>
            <a:r>
              <a:rPr lang="en-US" dirty="0" smtClean="0"/>
              <a:t>Finally</a:t>
            </a:r>
            <a:r>
              <a:rPr lang="en-US" dirty="0"/>
              <a:t>, they create a custom dashboard to visualize everything all in one place. </a:t>
            </a:r>
            <a:endParaRPr lang="en-US" dirty="0" smtClean="0"/>
          </a:p>
          <a:p>
            <a:pPr lvl="1"/>
            <a:r>
              <a:rPr lang="en-US" dirty="0" smtClean="0"/>
              <a:t>Now </a:t>
            </a:r>
            <a:r>
              <a:rPr lang="en-US" dirty="0"/>
              <a:t>they can analyze the logs to gain insights on performance issues or application errors.</a:t>
            </a:r>
          </a:p>
          <a:p>
            <a:endParaRPr lang="en-US" dirty="0"/>
          </a:p>
        </p:txBody>
      </p:sp>
    </p:spTree>
    <p:extLst>
      <p:ext uri="{BB962C8B-B14F-4D97-AF65-F5344CB8AC3E}">
        <p14:creationId xmlns:p14="http://schemas.microsoft.com/office/powerpoint/2010/main" val="372661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024" y="2541397"/>
            <a:ext cx="10515600" cy="1325563"/>
          </a:xfrm>
        </p:spPr>
        <p:txBody>
          <a:bodyPr/>
          <a:lstStyle/>
          <a:p>
            <a:pPr algn="ctr"/>
            <a:r>
              <a:rPr lang="en-US" b="1" dirty="0"/>
              <a:t>AWS </a:t>
            </a:r>
            <a:r>
              <a:rPr lang="en-US" b="1" dirty="0" err="1" smtClean="0"/>
              <a:t>CloudTrail</a:t>
            </a:r>
            <a:endParaRPr lang="en-US" dirty="0"/>
          </a:p>
        </p:txBody>
      </p:sp>
    </p:spTree>
    <p:extLst>
      <p:ext uri="{BB962C8B-B14F-4D97-AF65-F5344CB8AC3E}">
        <p14:creationId xmlns:p14="http://schemas.microsoft.com/office/powerpoint/2010/main" val="343972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t>Describe </a:t>
            </a:r>
            <a:r>
              <a:rPr lang="en-US" dirty="0"/>
              <a:t>why auditing is important.</a:t>
            </a:r>
          </a:p>
          <a:p>
            <a:r>
              <a:rPr lang="en-US" dirty="0"/>
              <a:t>Describe benefits and use cases of AWS </a:t>
            </a:r>
            <a:r>
              <a:rPr lang="en-US" dirty="0" err="1"/>
              <a:t>CloudTrail</a:t>
            </a:r>
            <a:r>
              <a:rPr lang="en-US" dirty="0"/>
              <a:t>.</a:t>
            </a:r>
          </a:p>
          <a:p>
            <a:r>
              <a:rPr lang="en-US" dirty="0"/>
              <a:t>Describe </a:t>
            </a:r>
            <a:r>
              <a:rPr lang="en-US" dirty="0" err="1"/>
              <a:t>CloudTrail</a:t>
            </a:r>
            <a:r>
              <a:rPr lang="en-US" dirty="0"/>
              <a:t> events, logs, and insights.</a:t>
            </a:r>
          </a:p>
          <a:p>
            <a:endParaRPr lang="en-US" dirty="0"/>
          </a:p>
        </p:txBody>
      </p:sp>
    </p:spTree>
    <p:extLst>
      <p:ext uri="{BB962C8B-B14F-4D97-AF65-F5344CB8AC3E}">
        <p14:creationId xmlns:p14="http://schemas.microsoft.com/office/powerpoint/2010/main" val="414696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Importance of </a:t>
            </a:r>
            <a:r>
              <a:rPr lang="en-US" b="1" dirty="0" smtClean="0"/>
              <a:t>auditing</a:t>
            </a:r>
            <a:endParaRPr lang="en-US" dirty="0"/>
          </a:p>
        </p:txBody>
      </p:sp>
      <p:sp>
        <p:nvSpPr>
          <p:cNvPr id="3" name="Content Placeholder 2"/>
          <p:cNvSpPr>
            <a:spLocks noGrp="1"/>
          </p:cNvSpPr>
          <p:nvPr>
            <p:ph idx="1"/>
          </p:nvPr>
        </p:nvSpPr>
        <p:spPr/>
        <p:txBody>
          <a:bodyPr/>
          <a:lstStyle/>
          <a:p>
            <a:r>
              <a:rPr lang="en-US" dirty="0"/>
              <a:t>Imagine a financial company with a hybrid cloud solution trying to figure out what happened when there are changes made to their resources in the cloud and on premises. </a:t>
            </a:r>
            <a:endParaRPr lang="en-US" dirty="0" smtClean="0"/>
          </a:p>
          <a:p>
            <a:r>
              <a:rPr lang="en-US" dirty="0" smtClean="0"/>
              <a:t>They </a:t>
            </a:r>
            <a:r>
              <a:rPr lang="en-US" dirty="0"/>
              <a:t>need this information for troubleshooting and to provide detailed records for compliance. That's where </a:t>
            </a:r>
            <a:r>
              <a:rPr lang="en-US" dirty="0" err="1"/>
              <a:t>CloudTrail</a:t>
            </a:r>
            <a:r>
              <a:rPr lang="en-US" dirty="0"/>
              <a:t> can help.</a:t>
            </a:r>
          </a:p>
        </p:txBody>
      </p:sp>
      <p:pic>
        <p:nvPicPr>
          <p:cNvPr id="4" name="Picture 3"/>
          <p:cNvPicPr>
            <a:picLocks noChangeAspect="1"/>
          </p:cNvPicPr>
          <p:nvPr/>
        </p:nvPicPr>
        <p:blipFill>
          <a:blip r:embed="rId2"/>
          <a:stretch>
            <a:fillRect/>
          </a:stretch>
        </p:blipFill>
        <p:spPr>
          <a:xfrm>
            <a:off x="2723388" y="4001294"/>
            <a:ext cx="5990844" cy="2838099"/>
          </a:xfrm>
          <a:prstGeom prst="rect">
            <a:avLst/>
          </a:prstGeom>
        </p:spPr>
      </p:pic>
    </p:spTree>
    <p:extLst>
      <p:ext uri="{BB962C8B-B14F-4D97-AF65-F5344CB8AC3E}">
        <p14:creationId xmlns:p14="http://schemas.microsoft.com/office/powerpoint/2010/main" val="2395571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AWS </a:t>
            </a:r>
            <a:r>
              <a:rPr lang="en-US" b="1" dirty="0" err="1"/>
              <a:t>CloudTrail</a:t>
            </a:r>
            <a:endParaRPr lang="en-US" dirty="0"/>
          </a:p>
        </p:txBody>
      </p:sp>
      <p:sp>
        <p:nvSpPr>
          <p:cNvPr id="3" name="Content Placeholder 2"/>
          <p:cNvSpPr>
            <a:spLocks noGrp="1"/>
          </p:cNvSpPr>
          <p:nvPr>
            <p:ph idx="1"/>
          </p:nvPr>
        </p:nvSpPr>
        <p:spPr/>
        <p:txBody>
          <a:bodyPr>
            <a:normAutofit fontScale="92500" lnSpcReduction="10000"/>
          </a:bodyPr>
          <a:lstStyle/>
          <a:p>
            <a:r>
              <a:rPr lang="en-US" dirty="0" err="1"/>
              <a:t>CloudTrail</a:t>
            </a:r>
            <a:r>
              <a:rPr lang="en-US" dirty="0"/>
              <a:t> tracks user activity and API usage in the AWS Cloud, on premises, and even with other cloud providers. </a:t>
            </a:r>
            <a:endParaRPr lang="en-US" dirty="0" smtClean="0"/>
          </a:p>
          <a:p>
            <a:r>
              <a:rPr lang="en-US" dirty="0" err="1" smtClean="0"/>
              <a:t>CloudTrail</a:t>
            </a:r>
            <a:r>
              <a:rPr lang="en-US" dirty="0" smtClean="0"/>
              <a:t> </a:t>
            </a:r>
            <a:r>
              <a:rPr lang="en-US" dirty="0"/>
              <a:t>provides a detailed history of API calls, so you can track changes and identify who made them and when. </a:t>
            </a:r>
            <a:endParaRPr lang="en-US" dirty="0" smtClean="0"/>
          </a:p>
          <a:p>
            <a:r>
              <a:rPr lang="en-US" dirty="0" smtClean="0"/>
              <a:t>This </a:t>
            </a:r>
            <a:r>
              <a:rPr lang="en-US" dirty="0"/>
              <a:t>helps you understand what actions were taken on your AWS resources.</a:t>
            </a:r>
          </a:p>
          <a:p>
            <a:r>
              <a:rPr lang="en-US" b="1" dirty="0"/>
              <a:t>Benefits:</a:t>
            </a:r>
            <a:r>
              <a:rPr lang="en-US" dirty="0"/>
              <a:t> </a:t>
            </a:r>
            <a:r>
              <a:rPr lang="en-US" dirty="0" err="1"/>
              <a:t>CloudTrail</a:t>
            </a:r>
            <a:r>
              <a:rPr lang="en-US" dirty="0"/>
              <a:t> provides auditing, security monitoring, and operational troubleshooting. It also helps you prove compliance and improve your security posture.</a:t>
            </a:r>
          </a:p>
          <a:p>
            <a:r>
              <a:rPr lang="en-US" b="1" dirty="0"/>
              <a:t>Use cases:</a:t>
            </a:r>
            <a:r>
              <a:rPr lang="en-US" dirty="0"/>
              <a:t> It can be used for compliance and auditing, identifying security incidents, troubleshooting operational issues.</a:t>
            </a:r>
          </a:p>
          <a:p>
            <a:endParaRPr lang="en-US" dirty="0"/>
          </a:p>
        </p:txBody>
      </p:sp>
    </p:spTree>
    <p:extLst>
      <p:ext uri="{BB962C8B-B14F-4D97-AF65-F5344CB8AC3E}">
        <p14:creationId xmlns:p14="http://schemas.microsoft.com/office/powerpoint/2010/main" val="7504961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CloudTrail</a:t>
            </a:r>
            <a:r>
              <a:rPr lang="en-US" b="1" dirty="0"/>
              <a:t> features</a:t>
            </a:r>
          </a:p>
        </p:txBody>
      </p:sp>
      <p:sp>
        <p:nvSpPr>
          <p:cNvPr id="3" name="Content Placeholder 2"/>
          <p:cNvSpPr>
            <a:spLocks noGrp="1"/>
          </p:cNvSpPr>
          <p:nvPr>
            <p:ph idx="1"/>
          </p:nvPr>
        </p:nvSpPr>
        <p:spPr>
          <a:xfrm>
            <a:off x="838200" y="1825624"/>
            <a:ext cx="10515600" cy="5032376"/>
          </a:xfrm>
        </p:spPr>
        <p:txBody>
          <a:bodyPr>
            <a:normAutofit fontScale="85000" lnSpcReduction="20000"/>
          </a:bodyPr>
          <a:lstStyle/>
          <a:p>
            <a:r>
              <a:rPr lang="en-US" b="1" dirty="0" err="1" smtClean="0"/>
              <a:t>CloudTrail</a:t>
            </a:r>
            <a:r>
              <a:rPr lang="en-US" b="1" dirty="0" smtClean="0"/>
              <a:t> events</a:t>
            </a:r>
          </a:p>
          <a:p>
            <a:pPr lvl="1"/>
            <a:r>
              <a:rPr lang="en-US" dirty="0" err="1"/>
              <a:t>CloudTrail</a:t>
            </a:r>
            <a:r>
              <a:rPr lang="en-US" dirty="0"/>
              <a:t> events capture details about actions performed within your AWS account, such as API calls, console actions, or other activities. </a:t>
            </a:r>
            <a:endParaRPr lang="en-US" dirty="0" smtClean="0"/>
          </a:p>
          <a:p>
            <a:pPr lvl="1"/>
            <a:r>
              <a:rPr lang="en-US" dirty="0" smtClean="0"/>
              <a:t>Event </a:t>
            </a:r>
            <a:r>
              <a:rPr lang="en-US" dirty="0"/>
              <a:t>history provides a viewable, searchable, downloadable, and immutable record of the past 90 days of management events in an AWS Region. </a:t>
            </a:r>
            <a:endParaRPr lang="en-US" dirty="0" smtClean="0"/>
          </a:p>
          <a:p>
            <a:pPr lvl="1"/>
            <a:r>
              <a:rPr lang="en-US" dirty="0" smtClean="0"/>
              <a:t>There </a:t>
            </a:r>
            <a:r>
              <a:rPr lang="en-US" dirty="0"/>
              <a:t>are no </a:t>
            </a:r>
            <a:r>
              <a:rPr lang="en-US" dirty="0" err="1"/>
              <a:t>CloudTrail</a:t>
            </a:r>
            <a:r>
              <a:rPr lang="en-US" dirty="0"/>
              <a:t> charges for viewing event history.</a:t>
            </a:r>
            <a:endParaRPr lang="en-US" b="1" dirty="0" smtClean="0"/>
          </a:p>
          <a:p>
            <a:r>
              <a:rPr lang="en-US" b="1" dirty="0" err="1" smtClean="0"/>
              <a:t>CloudTrail</a:t>
            </a:r>
            <a:r>
              <a:rPr lang="en-US" b="1" dirty="0" smtClean="0"/>
              <a:t> logs</a:t>
            </a:r>
          </a:p>
          <a:p>
            <a:pPr lvl="1"/>
            <a:r>
              <a:rPr lang="en-US" dirty="0" err="1"/>
              <a:t>CloudTrail</a:t>
            </a:r>
            <a:r>
              <a:rPr lang="en-US" dirty="0"/>
              <a:t> monitors events and delivers those events as log files to your Amazon Simple Storage Service (Amazon S3) bucket. </a:t>
            </a:r>
            <a:endParaRPr lang="en-US" dirty="0" smtClean="0"/>
          </a:p>
          <a:p>
            <a:pPr lvl="1"/>
            <a:r>
              <a:rPr lang="en-US" dirty="0" smtClean="0"/>
              <a:t>Because </a:t>
            </a:r>
            <a:r>
              <a:rPr lang="en-US" dirty="0" err="1"/>
              <a:t>CloudTrail</a:t>
            </a:r>
            <a:r>
              <a:rPr lang="en-US" dirty="0"/>
              <a:t> logs are securely stored, they can be used to prove compliance with regulations such as Payment Card Industry (PCI) and Healthcare Insurance Portability and Accountability Act (HIPAA).</a:t>
            </a:r>
            <a:endParaRPr lang="en-US" b="1" dirty="0" smtClean="0"/>
          </a:p>
          <a:p>
            <a:r>
              <a:rPr lang="en-US" b="1" dirty="0" err="1" smtClean="0"/>
              <a:t>CloudTrail</a:t>
            </a:r>
            <a:r>
              <a:rPr lang="en-US" b="1" dirty="0" smtClean="0"/>
              <a:t> insights</a:t>
            </a:r>
          </a:p>
          <a:p>
            <a:pPr lvl="1"/>
            <a:r>
              <a:rPr lang="en-US" dirty="0" err="1"/>
              <a:t>CloudTrail</a:t>
            </a:r>
            <a:r>
              <a:rPr lang="en-US" dirty="0"/>
              <a:t> Insights analyzes your normal patterns of API call volume and API error rates. </a:t>
            </a:r>
            <a:endParaRPr lang="en-US" dirty="0" smtClean="0"/>
          </a:p>
          <a:p>
            <a:pPr lvl="1"/>
            <a:r>
              <a:rPr lang="en-US" dirty="0" err="1" smtClean="0"/>
              <a:t>CloudTrail</a:t>
            </a:r>
            <a:r>
              <a:rPr lang="en-US" dirty="0" smtClean="0"/>
              <a:t> </a:t>
            </a:r>
            <a:r>
              <a:rPr lang="en-US" dirty="0"/>
              <a:t>Insights also generates Insights events when API call volumes and error rates deviate from these normal patterns. </a:t>
            </a:r>
            <a:endParaRPr lang="en-US" dirty="0" smtClean="0"/>
          </a:p>
          <a:p>
            <a:pPr lvl="1"/>
            <a:r>
              <a:rPr lang="en-US" dirty="0" smtClean="0"/>
              <a:t>You </a:t>
            </a:r>
            <a:r>
              <a:rPr lang="en-US" dirty="0"/>
              <a:t>can enable </a:t>
            </a:r>
            <a:r>
              <a:rPr lang="en-US" dirty="0" err="1"/>
              <a:t>CloudTrail</a:t>
            </a:r>
            <a:r>
              <a:rPr lang="en-US" dirty="0"/>
              <a:t> Insights in your trails or event data stores to detect anomalous behavior and unusual activity.</a:t>
            </a:r>
            <a:endParaRPr lang="en-US" b="1" dirty="0" smtClean="0"/>
          </a:p>
          <a:p>
            <a:endParaRPr lang="en-US" b="1" dirty="0"/>
          </a:p>
        </p:txBody>
      </p:sp>
    </p:spTree>
    <p:extLst>
      <p:ext uri="{BB962C8B-B14F-4D97-AF65-F5344CB8AC3E}">
        <p14:creationId xmlns:p14="http://schemas.microsoft.com/office/powerpoint/2010/main" val="3667384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864" y="2541397"/>
            <a:ext cx="10515600" cy="1325563"/>
          </a:xfrm>
        </p:spPr>
        <p:txBody>
          <a:bodyPr/>
          <a:lstStyle/>
          <a:p>
            <a:pPr algn="ctr"/>
            <a:r>
              <a:rPr lang="en-US" b="1" dirty="0" smtClean="0"/>
              <a:t>Compliance</a:t>
            </a:r>
            <a:endParaRPr lang="en-US" dirty="0"/>
          </a:p>
        </p:txBody>
      </p:sp>
    </p:spTree>
    <p:extLst>
      <p:ext uri="{BB962C8B-B14F-4D97-AF65-F5344CB8AC3E}">
        <p14:creationId xmlns:p14="http://schemas.microsoft.com/office/powerpoint/2010/main" val="3255846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a:t>Define compliance and the benefits of compliance with AWS.</a:t>
            </a:r>
          </a:p>
          <a:p>
            <a:r>
              <a:rPr lang="en-US" dirty="0"/>
              <a:t>Describe AWS Artifact, its benefits, and the two types.</a:t>
            </a:r>
          </a:p>
          <a:p>
            <a:r>
              <a:rPr lang="en-US" dirty="0"/>
              <a:t>Locate resources for AWS compliance.</a:t>
            </a:r>
          </a:p>
          <a:p>
            <a:endParaRPr lang="en-US" dirty="0"/>
          </a:p>
        </p:txBody>
      </p:sp>
    </p:spTree>
    <p:extLst>
      <p:ext uri="{BB962C8B-B14F-4D97-AF65-F5344CB8AC3E}">
        <p14:creationId xmlns:p14="http://schemas.microsoft.com/office/powerpoint/2010/main" val="255343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Benefits of compliance with </a:t>
            </a:r>
            <a:r>
              <a:rPr lang="en-US" b="1" dirty="0" smtClean="0"/>
              <a:t>AWS</a:t>
            </a:r>
            <a:endParaRPr lang="en-US" dirty="0"/>
          </a:p>
        </p:txBody>
      </p:sp>
      <p:sp>
        <p:nvSpPr>
          <p:cNvPr id="3" name="Content Placeholder 2"/>
          <p:cNvSpPr>
            <a:spLocks noGrp="1"/>
          </p:cNvSpPr>
          <p:nvPr>
            <p:ph idx="1"/>
          </p:nvPr>
        </p:nvSpPr>
        <p:spPr/>
        <p:txBody>
          <a:bodyPr>
            <a:normAutofit/>
          </a:bodyPr>
          <a:lstStyle/>
          <a:p>
            <a:r>
              <a:rPr lang="en-US" dirty="0"/>
              <a:t>Compliance refers to your cloud resources and data adhering to relevant regulations, industry standards, and internal policies regarding security and data protection. </a:t>
            </a:r>
            <a:endParaRPr lang="ar-EG" dirty="0" smtClean="0"/>
          </a:p>
          <a:p>
            <a:r>
              <a:rPr lang="en-US" dirty="0" smtClean="0"/>
              <a:t>AWS </a:t>
            </a:r>
            <a:r>
              <a:rPr lang="en-US" dirty="0"/>
              <a:t>helps you meet compliance goals and requirements in the following ways:</a:t>
            </a:r>
          </a:p>
          <a:p>
            <a:pPr lvl="1"/>
            <a:r>
              <a:rPr lang="en-US" b="1" dirty="0"/>
              <a:t>Inheriting the latest security controls that AWS uses on its own infrastructure</a:t>
            </a:r>
          </a:p>
          <a:p>
            <a:pPr lvl="1"/>
            <a:r>
              <a:rPr lang="en-US" b="1" dirty="0"/>
              <a:t>Third-party validation for thousands of global requirements</a:t>
            </a:r>
          </a:p>
          <a:p>
            <a:pPr lvl="1"/>
            <a:r>
              <a:rPr lang="en-US" b="1" dirty="0"/>
              <a:t>Streamlining and automating compliance</a:t>
            </a:r>
          </a:p>
          <a:p>
            <a:pPr lvl="1"/>
            <a:r>
              <a:rPr lang="en-US" b="1" dirty="0"/>
              <a:t>On-demand compliance reports</a:t>
            </a:r>
          </a:p>
          <a:p>
            <a:endParaRPr lang="en-US" dirty="0"/>
          </a:p>
        </p:txBody>
      </p:sp>
    </p:spTree>
    <p:extLst>
      <p:ext uri="{BB962C8B-B14F-4D97-AF65-F5344CB8AC3E}">
        <p14:creationId xmlns:p14="http://schemas.microsoft.com/office/powerpoint/2010/main" val="1841759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AWS Artifact</a:t>
            </a:r>
            <a:endParaRPr lang="en-US" dirty="0"/>
          </a:p>
        </p:txBody>
      </p:sp>
      <p:sp>
        <p:nvSpPr>
          <p:cNvPr id="3" name="Content Placeholder 2"/>
          <p:cNvSpPr>
            <a:spLocks noGrp="1"/>
          </p:cNvSpPr>
          <p:nvPr>
            <p:ph idx="1"/>
          </p:nvPr>
        </p:nvSpPr>
        <p:spPr/>
        <p:txBody>
          <a:bodyPr/>
          <a:lstStyle/>
          <a:p>
            <a:r>
              <a:rPr lang="en-US" dirty="0"/>
              <a:t>AWS Artifact is a service that provides no-cost, on-demand access to AWS security and compliance reports and select online agreements.</a:t>
            </a:r>
          </a:p>
          <a:p>
            <a:r>
              <a:rPr lang="en-US" b="1" dirty="0"/>
              <a:t>Benefits:</a:t>
            </a:r>
            <a:r>
              <a:rPr lang="en-US" dirty="0"/>
              <a:t> AWS Artifact helps you manage at scale, save time with on-demand access to compliance reports, and deploy with more confidence.</a:t>
            </a:r>
          </a:p>
          <a:p>
            <a:r>
              <a:rPr lang="en-US" b="1" dirty="0"/>
              <a:t>Use cases:</a:t>
            </a:r>
            <a:r>
              <a:rPr lang="en-US" dirty="0"/>
              <a:t> It can be used to manage select online agreements and assess third-party security and compliance.</a:t>
            </a:r>
          </a:p>
          <a:p>
            <a:endParaRPr lang="en-US" dirty="0"/>
          </a:p>
        </p:txBody>
      </p:sp>
    </p:spTree>
    <p:extLst>
      <p:ext uri="{BB962C8B-B14F-4D97-AF65-F5344CB8AC3E}">
        <p14:creationId xmlns:p14="http://schemas.microsoft.com/office/powerpoint/2010/main" val="1742230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AWS Artifact </a:t>
            </a:r>
            <a:r>
              <a:rPr lang="en-US" b="1" dirty="0" smtClean="0"/>
              <a:t>two types</a:t>
            </a:r>
            <a:endParaRPr lang="en-US" dirty="0"/>
          </a:p>
        </p:txBody>
      </p:sp>
      <p:sp>
        <p:nvSpPr>
          <p:cNvPr id="3" name="Content Placeholder 2"/>
          <p:cNvSpPr>
            <a:spLocks noGrp="1"/>
          </p:cNvSpPr>
          <p:nvPr>
            <p:ph idx="1"/>
          </p:nvPr>
        </p:nvSpPr>
        <p:spPr/>
        <p:txBody>
          <a:bodyPr>
            <a:normAutofit/>
          </a:bodyPr>
          <a:lstStyle/>
          <a:p>
            <a:r>
              <a:rPr lang="en-US" b="1" dirty="0"/>
              <a:t>AWS Artifact </a:t>
            </a:r>
            <a:r>
              <a:rPr lang="en-US" b="1" dirty="0" smtClean="0"/>
              <a:t>Agreements</a:t>
            </a:r>
          </a:p>
          <a:p>
            <a:pPr lvl="1"/>
            <a:r>
              <a:rPr lang="en-US" dirty="0"/>
              <a:t>Suppose that your company needs to sign an agreement with AWS regarding your use of certain types of information throughout AWS services. </a:t>
            </a:r>
            <a:endParaRPr lang="en-US" dirty="0" smtClean="0"/>
          </a:p>
          <a:p>
            <a:pPr lvl="1"/>
            <a:r>
              <a:rPr lang="en-US" dirty="0" smtClean="0"/>
              <a:t>You </a:t>
            </a:r>
            <a:r>
              <a:rPr lang="en-US" dirty="0"/>
              <a:t>can do this through AWS Artifact Agreements.</a:t>
            </a:r>
          </a:p>
          <a:p>
            <a:pPr lvl="1"/>
            <a:r>
              <a:rPr lang="en-US" dirty="0"/>
              <a:t>In AWS Artifact Agreements, you can review, accept, and manage agreements for an individual account and for all your accounts in AWS Organizations. </a:t>
            </a:r>
            <a:endParaRPr lang="en-US" dirty="0" smtClean="0"/>
          </a:p>
          <a:p>
            <a:pPr lvl="1"/>
            <a:r>
              <a:rPr lang="en-US" dirty="0" smtClean="0"/>
              <a:t>Different </a:t>
            </a:r>
            <a:r>
              <a:rPr lang="en-US" dirty="0"/>
              <a:t>types of agreements are offered to address the needs of customers who are subject to specific regulations, such as the Health Insurance Portability and Accountability Act (HIPAA</a:t>
            </a:r>
            <a:r>
              <a:rPr lang="en-US" dirty="0" smtClean="0"/>
              <a:t>).</a:t>
            </a:r>
            <a:endParaRPr lang="en-US" b="1" dirty="0"/>
          </a:p>
          <a:p>
            <a:pPr marL="0" indent="0">
              <a:buNone/>
            </a:pPr>
            <a:endParaRPr lang="en-US" b="1" dirty="0"/>
          </a:p>
        </p:txBody>
      </p:sp>
    </p:spTree>
    <p:extLst>
      <p:ext uri="{BB962C8B-B14F-4D97-AF65-F5344CB8AC3E}">
        <p14:creationId xmlns:p14="http://schemas.microsoft.com/office/powerpoint/2010/main" val="40074877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AWS Artifact two types</a:t>
            </a:r>
            <a:endParaRPr lang="en-US" dirty="0"/>
          </a:p>
        </p:txBody>
      </p:sp>
      <p:sp>
        <p:nvSpPr>
          <p:cNvPr id="3" name="Content Placeholder 2"/>
          <p:cNvSpPr>
            <a:spLocks noGrp="1"/>
          </p:cNvSpPr>
          <p:nvPr>
            <p:ph idx="1"/>
          </p:nvPr>
        </p:nvSpPr>
        <p:spPr/>
        <p:txBody>
          <a:bodyPr>
            <a:normAutofit/>
          </a:bodyPr>
          <a:lstStyle/>
          <a:p>
            <a:r>
              <a:rPr lang="en-US" b="1" dirty="0"/>
              <a:t>AWS Artifact </a:t>
            </a:r>
            <a:r>
              <a:rPr lang="en-US" b="1" dirty="0" err="1" smtClean="0"/>
              <a:t>Reportrs</a:t>
            </a:r>
            <a:endParaRPr lang="en-US" dirty="0" smtClean="0"/>
          </a:p>
          <a:p>
            <a:pPr lvl="1"/>
            <a:r>
              <a:rPr lang="en-US" dirty="0" smtClean="0"/>
              <a:t>Next</a:t>
            </a:r>
            <a:r>
              <a:rPr lang="en-US" dirty="0"/>
              <a:t>, suppose that a member of your company’s development team is building an application and needs more information about their responsibility for complying with certain regulatory standards. </a:t>
            </a:r>
            <a:endParaRPr lang="en-US" dirty="0" smtClean="0"/>
          </a:p>
          <a:p>
            <a:pPr lvl="1"/>
            <a:r>
              <a:rPr lang="en-US" dirty="0" smtClean="0"/>
              <a:t>You </a:t>
            </a:r>
            <a:r>
              <a:rPr lang="en-US" dirty="0"/>
              <a:t>can advise them to access this information in AWS Artifact Reports.</a:t>
            </a:r>
          </a:p>
          <a:p>
            <a:pPr lvl="1"/>
            <a:r>
              <a:rPr lang="en-US" dirty="0"/>
              <a:t>AWS Artifact Reports provide compliance reports from third-party auditors. </a:t>
            </a:r>
            <a:endParaRPr lang="en-US" dirty="0" smtClean="0"/>
          </a:p>
          <a:p>
            <a:pPr lvl="1"/>
            <a:r>
              <a:rPr lang="en-US" dirty="0" smtClean="0"/>
              <a:t>These </a:t>
            </a:r>
            <a:r>
              <a:rPr lang="en-US" dirty="0"/>
              <a:t>auditors have tested and verified that AWS is compliant with a variety of global, regional, and industry-specific security standards and regulations. </a:t>
            </a:r>
            <a:endParaRPr lang="en-US" dirty="0" smtClean="0"/>
          </a:p>
          <a:p>
            <a:pPr lvl="1"/>
            <a:r>
              <a:rPr lang="en-US" dirty="0" smtClean="0"/>
              <a:t>AWS </a:t>
            </a:r>
            <a:r>
              <a:rPr lang="en-US" dirty="0"/>
              <a:t>Artifact Reports remains up to date with the latest reports released. </a:t>
            </a:r>
            <a:endParaRPr lang="en-US" dirty="0" smtClean="0"/>
          </a:p>
          <a:p>
            <a:pPr lvl="1"/>
            <a:r>
              <a:rPr lang="en-US" dirty="0" smtClean="0"/>
              <a:t>You </a:t>
            </a:r>
            <a:r>
              <a:rPr lang="en-US" dirty="0"/>
              <a:t>can provide the AWS audit artifacts to your auditors or regulators as evidence of AWS security controls.</a:t>
            </a:r>
          </a:p>
          <a:p>
            <a:endParaRPr lang="en-US" dirty="0"/>
          </a:p>
        </p:txBody>
      </p:sp>
    </p:spTree>
    <p:extLst>
      <p:ext uri="{BB962C8B-B14F-4D97-AF65-F5344CB8AC3E}">
        <p14:creationId xmlns:p14="http://schemas.microsoft.com/office/powerpoint/2010/main" val="3327906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AWS </a:t>
            </a:r>
            <a:r>
              <a:rPr lang="en-US" b="1" dirty="0" smtClean="0"/>
              <a:t>Compliance</a:t>
            </a:r>
            <a:endParaRPr lang="en-US" dirty="0"/>
          </a:p>
        </p:txBody>
      </p:sp>
      <p:sp>
        <p:nvSpPr>
          <p:cNvPr id="3" name="Content Placeholder 2"/>
          <p:cNvSpPr>
            <a:spLocks noGrp="1"/>
          </p:cNvSpPr>
          <p:nvPr>
            <p:ph idx="1"/>
          </p:nvPr>
        </p:nvSpPr>
        <p:spPr/>
        <p:txBody>
          <a:bodyPr>
            <a:normAutofit lnSpcReduction="10000"/>
          </a:bodyPr>
          <a:lstStyle/>
          <a:p>
            <a:r>
              <a:rPr lang="en-US" dirty="0"/>
              <a:t>The </a:t>
            </a:r>
            <a:r>
              <a:rPr lang="en-US" dirty="0">
                <a:hlinkClick r:id="rId2"/>
              </a:rPr>
              <a:t>AWS Compliance </a:t>
            </a:r>
            <a:r>
              <a:rPr lang="en-US" dirty="0" smtClean="0">
                <a:hlinkClick r:id="rId2"/>
              </a:rPr>
              <a:t>portal</a:t>
            </a:r>
            <a:r>
              <a:rPr lang="ar-EG" dirty="0" smtClean="0"/>
              <a:t> </a:t>
            </a:r>
            <a:r>
              <a:rPr lang="en-US" dirty="0" smtClean="0"/>
              <a:t>contains </a:t>
            </a:r>
            <a:r>
              <a:rPr lang="en-US" dirty="0"/>
              <a:t>resources to help you learn more about AWS compliance. You can read customer compliance stories to discover how companies in regulated industries have solved various compliance, governance, and audit challenges.</a:t>
            </a:r>
            <a:endParaRPr lang="en-US" dirty="0"/>
          </a:p>
          <a:p>
            <a:r>
              <a:rPr lang="en-US" dirty="0"/>
              <a:t>You can also access compliance whitepapers and documentation on topics such as the following:</a:t>
            </a:r>
            <a:endParaRPr lang="en-US" dirty="0"/>
          </a:p>
          <a:p>
            <a:pPr lvl="1"/>
            <a:r>
              <a:rPr lang="en-US" dirty="0"/>
              <a:t>AWS answers to key compliance questions</a:t>
            </a:r>
            <a:endParaRPr lang="en-US" dirty="0"/>
          </a:p>
          <a:p>
            <a:pPr lvl="1"/>
            <a:r>
              <a:rPr lang="en-US" dirty="0"/>
              <a:t>An overview of AWS risk and compliance</a:t>
            </a:r>
            <a:endParaRPr lang="en-US" dirty="0"/>
          </a:p>
          <a:p>
            <a:pPr lvl="1"/>
            <a:r>
              <a:rPr lang="en-US" dirty="0"/>
              <a:t>An auditing security checklist</a:t>
            </a:r>
            <a:endParaRPr lang="en-US" dirty="0"/>
          </a:p>
          <a:p>
            <a:r>
              <a:rPr lang="en-US" dirty="0"/>
              <a:t>For essentials and best practices, guides, and workbooks, including training, visit </a:t>
            </a:r>
            <a:r>
              <a:rPr lang="en-US" dirty="0">
                <a:hlinkClick r:id="rId3"/>
              </a:rPr>
              <a:t>Additional compliance </a:t>
            </a:r>
            <a:r>
              <a:rPr lang="en-US" dirty="0" smtClean="0">
                <a:hlinkClick r:id="rId3"/>
              </a:rPr>
              <a:t>resources</a:t>
            </a:r>
            <a:r>
              <a:rPr lang="en-US" dirty="0"/>
              <a:t>.</a:t>
            </a:r>
          </a:p>
          <a:p>
            <a:endParaRPr lang="en-US" dirty="0"/>
          </a:p>
        </p:txBody>
      </p:sp>
    </p:spTree>
    <p:extLst>
      <p:ext uri="{BB962C8B-B14F-4D97-AF65-F5344CB8AC3E}">
        <p14:creationId xmlns:p14="http://schemas.microsoft.com/office/powerpoint/2010/main" val="1214112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624" y="2523109"/>
            <a:ext cx="10515600" cy="1325563"/>
          </a:xfrm>
        </p:spPr>
        <p:txBody>
          <a:bodyPr/>
          <a:lstStyle/>
          <a:p>
            <a:pPr algn="ctr"/>
            <a:r>
              <a:rPr lang="en-US" b="1" dirty="0"/>
              <a:t>Auditing AWS Resources for </a:t>
            </a:r>
            <a:r>
              <a:rPr lang="en-US" b="1" dirty="0" smtClean="0"/>
              <a:t>Compliance</a:t>
            </a:r>
            <a:endParaRPr lang="en-US" dirty="0"/>
          </a:p>
        </p:txBody>
      </p:sp>
    </p:spTree>
    <p:extLst>
      <p:ext uri="{BB962C8B-B14F-4D97-AF65-F5344CB8AC3E}">
        <p14:creationId xmlns:p14="http://schemas.microsoft.com/office/powerpoint/2010/main" val="716713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a:t>Describe the benefits and use cases of AWS </a:t>
            </a:r>
            <a:r>
              <a:rPr lang="en-US" dirty="0" err="1"/>
              <a:t>Config</a:t>
            </a:r>
            <a:r>
              <a:rPr lang="en-US" dirty="0"/>
              <a:t>.</a:t>
            </a:r>
          </a:p>
          <a:p>
            <a:r>
              <a:rPr lang="en-US" dirty="0"/>
              <a:t>Describe the benefits and use cases of AWS Audit Manager.</a:t>
            </a:r>
          </a:p>
          <a:p>
            <a:endParaRPr lang="en-US" dirty="0"/>
          </a:p>
        </p:txBody>
      </p:sp>
    </p:spTree>
    <p:extLst>
      <p:ext uri="{BB962C8B-B14F-4D97-AF65-F5344CB8AC3E}">
        <p14:creationId xmlns:p14="http://schemas.microsoft.com/office/powerpoint/2010/main" val="26859826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Inro</a:t>
            </a:r>
            <a:endParaRPr lang="en-US" dirty="0"/>
          </a:p>
        </p:txBody>
      </p:sp>
      <p:sp>
        <p:nvSpPr>
          <p:cNvPr id="3" name="Content Placeholder 2"/>
          <p:cNvSpPr>
            <a:spLocks noGrp="1"/>
          </p:cNvSpPr>
          <p:nvPr>
            <p:ph idx="1"/>
          </p:nvPr>
        </p:nvSpPr>
        <p:spPr/>
        <p:txBody>
          <a:bodyPr>
            <a:normAutofit fontScale="92500" lnSpcReduction="10000"/>
          </a:bodyPr>
          <a:lstStyle/>
          <a:p>
            <a:r>
              <a:rPr lang="en-US" dirty="0"/>
              <a:t>In the previous lesson, you learned about compliance with AWS and the industry compliance programs. </a:t>
            </a:r>
            <a:endParaRPr lang="en-US" dirty="0" smtClean="0"/>
          </a:p>
          <a:p>
            <a:r>
              <a:rPr lang="en-US" dirty="0" smtClean="0"/>
              <a:t>In </a:t>
            </a:r>
            <a:r>
              <a:rPr lang="en-US" dirty="0"/>
              <a:t>this lesson, you will explore several AWS services that you can use to help ensure that your resources comply with your company's standards or requirements.</a:t>
            </a:r>
            <a:endParaRPr lang="en-US" dirty="0"/>
          </a:p>
          <a:p>
            <a:endParaRPr lang="en-US" dirty="0" smtClean="0"/>
          </a:p>
          <a:p>
            <a:r>
              <a:rPr lang="en-US" dirty="0" smtClean="0"/>
              <a:t>Most </a:t>
            </a:r>
            <a:r>
              <a:rPr lang="en-US" dirty="0"/>
              <a:t>companies will want you to follow specific configuration guidelines for your different AWS resources. </a:t>
            </a:r>
            <a:endParaRPr lang="en-US" dirty="0" smtClean="0"/>
          </a:p>
          <a:p>
            <a:r>
              <a:rPr lang="en-US" dirty="0" smtClean="0"/>
              <a:t>This </a:t>
            </a:r>
            <a:r>
              <a:rPr lang="en-US" dirty="0"/>
              <a:t>means that you will want a way to assess and audit the resources that you create on AWS to help ensure that they meet those rules. </a:t>
            </a:r>
            <a:endParaRPr lang="en-US" dirty="0" smtClean="0"/>
          </a:p>
          <a:p>
            <a:r>
              <a:rPr lang="en-US" dirty="0" smtClean="0"/>
              <a:t>That's </a:t>
            </a:r>
            <a:r>
              <a:rPr lang="en-US" dirty="0"/>
              <a:t>where AWS </a:t>
            </a:r>
            <a:r>
              <a:rPr lang="en-US" dirty="0" err="1"/>
              <a:t>Config</a:t>
            </a:r>
            <a:r>
              <a:rPr lang="en-US" dirty="0"/>
              <a:t> can help.</a:t>
            </a:r>
          </a:p>
        </p:txBody>
      </p:sp>
    </p:spTree>
    <p:extLst>
      <p:ext uri="{BB962C8B-B14F-4D97-AF65-F5344CB8AC3E}">
        <p14:creationId xmlns:p14="http://schemas.microsoft.com/office/powerpoint/2010/main" val="382160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AWS </a:t>
            </a:r>
            <a:r>
              <a:rPr lang="en-US" b="1" dirty="0" err="1" smtClean="0"/>
              <a:t>Config</a:t>
            </a:r>
            <a:r>
              <a:rPr lang="en-US" b="1" dirty="0" smtClean="0"/>
              <a:t> </a:t>
            </a:r>
            <a:r>
              <a:rPr lang="en-US" b="1" dirty="0"/>
              <a:t>service </a:t>
            </a:r>
          </a:p>
        </p:txBody>
      </p:sp>
      <p:sp>
        <p:nvSpPr>
          <p:cNvPr id="3" name="Content Placeholder 2"/>
          <p:cNvSpPr>
            <a:spLocks noGrp="1"/>
          </p:cNvSpPr>
          <p:nvPr>
            <p:ph idx="1"/>
          </p:nvPr>
        </p:nvSpPr>
        <p:spPr/>
        <p:txBody>
          <a:bodyPr/>
          <a:lstStyle/>
          <a:p>
            <a:r>
              <a:rPr lang="en-US" dirty="0"/>
              <a:t>AWS </a:t>
            </a:r>
            <a:r>
              <a:rPr lang="en-US" dirty="0" err="1"/>
              <a:t>Config</a:t>
            </a:r>
            <a:r>
              <a:rPr lang="en-US" dirty="0"/>
              <a:t> is a service that you can use to assess, audit, and evaluate the configurations of your AWS resources.</a:t>
            </a:r>
          </a:p>
          <a:p>
            <a:r>
              <a:rPr lang="en-US" b="1" dirty="0"/>
              <a:t>Benefits:</a:t>
            </a:r>
            <a:r>
              <a:rPr lang="en-US" dirty="0"/>
              <a:t> AWS </a:t>
            </a:r>
            <a:r>
              <a:rPr lang="en-US" dirty="0" err="1"/>
              <a:t>Config</a:t>
            </a:r>
            <a:r>
              <a:rPr lang="en-US" dirty="0"/>
              <a:t> helps evaluate configurations against a desired state, manage resource configuration changes, and simplify troubleshooting and remediation.</a:t>
            </a:r>
          </a:p>
          <a:p>
            <a:r>
              <a:rPr lang="en-US" b="1" dirty="0"/>
              <a:t>Use cases: </a:t>
            </a:r>
            <a:r>
              <a:rPr lang="en-US" dirty="0"/>
              <a:t>It can be used to continually audit security monitoring and analysis and to streamline operational troubleshooting and change management.</a:t>
            </a:r>
          </a:p>
          <a:p>
            <a:endParaRPr lang="en-US" dirty="0"/>
          </a:p>
        </p:txBody>
      </p:sp>
    </p:spTree>
    <p:extLst>
      <p:ext uri="{BB962C8B-B14F-4D97-AF65-F5344CB8AC3E}">
        <p14:creationId xmlns:p14="http://schemas.microsoft.com/office/powerpoint/2010/main" val="32394720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AWS Audit </a:t>
            </a:r>
            <a:r>
              <a:rPr lang="en-US" b="1" dirty="0" smtClean="0"/>
              <a:t>Manager </a:t>
            </a:r>
            <a:r>
              <a:rPr lang="en-US" b="1" dirty="0"/>
              <a:t>service </a:t>
            </a:r>
          </a:p>
        </p:txBody>
      </p:sp>
      <p:sp>
        <p:nvSpPr>
          <p:cNvPr id="3" name="Content Placeholder 2"/>
          <p:cNvSpPr>
            <a:spLocks noGrp="1"/>
          </p:cNvSpPr>
          <p:nvPr>
            <p:ph idx="1"/>
          </p:nvPr>
        </p:nvSpPr>
        <p:spPr/>
        <p:txBody>
          <a:bodyPr/>
          <a:lstStyle/>
          <a:p>
            <a:r>
              <a:rPr lang="en-US" dirty="0"/>
              <a:t>Audit Manager is a service that </a:t>
            </a:r>
            <a:r>
              <a:rPr lang="en-US" b="1" dirty="0"/>
              <a:t>continually</a:t>
            </a:r>
            <a:r>
              <a:rPr lang="en-US" dirty="0"/>
              <a:t> audits your AWS usage to simplify risk and compliance assessment. </a:t>
            </a:r>
            <a:endParaRPr lang="en-US" dirty="0" smtClean="0"/>
          </a:p>
          <a:p>
            <a:r>
              <a:rPr lang="en-US" dirty="0" smtClean="0"/>
              <a:t>It </a:t>
            </a:r>
            <a:r>
              <a:rPr lang="en-US" dirty="0"/>
              <a:t>helps collect evidence and manage audit data.</a:t>
            </a:r>
          </a:p>
          <a:p>
            <a:r>
              <a:rPr lang="en-US" b="1" dirty="0"/>
              <a:t>Benefits:</a:t>
            </a:r>
            <a:r>
              <a:rPr lang="en-US" dirty="0"/>
              <a:t> Audit Manager saves time with automated evidence collection, streamlines collaboration across teams, and helps ensure integrity of audits with read-only permissions.</a:t>
            </a:r>
          </a:p>
          <a:p>
            <a:r>
              <a:rPr lang="en-US" b="1" dirty="0"/>
              <a:t>Use case: </a:t>
            </a:r>
            <a:r>
              <a:rPr lang="en-US" dirty="0"/>
              <a:t>It can be used to automate evidence collection, continually audit to assess compliance, and deploy internal risk assessments.</a:t>
            </a:r>
          </a:p>
          <a:p>
            <a:endParaRPr lang="en-US" dirty="0"/>
          </a:p>
        </p:txBody>
      </p:sp>
    </p:spTree>
    <p:extLst>
      <p:ext uri="{BB962C8B-B14F-4D97-AF65-F5344CB8AC3E}">
        <p14:creationId xmlns:p14="http://schemas.microsoft.com/office/powerpoint/2010/main" val="33492286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160" y="2294509"/>
            <a:ext cx="10515600" cy="1325563"/>
          </a:xfrm>
        </p:spPr>
        <p:txBody>
          <a:bodyPr/>
          <a:lstStyle/>
          <a:p>
            <a:pPr algn="ctr"/>
            <a:r>
              <a:rPr lang="en-US" b="1" dirty="0"/>
              <a:t>AWS </a:t>
            </a:r>
            <a:r>
              <a:rPr lang="en-US" b="1" dirty="0" smtClean="0"/>
              <a:t>Organizations</a:t>
            </a:r>
            <a:endParaRPr lang="en-US" dirty="0"/>
          </a:p>
        </p:txBody>
      </p:sp>
    </p:spTree>
    <p:extLst>
      <p:ext uri="{BB962C8B-B14F-4D97-AF65-F5344CB8AC3E}">
        <p14:creationId xmlns:p14="http://schemas.microsoft.com/office/powerpoint/2010/main" val="10220283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 this lesson, you will </a:t>
            </a:r>
            <a:r>
              <a:rPr lang="en-US" b="1" dirty="0" smtClean="0"/>
              <a:t>learn:</a:t>
            </a:r>
            <a:endParaRPr lang="en-US" dirty="0"/>
          </a:p>
        </p:txBody>
      </p:sp>
      <p:sp>
        <p:nvSpPr>
          <p:cNvPr id="3" name="Content Placeholder 2"/>
          <p:cNvSpPr>
            <a:spLocks noGrp="1"/>
          </p:cNvSpPr>
          <p:nvPr>
            <p:ph idx="1"/>
          </p:nvPr>
        </p:nvSpPr>
        <p:spPr/>
        <p:txBody>
          <a:bodyPr/>
          <a:lstStyle/>
          <a:p>
            <a:r>
              <a:rPr lang="en-US" dirty="0" smtClean="0"/>
              <a:t>Define </a:t>
            </a:r>
            <a:r>
              <a:rPr lang="en-US" dirty="0"/>
              <a:t>the benefits and use cases of AWS Organizations.</a:t>
            </a:r>
          </a:p>
          <a:p>
            <a:r>
              <a:rPr lang="en-US" dirty="0"/>
              <a:t>Describe key concepts of how AWS Organizations works.</a:t>
            </a:r>
          </a:p>
          <a:p>
            <a:endParaRPr lang="en-US" dirty="0"/>
          </a:p>
        </p:txBody>
      </p:sp>
    </p:spTree>
    <p:extLst>
      <p:ext uri="{BB962C8B-B14F-4D97-AF65-F5344CB8AC3E}">
        <p14:creationId xmlns:p14="http://schemas.microsoft.com/office/powerpoint/2010/main" val="4126384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AWS Organizations</a:t>
            </a:r>
            <a:endParaRPr lang="en-US" dirty="0"/>
          </a:p>
        </p:txBody>
      </p:sp>
      <p:sp>
        <p:nvSpPr>
          <p:cNvPr id="3" name="Content Placeholder 2"/>
          <p:cNvSpPr>
            <a:spLocks noGrp="1"/>
          </p:cNvSpPr>
          <p:nvPr>
            <p:ph idx="1"/>
          </p:nvPr>
        </p:nvSpPr>
        <p:spPr/>
        <p:txBody>
          <a:bodyPr>
            <a:normAutofit fontScale="92500" lnSpcReduction="10000"/>
          </a:bodyPr>
          <a:lstStyle/>
          <a:p>
            <a:r>
              <a:rPr lang="en-US" dirty="0"/>
              <a:t>Organizations helps you centrally manage and govern your environment as you grow and scale your AWS resources. </a:t>
            </a:r>
            <a:endParaRPr lang="en-US" dirty="0" smtClean="0"/>
          </a:p>
          <a:p>
            <a:r>
              <a:rPr lang="en-US" dirty="0" smtClean="0"/>
              <a:t>It </a:t>
            </a:r>
            <a:r>
              <a:rPr lang="en-US" dirty="0"/>
              <a:t>helps you manage policies for groups of accounts and automate account creation.</a:t>
            </a:r>
          </a:p>
          <a:p>
            <a:r>
              <a:rPr lang="en-US" b="1" dirty="0"/>
              <a:t>Benefits: </a:t>
            </a:r>
            <a:r>
              <a:rPr lang="en-US" dirty="0"/>
              <a:t>Organizations provides several benefits like quickly scaling your environment by programmatically creating new AWS accounts for resources and teams. It also helps by simplifying permission management through SCPs and managing and optimizing costs across your AWS accounts and resources.</a:t>
            </a:r>
          </a:p>
          <a:p>
            <a:r>
              <a:rPr lang="en-US" b="1" dirty="0"/>
              <a:t>Use cases: </a:t>
            </a:r>
            <a:r>
              <a:rPr lang="en-US" dirty="0"/>
              <a:t>It can be used for automating AWS account creation, providing tools and access for your security teams, controlling user access to designated services, and sharing common resources across accounts.</a:t>
            </a:r>
          </a:p>
          <a:p>
            <a:endParaRPr lang="en-US" dirty="0"/>
          </a:p>
        </p:txBody>
      </p:sp>
    </p:spTree>
    <p:extLst>
      <p:ext uri="{BB962C8B-B14F-4D97-AF65-F5344CB8AC3E}">
        <p14:creationId xmlns:p14="http://schemas.microsoft.com/office/powerpoint/2010/main" val="8704289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concepts of </a:t>
            </a:r>
            <a:r>
              <a:rPr lang="en-US" b="1" dirty="0" smtClean="0"/>
              <a:t>Organizations</a:t>
            </a:r>
            <a:endParaRPr lang="en-US" dirty="0"/>
          </a:p>
        </p:txBody>
      </p:sp>
      <p:sp>
        <p:nvSpPr>
          <p:cNvPr id="3" name="Content Placeholder 2"/>
          <p:cNvSpPr>
            <a:spLocks noGrp="1"/>
          </p:cNvSpPr>
          <p:nvPr>
            <p:ph idx="1"/>
          </p:nvPr>
        </p:nvSpPr>
        <p:spPr/>
        <p:txBody>
          <a:bodyPr/>
          <a:lstStyle/>
          <a:p>
            <a:r>
              <a:rPr lang="en-US" dirty="0"/>
              <a:t>An organization is a collection of AWS accounts that you can manage centrally and organize into a hierarchical, tree-like structure with a root at the top and organizational units (OUs) nested under the root. </a:t>
            </a:r>
            <a:endParaRPr lang="en-US" dirty="0" smtClean="0"/>
          </a:p>
          <a:p>
            <a:r>
              <a:rPr lang="en-US" dirty="0" smtClean="0"/>
              <a:t>Each </a:t>
            </a:r>
            <a:r>
              <a:rPr lang="en-US" dirty="0"/>
              <a:t>account can be located directly in the root or placed in one of the OUs in the hierarchy.</a:t>
            </a:r>
          </a:p>
          <a:p>
            <a:endParaRPr lang="en-US" dirty="0"/>
          </a:p>
        </p:txBody>
      </p:sp>
      <p:pic>
        <p:nvPicPr>
          <p:cNvPr id="4" name="Picture 3"/>
          <p:cNvPicPr>
            <a:picLocks noChangeAspect="1"/>
          </p:cNvPicPr>
          <p:nvPr/>
        </p:nvPicPr>
        <p:blipFill>
          <a:blip r:embed="rId2"/>
          <a:stretch>
            <a:fillRect/>
          </a:stretch>
        </p:blipFill>
        <p:spPr>
          <a:xfrm>
            <a:off x="6437077" y="3602736"/>
            <a:ext cx="5395639" cy="3255264"/>
          </a:xfrm>
          <a:prstGeom prst="rect">
            <a:avLst/>
          </a:prstGeom>
        </p:spPr>
      </p:pic>
    </p:spTree>
    <p:extLst>
      <p:ext uri="{BB962C8B-B14F-4D97-AF65-F5344CB8AC3E}">
        <p14:creationId xmlns:p14="http://schemas.microsoft.com/office/powerpoint/2010/main" val="28809893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concepts of Organizations</a:t>
            </a:r>
            <a:endParaRPr lang="en-US" dirty="0"/>
          </a:p>
        </p:txBody>
      </p:sp>
      <p:sp>
        <p:nvSpPr>
          <p:cNvPr id="3" name="Content Placeholder 2"/>
          <p:cNvSpPr>
            <a:spLocks noGrp="1"/>
          </p:cNvSpPr>
          <p:nvPr>
            <p:ph idx="1"/>
          </p:nvPr>
        </p:nvSpPr>
        <p:spPr/>
        <p:txBody>
          <a:bodyPr>
            <a:normAutofit lnSpcReduction="10000"/>
          </a:bodyPr>
          <a:lstStyle/>
          <a:p>
            <a:r>
              <a:rPr lang="en-US" b="1" dirty="0"/>
              <a:t>AWS Organizations</a:t>
            </a:r>
          </a:p>
          <a:p>
            <a:pPr lvl="1"/>
            <a:r>
              <a:rPr lang="en-US" dirty="0"/>
              <a:t>AWS Organizations is used to consolidate and manage multiple AWS accounts within a central location. </a:t>
            </a:r>
            <a:endParaRPr lang="en-US" dirty="0" smtClean="0"/>
          </a:p>
          <a:p>
            <a:pPr lvl="1"/>
            <a:r>
              <a:rPr lang="en-US" dirty="0" smtClean="0"/>
              <a:t>When </a:t>
            </a:r>
            <a:r>
              <a:rPr lang="en-US" dirty="0"/>
              <a:t>you create an organization, it automatically creates a root, which is the parent container for all the accounts in your organization. </a:t>
            </a:r>
            <a:endParaRPr lang="en-US" dirty="0"/>
          </a:p>
          <a:p>
            <a:r>
              <a:rPr lang="en-US" b="1" dirty="0"/>
              <a:t>Management account</a:t>
            </a:r>
          </a:p>
          <a:p>
            <a:pPr lvl="1"/>
            <a:r>
              <a:rPr lang="en-US" dirty="0"/>
              <a:t>The management account is the central AWS account that creates and manages the organization. It's responsible for overall control and governance.</a:t>
            </a:r>
          </a:p>
          <a:p>
            <a:r>
              <a:rPr lang="en-US" b="1" dirty="0"/>
              <a:t>Organizational unit (OU)</a:t>
            </a:r>
          </a:p>
          <a:p>
            <a:pPr lvl="1"/>
            <a:r>
              <a:rPr lang="en-US" dirty="0"/>
              <a:t>An organizational unit (OU) is a logical grouping of accounts in an AWS Organization. OUs can contain member accounts or nested OUs.</a:t>
            </a:r>
          </a:p>
          <a:p>
            <a:endParaRPr lang="en-US" dirty="0"/>
          </a:p>
        </p:txBody>
      </p:sp>
    </p:spTree>
    <p:extLst>
      <p:ext uri="{BB962C8B-B14F-4D97-AF65-F5344CB8AC3E}">
        <p14:creationId xmlns:p14="http://schemas.microsoft.com/office/powerpoint/2010/main" val="2938393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concepts of Organizations</a:t>
            </a:r>
            <a:endParaRPr lang="en-US" dirty="0"/>
          </a:p>
        </p:txBody>
      </p:sp>
      <p:sp>
        <p:nvSpPr>
          <p:cNvPr id="3" name="Content Placeholder 2"/>
          <p:cNvSpPr>
            <a:spLocks noGrp="1"/>
          </p:cNvSpPr>
          <p:nvPr>
            <p:ph idx="1"/>
          </p:nvPr>
        </p:nvSpPr>
        <p:spPr/>
        <p:txBody>
          <a:bodyPr/>
          <a:lstStyle/>
          <a:p>
            <a:r>
              <a:rPr lang="en-US" b="1" dirty="0"/>
              <a:t>Service control policies (SCP)</a:t>
            </a:r>
          </a:p>
          <a:p>
            <a:pPr lvl="1"/>
            <a:r>
              <a:rPr lang="en-US" dirty="0"/>
              <a:t>An SCP is a policy that lets you place restrictions on the AWS services, resources, and individual API actions that users and roles in each account can access. SCPs can be applied to either OUs or individual member accounts.</a:t>
            </a:r>
          </a:p>
          <a:p>
            <a:r>
              <a:rPr lang="en-US" b="1" dirty="0"/>
              <a:t>Member account not in an OU</a:t>
            </a:r>
          </a:p>
          <a:p>
            <a:pPr lvl="1"/>
            <a:r>
              <a:rPr lang="en-US" dirty="0"/>
              <a:t>If you have a member account that has unique requirements that do not overlap with those of an organizational unit, you can add them to the organization. They do not have to be placed under an OU. This account can still take advantage of benefits such as consolidated billing.</a:t>
            </a:r>
          </a:p>
          <a:p>
            <a:endParaRPr lang="en-US" dirty="0"/>
          </a:p>
        </p:txBody>
      </p:sp>
    </p:spTree>
    <p:extLst>
      <p:ext uri="{BB962C8B-B14F-4D97-AF65-F5344CB8AC3E}">
        <p14:creationId xmlns:p14="http://schemas.microsoft.com/office/powerpoint/2010/main" val="18926104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concepts of Organizations</a:t>
            </a:r>
            <a:endParaRPr lang="en-US" dirty="0"/>
          </a:p>
        </p:txBody>
      </p:sp>
      <p:sp>
        <p:nvSpPr>
          <p:cNvPr id="3" name="Content Placeholder 2"/>
          <p:cNvSpPr>
            <a:spLocks noGrp="1"/>
          </p:cNvSpPr>
          <p:nvPr>
            <p:ph idx="1"/>
          </p:nvPr>
        </p:nvSpPr>
        <p:spPr/>
        <p:txBody>
          <a:bodyPr/>
          <a:lstStyle/>
          <a:p>
            <a:r>
              <a:rPr lang="en-US" dirty="0"/>
              <a:t>In designing your organization, you should consider the business, security, and regulatory needs of each department. </a:t>
            </a:r>
            <a:endParaRPr lang="en-US" dirty="0" smtClean="0"/>
          </a:p>
          <a:p>
            <a:r>
              <a:rPr lang="en-US" dirty="0" smtClean="0"/>
              <a:t>You </a:t>
            </a:r>
            <a:r>
              <a:rPr lang="en-US" dirty="0"/>
              <a:t>use this information to decide which departments group together in OUs.</a:t>
            </a:r>
          </a:p>
          <a:p>
            <a:r>
              <a:rPr lang="en-US" dirty="0"/>
              <a:t>To learn more about centrally managing your environment as you scale your AWS resources, refer to the </a:t>
            </a:r>
            <a:r>
              <a:rPr lang="en-US" dirty="0">
                <a:hlinkClick r:id="rId2"/>
              </a:rPr>
              <a:t>AWS Organizations User Guide</a:t>
            </a:r>
            <a:r>
              <a:rPr lang="en-US" dirty="0" smtClean="0">
                <a:hlinkClick r:id="rId2"/>
              </a:rPr>
              <a:t>.</a:t>
            </a:r>
            <a:endParaRPr lang="en-US" dirty="0"/>
          </a:p>
        </p:txBody>
      </p:sp>
    </p:spTree>
    <p:extLst>
      <p:ext uri="{BB962C8B-B14F-4D97-AF65-F5344CB8AC3E}">
        <p14:creationId xmlns:p14="http://schemas.microsoft.com/office/powerpoint/2010/main" val="1339335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8704" y="2568829"/>
            <a:ext cx="10515600" cy="1325563"/>
          </a:xfrm>
        </p:spPr>
        <p:txBody>
          <a:bodyPr/>
          <a:lstStyle/>
          <a:p>
            <a:pPr algn="ctr"/>
            <a:r>
              <a:rPr lang="en-US" b="1" dirty="0" smtClean="0"/>
              <a:t>Governance</a:t>
            </a:r>
            <a:endParaRPr lang="en-US" dirty="0"/>
          </a:p>
        </p:txBody>
      </p:sp>
    </p:spTree>
    <p:extLst>
      <p:ext uri="{BB962C8B-B14F-4D97-AF65-F5344CB8AC3E}">
        <p14:creationId xmlns:p14="http://schemas.microsoft.com/office/powerpoint/2010/main" val="2363024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In this lesson, you </a:t>
            </a:r>
            <a:r>
              <a:rPr lang="en-US" b="1"/>
              <a:t>will </a:t>
            </a:r>
            <a:r>
              <a:rPr lang="en-US" b="1" smtClean="0"/>
              <a:t>learn:</a:t>
            </a:r>
            <a:endParaRPr lang="en-US"/>
          </a:p>
        </p:txBody>
      </p:sp>
      <p:sp>
        <p:nvSpPr>
          <p:cNvPr id="3" name="Content Placeholder 2"/>
          <p:cNvSpPr>
            <a:spLocks noGrp="1"/>
          </p:cNvSpPr>
          <p:nvPr>
            <p:ph idx="1"/>
          </p:nvPr>
        </p:nvSpPr>
        <p:spPr/>
        <p:txBody>
          <a:bodyPr/>
          <a:lstStyle/>
          <a:p>
            <a:r>
              <a:rPr lang="en-US" dirty="0"/>
              <a:t>Describe the benefits and use cases AWS Control Tower.</a:t>
            </a:r>
          </a:p>
          <a:p>
            <a:r>
              <a:rPr lang="en-US" dirty="0"/>
              <a:t>Describe the benefits and use cases of AWS Service Catalog.</a:t>
            </a:r>
          </a:p>
          <a:p>
            <a:r>
              <a:rPr lang="en-US" dirty="0"/>
              <a:t>Describe the benefits and use cases of AWS License Manager.</a:t>
            </a:r>
          </a:p>
          <a:p>
            <a:endParaRPr lang="en-US" dirty="0"/>
          </a:p>
        </p:txBody>
      </p:sp>
    </p:spTree>
    <p:extLst>
      <p:ext uri="{BB962C8B-B14F-4D97-AF65-F5344CB8AC3E}">
        <p14:creationId xmlns:p14="http://schemas.microsoft.com/office/powerpoint/2010/main" val="21808829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769</TotalTime>
  <Words>1561</Words>
  <Application>Microsoft Office PowerPoint</Application>
  <PresentationFormat>Widescreen</PresentationFormat>
  <Paragraphs>199</Paragraphs>
  <Slides>41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Calibri Light</vt:lpstr>
      <vt:lpstr>Office Theme</vt:lpstr>
      <vt:lpstr>Module 10 </vt:lpstr>
      <vt:lpstr>Outline</vt:lpstr>
      <vt:lpstr>Introduction to Monitoring, Compliance, and Governance in the AWS Cloud</vt:lpstr>
      <vt:lpstr>In this lesson, you will learn:</vt:lpstr>
      <vt:lpstr>Monitoring your resources in the AWS Cloud</vt:lpstr>
      <vt:lpstr>Monitoring your resources in the AWS Cloud</vt:lpstr>
      <vt:lpstr>Introduction to Monitoring</vt:lpstr>
      <vt:lpstr>In this lesson, you will learn:</vt:lpstr>
      <vt:lpstr>Importance of monitoring</vt:lpstr>
      <vt:lpstr>Importance of monitoring</vt:lpstr>
      <vt:lpstr>Amazon CloudWatch</vt:lpstr>
      <vt:lpstr>In this lesson, you will learn:</vt:lpstr>
      <vt:lpstr>Watch over your resources and applications</vt:lpstr>
      <vt:lpstr>Amazon CloudWatch Features</vt:lpstr>
      <vt:lpstr>Amazon CloudWatch</vt:lpstr>
      <vt:lpstr>AWS CloudTrail</vt:lpstr>
      <vt:lpstr>In this lesson, you will learn:</vt:lpstr>
      <vt:lpstr>Importance of auditing</vt:lpstr>
      <vt:lpstr>AWS CloudTrail</vt:lpstr>
      <vt:lpstr>CloudTrail features</vt:lpstr>
      <vt:lpstr>Compliance</vt:lpstr>
      <vt:lpstr>In this lesson, you will learn:</vt:lpstr>
      <vt:lpstr>Benefits of compliance with AWS</vt:lpstr>
      <vt:lpstr>AWS Artifact</vt:lpstr>
      <vt:lpstr>AWS Artifact two types</vt:lpstr>
      <vt:lpstr>AWS Artifact two types</vt:lpstr>
      <vt:lpstr>AWS Compliance</vt:lpstr>
      <vt:lpstr>Auditing AWS Resources for Compliance</vt:lpstr>
      <vt:lpstr>In this lesson, you will learn:</vt:lpstr>
      <vt:lpstr>Inro</vt:lpstr>
      <vt:lpstr>AWS Config service </vt:lpstr>
      <vt:lpstr>AWS Audit Manager service </vt:lpstr>
      <vt:lpstr>AWS Organizations</vt:lpstr>
      <vt:lpstr>In this lesson, you will learn:</vt:lpstr>
      <vt:lpstr>AWS Organizations</vt:lpstr>
      <vt:lpstr>Key concepts of Organizations</vt:lpstr>
      <vt:lpstr>Key concepts of Organizations</vt:lpstr>
      <vt:lpstr>Key concepts of Organizations</vt:lpstr>
      <vt:lpstr>Key concepts of Organizations</vt:lpstr>
      <vt:lpstr>Governance</vt:lpstr>
      <vt:lpstr>In this lesson, you will learn: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10 </dc:title>
  <dc:creator>Microsoft account</dc:creator>
  <cp:lastModifiedBy>Microsoft account</cp:lastModifiedBy>
  <cp:revision>84</cp:revision>
  <dcterms:created xsi:type="dcterms:W3CDTF">2025-08-28T22:06:10Z</dcterms:created>
  <dcterms:modified xsi:type="dcterms:W3CDTF">2025-09-01T06:03:40Z</dcterms:modified>
</cp:coreProperties>
</file>